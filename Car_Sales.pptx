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98" r:id="rId5"/>
    <p:sldId id="314" r:id="rId6"/>
    <p:sldId id="302" r:id="rId7"/>
    <p:sldId id="303" r:id="rId8"/>
    <p:sldId id="315" r:id="rId9"/>
    <p:sldId id="316" r:id="rId10"/>
    <p:sldId id="317" r:id="rId11"/>
    <p:sldId id="318" r:id="rId12"/>
    <p:sldId id="319" r:id="rId13"/>
    <p:sldId id="320" r:id="rId14"/>
    <p:sldId id="305" r:id="rId15"/>
    <p:sldId id="304" r:id="rId16"/>
    <p:sldId id="307" r:id="rId17"/>
    <p:sldId id="308" r:id="rId18"/>
    <p:sldId id="309" r:id="rId19"/>
    <p:sldId id="310" r:id="rId20"/>
    <p:sldId id="311" r:id="rId21"/>
    <p:sldId id="312" r:id="rId22"/>
    <p:sldId id="313" r:id="rId23"/>
    <p:sldId id="301"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9" autoAdjust="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11/14/2025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23437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11/14/2025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40465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11/14/2025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2783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11/14/2025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88359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11/14/2025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63925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11/14/2025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68543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11/14/2025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3393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11/14/2025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771184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11/14/2025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01613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11/14/2025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6030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panose="020F0502020204030204"/>
              <a:ea typeface="+mn-ea"/>
              <a:cs typeface="+mn-cs"/>
            </a:endParaRPr>
          </a:p>
        </p:txBody>
      </p:sp>
      <p:pic>
        <p:nvPicPr>
          <p:cNvPr id="4" name="Picture 3" descr="A close up of a piece of paper with a pencil laying on top">
            <a:extLst>
              <a:ext uri="{FF2B5EF4-FFF2-40B4-BE49-F238E27FC236}">
                <a16:creationId xmlns:a16="http://schemas.microsoft.com/office/drawing/2014/main" id="{65810330-F0B5-43C9-BC34-094FFB5C0529}"/>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20" y="975"/>
            <a:ext cx="12191980" cy="6858000"/>
          </a:xfrm>
          <a:prstGeom prst="rect">
            <a:avLst/>
          </a:prstGeom>
        </p:spPr>
      </p:pic>
      <p:sp>
        <p:nvSpPr>
          <p:cNvPr id="35" name="Rectangle 34">
            <a:extLst>
              <a:ext uri="{FF2B5EF4-FFF2-40B4-BE49-F238E27FC236}">
                <a16:creationId xmlns:a16="http://schemas.microsoft.com/office/drawing/2014/main" id="{C5373426-E26E-431D-959C-5DB96C0B6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12607" y="1238442"/>
            <a:ext cx="3635926" cy="4355751"/>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panose="020F0502020204030204"/>
              <a:ea typeface="+mn-ea"/>
              <a:cs typeface="+mn-cs"/>
            </a:endParaRP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8123416" y="1475234"/>
            <a:ext cx="3214307" cy="2901694"/>
          </a:xfrm>
        </p:spPr>
        <p:txBody>
          <a:bodyPr anchor="b">
            <a:normAutofit/>
          </a:bodyPr>
          <a:lstStyle/>
          <a:p>
            <a:r>
              <a:rPr lang="en-US" sz="4400" dirty="0">
                <a:solidFill>
                  <a:schemeClr val="tx1"/>
                </a:solidFill>
              </a:rPr>
              <a:t>Car Sales</a:t>
            </a: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8127750" y="4608576"/>
            <a:ext cx="3205640" cy="774186"/>
          </a:xfrm>
        </p:spPr>
        <p:txBody>
          <a:bodyPr anchor="t">
            <a:normAutofit/>
          </a:bodyPr>
          <a:lstStyle/>
          <a:p>
            <a:pPr>
              <a:lnSpc>
                <a:spcPct val="100000"/>
              </a:lnSpc>
            </a:pPr>
            <a:r>
              <a:rPr lang="en-US" sz="1600" dirty="0"/>
              <a:t>Prepared by team 3</a:t>
            </a:r>
          </a:p>
        </p:txBody>
      </p:sp>
      <p:cxnSp>
        <p:nvCxnSpPr>
          <p:cNvPr id="37" name="Straight Connector 36">
            <a:extLst>
              <a:ext uri="{FF2B5EF4-FFF2-40B4-BE49-F238E27FC236}">
                <a16:creationId xmlns:a16="http://schemas.microsoft.com/office/drawing/2014/main" id="{96D07482-83A3-4451-943C-B469610829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76090" y="4508519"/>
            <a:ext cx="31089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EDC90921-9082-491B-940E-827D679F34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6" name="Picture 5">
            <a:extLst>
              <a:ext uri="{FF2B5EF4-FFF2-40B4-BE49-F238E27FC236}">
                <a16:creationId xmlns:a16="http://schemas.microsoft.com/office/drawing/2014/main" id="{B814FB45-173B-D798-B1FA-F0798CD4F204}"/>
              </a:ext>
            </a:extLst>
          </p:cNvPr>
          <p:cNvPicPr>
            <a:picLocks noChangeAspect="1"/>
          </p:cNvPicPr>
          <p:nvPr/>
        </p:nvPicPr>
        <p:blipFill>
          <a:blip r:embed="rId4"/>
          <a:stretch>
            <a:fillRect/>
          </a:stretch>
        </p:blipFill>
        <p:spPr>
          <a:xfrm>
            <a:off x="8368602" y="1425495"/>
            <a:ext cx="2444876" cy="2324219"/>
          </a:xfrm>
          <a:prstGeom prst="rect">
            <a:avLst/>
          </a:prstGeom>
        </p:spPr>
      </p:pic>
    </p:spTree>
    <p:extLst>
      <p:ext uri="{BB962C8B-B14F-4D97-AF65-F5344CB8AC3E}">
        <p14:creationId xmlns:p14="http://schemas.microsoft.com/office/powerpoint/2010/main" val="19314396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CD9CC-9AD2-82D2-D25D-872BC3712B82}"/>
              </a:ext>
            </a:extLst>
          </p:cNvPr>
          <p:cNvSpPr>
            <a:spLocks noGrp="1"/>
          </p:cNvSpPr>
          <p:nvPr>
            <p:ph type="title"/>
          </p:nvPr>
        </p:nvSpPr>
        <p:spPr/>
        <p:txBody>
          <a:bodyPr/>
          <a:lstStyle/>
          <a:p>
            <a:r>
              <a:rPr lang="en-US" dirty="0"/>
              <a:t>👥 Team Members</a:t>
            </a:r>
            <a:br>
              <a:rPr lang="en-US" dirty="0"/>
            </a:br>
            <a:endParaRPr lang="en-US" dirty="0"/>
          </a:p>
        </p:txBody>
      </p:sp>
      <p:sp>
        <p:nvSpPr>
          <p:cNvPr id="3" name="Content Placeholder 2">
            <a:extLst>
              <a:ext uri="{FF2B5EF4-FFF2-40B4-BE49-F238E27FC236}">
                <a16:creationId xmlns:a16="http://schemas.microsoft.com/office/drawing/2014/main" id="{BF36EF6B-CA25-6727-4F59-0F634E087763}"/>
              </a:ext>
            </a:extLst>
          </p:cNvPr>
          <p:cNvSpPr>
            <a:spLocks noGrp="1"/>
          </p:cNvSpPr>
          <p:nvPr>
            <p:ph idx="1"/>
          </p:nvPr>
        </p:nvSpPr>
        <p:spPr/>
        <p:txBody>
          <a:bodyPr/>
          <a:lstStyle/>
          <a:p>
            <a:pPr algn="l">
              <a:buFont typeface="Arial" panose="020B0604020202020204" pitchFamily="34" charset="0"/>
              <a:buChar char="•"/>
            </a:pPr>
            <a:r>
              <a:rPr lang="en-US" sz="2800" b="0" i="0" dirty="0">
                <a:solidFill>
                  <a:srgbClr val="1F2328"/>
                </a:solidFill>
                <a:effectLst/>
                <a:latin typeface="-apple-system"/>
              </a:rPr>
              <a:t>Ahmed </a:t>
            </a:r>
            <a:r>
              <a:rPr lang="en-US" sz="2800" b="0" i="0" dirty="0" err="1">
                <a:solidFill>
                  <a:srgbClr val="1F2328"/>
                </a:solidFill>
                <a:effectLst/>
                <a:latin typeface="-apple-system"/>
              </a:rPr>
              <a:t>Bahy</a:t>
            </a:r>
            <a:endParaRPr lang="en-US" sz="2800" b="0" i="0" dirty="0">
              <a:solidFill>
                <a:srgbClr val="1F2328"/>
              </a:solidFill>
              <a:effectLst/>
              <a:latin typeface="-apple-system"/>
            </a:endParaRPr>
          </a:p>
          <a:p>
            <a:pPr algn="l">
              <a:buFont typeface="Arial" panose="020B0604020202020204" pitchFamily="34" charset="0"/>
              <a:buChar char="•"/>
            </a:pPr>
            <a:r>
              <a:rPr lang="en-US" sz="2800" b="0" i="0" dirty="0">
                <a:solidFill>
                  <a:srgbClr val="1F2328"/>
                </a:solidFill>
                <a:effectLst/>
                <a:latin typeface="-apple-system"/>
              </a:rPr>
              <a:t>Ahmed </a:t>
            </a:r>
            <a:r>
              <a:rPr lang="en-US" sz="2800" b="0" i="0" dirty="0" err="1">
                <a:solidFill>
                  <a:srgbClr val="1F2328"/>
                </a:solidFill>
                <a:effectLst/>
                <a:latin typeface="-apple-system"/>
              </a:rPr>
              <a:t>Abouelfadl</a:t>
            </a:r>
            <a:endParaRPr lang="en-US" sz="2800" b="0" i="0" dirty="0">
              <a:solidFill>
                <a:srgbClr val="1F2328"/>
              </a:solidFill>
              <a:effectLst/>
              <a:latin typeface="-apple-system"/>
            </a:endParaRPr>
          </a:p>
          <a:p>
            <a:pPr algn="l">
              <a:buFont typeface="Arial" panose="020B0604020202020204" pitchFamily="34" charset="0"/>
              <a:buChar char="•"/>
            </a:pPr>
            <a:r>
              <a:rPr lang="en-US" sz="2800" b="0" i="0" dirty="0">
                <a:solidFill>
                  <a:srgbClr val="1F2328"/>
                </a:solidFill>
                <a:effectLst/>
                <a:latin typeface="-apple-system"/>
              </a:rPr>
              <a:t>Mohamed Emad</a:t>
            </a:r>
          </a:p>
          <a:p>
            <a:pPr algn="l">
              <a:buFont typeface="Arial" panose="020B0604020202020204" pitchFamily="34" charset="0"/>
              <a:buChar char="•"/>
            </a:pPr>
            <a:r>
              <a:rPr lang="en-US" sz="2800" b="0" i="0" dirty="0">
                <a:solidFill>
                  <a:srgbClr val="1F2328"/>
                </a:solidFill>
                <a:effectLst/>
                <a:latin typeface="-apple-system"/>
              </a:rPr>
              <a:t>Sarah </a:t>
            </a:r>
            <a:r>
              <a:rPr lang="en-US" sz="2800" b="0" i="0" dirty="0" err="1">
                <a:solidFill>
                  <a:srgbClr val="1F2328"/>
                </a:solidFill>
                <a:effectLst/>
                <a:latin typeface="-apple-system"/>
              </a:rPr>
              <a:t>Abdelazim</a:t>
            </a:r>
            <a:endParaRPr lang="en-US" sz="2800" b="0" i="0" dirty="0">
              <a:solidFill>
                <a:srgbClr val="1F2328"/>
              </a:solidFill>
              <a:effectLst/>
              <a:latin typeface="-apple-system"/>
            </a:endParaRPr>
          </a:p>
          <a:p>
            <a:pPr algn="l">
              <a:buFont typeface="Arial" panose="020B0604020202020204" pitchFamily="34" charset="0"/>
              <a:buChar char="•"/>
            </a:pPr>
            <a:r>
              <a:rPr lang="en-US" sz="2800" b="0" i="0" dirty="0" err="1">
                <a:solidFill>
                  <a:srgbClr val="1F2328"/>
                </a:solidFill>
                <a:effectLst/>
                <a:latin typeface="-apple-system"/>
              </a:rPr>
              <a:t>Esraa</a:t>
            </a:r>
            <a:r>
              <a:rPr lang="en-US" sz="2800" b="0" i="0" dirty="0">
                <a:solidFill>
                  <a:srgbClr val="1F2328"/>
                </a:solidFill>
                <a:effectLst/>
                <a:latin typeface="-apple-system"/>
              </a:rPr>
              <a:t> Magdy</a:t>
            </a:r>
          </a:p>
          <a:p>
            <a:endParaRPr lang="en-US" dirty="0"/>
          </a:p>
        </p:txBody>
      </p:sp>
    </p:spTree>
    <p:extLst>
      <p:ext uri="{BB962C8B-B14F-4D97-AF65-F5344CB8AC3E}">
        <p14:creationId xmlns:p14="http://schemas.microsoft.com/office/powerpoint/2010/main" val="2887709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8939C-F48A-33E0-44EE-D1B2B702E6CB}"/>
              </a:ext>
            </a:extLst>
          </p:cNvPr>
          <p:cNvSpPr>
            <a:spLocks noGrp="1"/>
          </p:cNvSpPr>
          <p:nvPr>
            <p:ph type="title"/>
          </p:nvPr>
        </p:nvSpPr>
        <p:spPr/>
        <p:txBody>
          <a:bodyPr/>
          <a:lstStyle/>
          <a:p>
            <a:r>
              <a:rPr lang="en-US" dirty="0"/>
              <a:t> Project Overview</a:t>
            </a:r>
          </a:p>
        </p:txBody>
      </p:sp>
      <p:sp>
        <p:nvSpPr>
          <p:cNvPr id="3" name="Content Placeholder 2">
            <a:extLst>
              <a:ext uri="{FF2B5EF4-FFF2-40B4-BE49-F238E27FC236}">
                <a16:creationId xmlns:a16="http://schemas.microsoft.com/office/drawing/2014/main" id="{90BA813F-43DA-A598-A760-212A521FC31A}"/>
              </a:ext>
            </a:extLst>
          </p:cNvPr>
          <p:cNvSpPr>
            <a:spLocks noGrp="1"/>
          </p:cNvSpPr>
          <p:nvPr>
            <p:ph idx="1"/>
          </p:nvPr>
        </p:nvSpPr>
        <p:spPr/>
        <p:txBody>
          <a:bodyPr>
            <a:normAutofit/>
          </a:bodyPr>
          <a:lstStyle/>
          <a:p>
            <a:pPr marL="0" indent="0">
              <a:buNone/>
            </a:pPr>
            <a:r>
              <a:rPr lang="en-US" sz="2800" b="0" i="0" dirty="0">
                <a:solidFill>
                  <a:srgbClr val="1F2328"/>
                </a:solidFill>
                <a:effectLst/>
                <a:latin typeface="-apple-system"/>
              </a:rPr>
              <a:t>This project focuses on analyzing the automotive market in the USA to support stakeholders in making informed decisions. By leveraging multiple data analysis tools, the team will extract insights regarding sales trends, customer preferences, and market dynamics. Each member contributes their independent analysis, and findings are collaboratively discussed to produce the most accurate and valuable final results.</a:t>
            </a:r>
            <a:endParaRPr lang="en-US" sz="2800" dirty="0"/>
          </a:p>
        </p:txBody>
      </p:sp>
    </p:spTree>
    <p:extLst>
      <p:ext uri="{BB962C8B-B14F-4D97-AF65-F5344CB8AC3E}">
        <p14:creationId xmlns:p14="http://schemas.microsoft.com/office/powerpoint/2010/main" val="3988120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A3107-1162-9633-8E91-B2A9E9D5D768}"/>
              </a:ext>
            </a:extLst>
          </p:cNvPr>
          <p:cNvSpPr>
            <a:spLocks noGrp="1"/>
          </p:cNvSpPr>
          <p:nvPr>
            <p:ph type="title"/>
          </p:nvPr>
        </p:nvSpPr>
        <p:spPr/>
        <p:txBody>
          <a:bodyPr>
            <a:normAutofit fontScale="90000"/>
          </a:bodyPr>
          <a:lstStyle/>
          <a:p>
            <a:br>
              <a:rPr lang="ar-EG" b="1" i="0" dirty="0">
                <a:solidFill>
                  <a:srgbClr val="1F2328"/>
                </a:solidFill>
                <a:effectLst/>
                <a:latin typeface="-apple-system"/>
              </a:rPr>
            </a:br>
            <a:br>
              <a:rPr lang="ar-EG" b="1" i="0" dirty="0">
                <a:solidFill>
                  <a:srgbClr val="1F2328"/>
                </a:solidFill>
                <a:effectLst/>
                <a:latin typeface="-apple-system"/>
              </a:rPr>
            </a:br>
            <a:r>
              <a:rPr lang="en-US" b="1" i="0" dirty="0">
                <a:solidFill>
                  <a:srgbClr val="1F2328"/>
                </a:solidFill>
                <a:effectLst/>
                <a:latin typeface="-apple-system"/>
              </a:rPr>
              <a:t>Project Objectives</a:t>
            </a:r>
            <a:br>
              <a:rPr lang="en-US" b="1" i="0" dirty="0">
                <a:solidFill>
                  <a:srgbClr val="1F2328"/>
                </a:solidFill>
                <a:effectLst/>
                <a:latin typeface="-apple-system"/>
              </a:rPr>
            </a:br>
            <a:endParaRPr lang="en-US" dirty="0"/>
          </a:p>
        </p:txBody>
      </p:sp>
      <p:sp>
        <p:nvSpPr>
          <p:cNvPr id="3" name="Content Placeholder 2">
            <a:extLst>
              <a:ext uri="{FF2B5EF4-FFF2-40B4-BE49-F238E27FC236}">
                <a16:creationId xmlns:a16="http://schemas.microsoft.com/office/drawing/2014/main" id="{C49995AB-B376-A952-9B70-6A9159584CDE}"/>
              </a:ext>
            </a:extLst>
          </p:cNvPr>
          <p:cNvSpPr>
            <a:spLocks noGrp="1"/>
          </p:cNvSpPr>
          <p:nvPr>
            <p:ph idx="1"/>
          </p:nvPr>
        </p:nvSpPr>
        <p:spPr/>
        <p:txBody>
          <a:bodyPr/>
          <a:lstStyle/>
          <a:p>
            <a:pPr algn="l">
              <a:buFont typeface="Arial" panose="020B0604020202020204" pitchFamily="34" charset="0"/>
              <a:buChar char="•"/>
            </a:pPr>
            <a:r>
              <a:rPr lang="en-US" b="0" i="0" dirty="0">
                <a:solidFill>
                  <a:srgbClr val="1F2328"/>
                </a:solidFill>
                <a:effectLst/>
                <a:latin typeface="-apple-system"/>
              </a:rPr>
              <a:t>Provide deep insights into car sales trends and patterns in the USA.</a:t>
            </a:r>
          </a:p>
          <a:p>
            <a:pPr algn="l">
              <a:buFont typeface="Arial" panose="020B0604020202020204" pitchFamily="34" charset="0"/>
              <a:buChar char="•"/>
            </a:pPr>
            <a:r>
              <a:rPr lang="en-US" b="0" i="0" dirty="0">
                <a:solidFill>
                  <a:srgbClr val="1F2328"/>
                </a:solidFill>
                <a:effectLst/>
                <a:latin typeface="-apple-system"/>
              </a:rPr>
              <a:t>Identify factors influencing sales performance across different segments.</a:t>
            </a:r>
          </a:p>
          <a:p>
            <a:pPr algn="l">
              <a:buFont typeface="Arial" panose="020B0604020202020204" pitchFamily="34" charset="0"/>
              <a:buChar char="•"/>
            </a:pPr>
            <a:r>
              <a:rPr lang="en-US" b="0" i="0" dirty="0">
                <a:solidFill>
                  <a:srgbClr val="1F2328"/>
                </a:solidFill>
                <a:effectLst/>
                <a:latin typeface="-apple-system"/>
              </a:rPr>
              <a:t>Support stakeholders in making data-driven decisions for strategy and investment.</a:t>
            </a:r>
          </a:p>
          <a:p>
            <a:pPr algn="l">
              <a:buFont typeface="Arial" panose="020B0604020202020204" pitchFamily="34" charset="0"/>
              <a:buChar char="•"/>
            </a:pPr>
            <a:r>
              <a:rPr lang="en-US" b="0" i="0" dirty="0">
                <a:solidFill>
                  <a:srgbClr val="1F2328"/>
                </a:solidFill>
                <a:effectLst/>
                <a:latin typeface="-apple-system"/>
              </a:rPr>
              <a:t>Utilize multiple analytical tools to ensure comprehensive and validated findings.</a:t>
            </a:r>
          </a:p>
          <a:p>
            <a:pPr algn="l">
              <a:buFont typeface="Arial" panose="020B0604020202020204" pitchFamily="34" charset="0"/>
              <a:buChar char="•"/>
            </a:pPr>
            <a:r>
              <a:rPr lang="en-US" b="0" i="0" dirty="0">
                <a:solidFill>
                  <a:srgbClr val="1F2328"/>
                </a:solidFill>
                <a:effectLst/>
                <a:latin typeface="-apple-system"/>
              </a:rPr>
              <a:t>Foster team collaboration to combine individual analyses into the best final version.</a:t>
            </a:r>
          </a:p>
          <a:p>
            <a:endParaRPr lang="en-US" dirty="0"/>
          </a:p>
        </p:txBody>
      </p:sp>
    </p:spTree>
    <p:extLst>
      <p:ext uri="{BB962C8B-B14F-4D97-AF65-F5344CB8AC3E}">
        <p14:creationId xmlns:p14="http://schemas.microsoft.com/office/powerpoint/2010/main" val="18645621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81FEF-9471-B351-922B-BD5AC505070A}"/>
              </a:ext>
            </a:extLst>
          </p:cNvPr>
          <p:cNvSpPr>
            <a:spLocks noGrp="1"/>
          </p:cNvSpPr>
          <p:nvPr>
            <p:ph type="title"/>
          </p:nvPr>
        </p:nvSpPr>
        <p:spPr/>
        <p:txBody>
          <a:bodyPr>
            <a:normAutofit fontScale="90000"/>
          </a:bodyPr>
          <a:lstStyle/>
          <a:p>
            <a:br>
              <a:rPr lang="ar-EG" dirty="0"/>
            </a:br>
            <a:br>
              <a:rPr lang="ar-EG" dirty="0"/>
            </a:br>
            <a:r>
              <a:rPr lang="en-US" dirty="0"/>
              <a:t>Tools &amp; Techniques</a:t>
            </a:r>
            <a:br>
              <a:rPr lang="en-US" dirty="0"/>
            </a:br>
            <a:endParaRPr lang="en-US" dirty="0"/>
          </a:p>
        </p:txBody>
      </p:sp>
      <p:sp>
        <p:nvSpPr>
          <p:cNvPr id="3" name="Content Placeholder 2">
            <a:extLst>
              <a:ext uri="{FF2B5EF4-FFF2-40B4-BE49-F238E27FC236}">
                <a16:creationId xmlns:a16="http://schemas.microsoft.com/office/drawing/2014/main" id="{19E2FFE4-CC41-4A73-CC71-F29188DB4FD9}"/>
              </a:ext>
            </a:extLst>
          </p:cNvPr>
          <p:cNvSpPr>
            <a:spLocks noGrp="1"/>
          </p:cNvSpPr>
          <p:nvPr>
            <p:ph idx="1"/>
          </p:nvPr>
        </p:nvSpPr>
        <p:spPr/>
        <p:txBody>
          <a:bodyPr>
            <a:normAutofit fontScale="92500"/>
          </a:bodyPr>
          <a:lstStyle/>
          <a:p>
            <a:pPr algn="l">
              <a:buFont typeface="Arial" panose="020B0604020202020204" pitchFamily="34" charset="0"/>
              <a:buChar char="•"/>
            </a:pPr>
            <a:r>
              <a:rPr lang="en-US" sz="3600" b="0" i="0" dirty="0">
                <a:solidFill>
                  <a:srgbClr val="1F2328"/>
                </a:solidFill>
                <a:effectLst/>
                <a:latin typeface="-apple-system"/>
              </a:rPr>
              <a:t>Excel for quick analysis and visualization.</a:t>
            </a:r>
          </a:p>
          <a:p>
            <a:pPr algn="l">
              <a:buFont typeface="Arial" panose="020B0604020202020204" pitchFamily="34" charset="0"/>
              <a:buChar char="•"/>
            </a:pPr>
            <a:r>
              <a:rPr lang="en-US" sz="3600" b="0" i="0" dirty="0">
                <a:solidFill>
                  <a:srgbClr val="1F2328"/>
                </a:solidFill>
                <a:effectLst/>
                <a:latin typeface="-apple-system"/>
              </a:rPr>
              <a:t>SQL for querying and managing datasets.</a:t>
            </a:r>
          </a:p>
          <a:p>
            <a:pPr algn="l">
              <a:buFont typeface="Arial" panose="020B0604020202020204" pitchFamily="34" charset="0"/>
              <a:buChar char="•"/>
            </a:pPr>
            <a:r>
              <a:rPr lang="en-US" sz="3600" b="0" i="0" dirty="0">
                <a:solidFill>
                  <a:srgbClr val="1F2328"/>
                </a:solidFill>
                <a:effectLst/>
                <a:latin typeface="-apple-system"/>
              </a:rPr>
              <a:t>Python for advanced statistical analysis and modeling.</a:t>
            </a:r>
          </a:p>
          <a:p>
            <a:pPr algn="l">
              <a:buFont typeface="Arial" panose="020B0604020202020204" pitchFamily="34" charset="0"/>
              <a:buChar char="•"/>
            </a:pPr>
            <a:r>
              <a:rPr lang="en-US" sz="3600" b="0" i="0" dirty="0">
                <a:solidFill>
                  <a:srgbClr val="1F2328"/>
                </a:solidFill>
                <a:effectLst/>
                <a:latin typeface="-apple-system"/>
              </a:rPr>
              <a:t>Power BI and Tableau for interactive dashboards and visual storytelling.</a:t>
            </a:r>
          </a:p>
          <a:p>
            <a:endParaRPr lang="en-US" dirty="0"/>
          </a:p>
        </p:txBody>
      </p:sp>
    </p:spTree>
    <p:extLst>
      <p:ext uri="{BB962C8B-B14F-4D97-AF65-F5344CB8AC3E}">
        <p14:creationId xmlns:p14="http://schemas.microsoft.com/office/powerpoint/2010/main" val="1019401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9B1DE-C3E8-9376-E633-48F89ED50165}"/>
              </a:ext>
            </a:extLst>
          </p:cNvPr>
          <p:cNvSpPr>
            <a:spLocks noGrp="1"/>
          </p:cNvSpPr>
          <p:nvPr>
            <p:ph type="title"/>
          </p:nvPr>
        </p:nvSpPr>
        <p:spPr/>
        <p:txBody>
          <a:bodyPr/>
          <a:lstStyle/>
          <a:p>
            <a:r>
              <a:rPr lang="en-US" dirty="0"/>
              <a:t>Excel</a:t>
            </a:r>
          </a:p>
        </p:txBody>
      </p:sp>
      <p:sp>
        <p:nvSpPr>
          <p:cNvPr id="3" name="Content Placeholder 2">
            <a:extLst>
              <a:ext uri="{FF2B5EF4-FFF2-40B4-BE49-F238E27FC236}">
                <a16:creationId xmlns:a16="http://schemas.microsoft.com/office/drawing/2014/main" id="{99ABECD3-4195-6B35-F6E6-2AB0A5748E58}"/>
              </a:ext>
            </a:extLst>
          </p:cNvPr>
          <p:cNvSpPr>
            <a:spLocks noGrp="1"/>
          </p:cNvSpPr>
          <p:nvPr>
            <p:ph idx="1"/>
          </p:nvPr>
        </p:nvSpPr>
        <p:spPr/>
        <p:txBody>
          <a:bodyPr/>
          <a:lstStyle/>
          <a:p>
            <a:r>
              <a:rPr lang="en-US" sz="2400" dirty="0"/>
              <a:t>We did the following using Excel:</a:t>
            </a:r>
          </a:p>
          <a:p>
            <a:pPr>
              <a:buFont typeface="Courier New" panose="02070309020205020404" pitchFamily="49" charset="0"/>
              <a:buChar char="o"/>
            </a:pPr>
            <a:r>
              <a:rPr lang="en-US" sz="1800" dirty="0"/>
              <a:t>Data Modeling</a:t>
            </a:r>
          </a:p>
          <a:p>
            <a:pPr>
              <a:buFont typeface="Courier New" panose="02070309020205020404" pitchFamily="49" charset="0"/>
              <a:buChar char="o"/>
            </a:pPr>
            <a:r>
              <a:rPr lang="en-US" sz="1800" dirty="0"/>
              <a:t>Data Cleaning </a:t>
            </a:r>
          </a:p>
          <a:p>
            <a:pPr>
              <a:buFont typeface="Courier New" panose="02070309020205020404" pitchFamily="49" charset="0"/>
              <a:buChar char="o"/>
            </a:pPr>
            <a:r>
              <a:rPr lang="en-US" sz="1800" dirty="0"/>
              <a:t>Data Analysis and Extracting Insights</a:t>
            </a:r>
            <a:endParaRPr lang="en-US" dirty="0"/>
          </a:p>
        </p:txBody>
      </p:sp>
    </p:spTree>
    <p:extLst>
      <p:ext uri="{BB962C8B-B14F-4D97-AF65-F5344CB8AC3E}">
        <p14:creationId xmlns:p14="http://schemas.microsoft.com/office/powerpoint/2010/main" val="1213304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A0388-38E1-DE01-E36F-019BC31DE912}"/>
              </a:ext>
            </a:extLst>
          </p:cNvPr>
          <p:cNvSpPr>
            <a:spLocks noGrp="1"/>
          </p:cNvSpPr>
          <p:nvPr>
            <p:ph type="title"/>
          </p:nvPr>
        </p:nvSpPr>
        <p:spPr/>
        <p:txBody>
          <a:bodyPr/>
          <a:lstStyle/>
          <a:p>
            <a:r>
              <a:rPr lang="en-US" dirty="0"/>
              <a:t>Data Modelling</a:t>
            </a:r>
          </a:p>
        </p:txBody>
      </p:sp>
      <p:pic>
        <p:nvPicPr>
          <p:cNvPr id="5" name="Content Placeholder 4">
            <a:extLst>
              <a:ext uri="{FF2B5EF4-FFF2-40B4-BE49-F238E27FC236}">
                <a16:creationId xmlns:a16="http://schemas.microsoft.com/office/drawing/2014/main" id="{1BB9294C-6C08-D21B-8388-A3DDC41CF768}"/>
              </a:ext>
            </a:extLst>
          </p:cNvPr>
          <p:cNvPicPr>
            <a:picLocks noGrp="1" noChangeAspect="1"/>
          </p:cNvPicPr>
          <p:nvPr>
            <p:ph idx="1"/>
          </p:nvPr>
        </p:nvPicPr>
        <p:blipFill>
          <a:blip r:embed="rId2"/>
          <a:stretch>
            <a:fillRect/>
          </a:stretch>
        </p:blipFill>
        <p:spPr>
          <a:xfrm>
            <a:off x="1097281" y="2108200"/>
            <a:ext cx="9286240" cy="3760788"/>
          </a:xfrm>
        </p:spPr>
      </p:pic>
    </p:spTree>
    <p:extLst>
      <p:ext uri="{BB962C8B-B14F-4D97-AF65-F5344CB8AC3E}">
        <p14:creationId xmlns:p14="http://schemas.microsoft.com/office/powerpoint/2010/main" val="3290694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7FFFC-05C0-E4CF-84F6-A9710C1A3BF5}"/>
              </a:ext>
            </a:extLst>
          </p:cNvPr>
          <p:cNvSpPr>
            <a:spLocks noGrp="1"/>
          </p:cNvSpPr>
          <p:nvPr>
            <p:ph type="title"/>
          </p:nvPr>
        </p:nvSpPr>
        <p:spPr/>
        <p:txBody>
          <a:bodyPr/>
          <a:lstStyle/>
          <a:p>
            <a:r>
              <a:rPr lang="en-US" dirty="0"/>
              <a:t>Dashboard</a:t>
            </a:r>
          </a:p>
        </p:txBody>
      </p:sp>
      <p:pic>
        <p:nvPicPr>
          <p:cNvPr id="5" name="Content Placeholder 4">
            <a:extLst>
              <a:ext uri="{FF2B5EF4-FFF2-40B4-BE49-F238E27FC236}">
                <a16:creationId xmlns:a16="http://schemas.microsoft.com/office/drawing/2014/main" id="{B437A81A-5CD8-278D-9521-D4DB770E0187}"/>
              </a:ext>
            </a:extLst>
          </p:cNvPr>
          <p:cNvPicPr>
            <a:picLocks noGrp="1" noChangeAspect="1"/>
          </p:cNvPicPr>
          <p:nvPr>
            <p:ph idx="1"/>
          </p:nvPr>
        </p:nvPicPr>
        <p:blipFill>
          <a:blip r:embed="rId2"/>
          <a:stretch>
            <a:fillRect/>
          </a:stretch>
        </p:blipFill>
        <p:spPr>
          <a:xfrm>
            <a:off x="1096963" y="2150701"/>
            <a:ext cx="10058400" cy="3675785"/>
          </a:xfrm>
        </p:spPr>
      </p:pic>
    </p:spTree>
    <p:extLst>
      <p:ext uri="{BB962C8B-B14F-4D97-AF65-F5344CB8AC3E}">
        <p14:creationId xmlns:p14="http://schemas.microsoft.com/office/powerpoint/2010/main" val="34876516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150D0-4CF0-6966-B95A-F6263C27B138}"/>
              </a:ext>
            </a:extLst>
          </p:cNvPr>
          <p:cNvSpPr>
            <a:spLocks noGrp="1"/>
          </p:cNvSpPr>
          <p:nvPr>
            <p:ph type="title"/>
          </p:nvPr>
        </p:nvSpPr>
        <p:spPr/>
        <p:txBody>
          <a:bodyPr/>
          <a:lstStyle/>
          <a:p>
            <a:r>
              <a:rPr lang="en-US" dirty="0"/>
              <a:t>Dashboard</a:t>
            </a:r>
          </a:p>
        </p:txBody>
      </p:sp>
      <p:sp>
        <p:nvSpPr>
          <p:cNvPr id="3" name="Content Placeholder 2">
            <a:extLst>
              <a:ext uri="{FF2B5EF4-FFF2-40B4-BE49-F238E27FC236}">
                <a16:creationId xmlns:a16="http://schemas.microsoft.com/office/drawing/2014/main" id="{23A32A97-A04C-6D59-4B17-BD09420DD456}"/>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F9B79808-CB5F-CD2F-7D55-84E8638A414B}"/>
              </a:ext>
            </a:extLst>
          </p:cNvPr>
          <p:cNvPicPr>
            <a:picLocks noChangeAspect="1"/>
          </p:cNvPicPr>
          <p:nvPr/>
        </p:nvPicPr>
        <p:blipFill>
          <a:blip r:embed="rId2"/>
          <a:stretch>
            <a:fillRect/>
          </a:stretch>
        </p:blipFill>
        <p:spPr>
          <a:xfrm>
            <a:off x="1015739" y="2035920"/>
            <a:ext cx="10160522" cy="3905451"/>
          </a:xfrm>
          <a:prstGeom prst="rect">
            <a:avLst/>
          </a:prstGeom>
        </p:spPr>
      </p:pic>
    </p:spTree>
    <p:extLst>
      <p:ext uri="{BB962C8B-B14F-4D97-AF65-F5344CB8AC3E}">
        <p14:creationId xmlns:p14="http://schemas.microsoft.com/office/powerpoint/2010/main" val="13203549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4B21B-77AD-5E8F-79CB-212EC8D8DD50}"/>
              </a:ext>
            </a:extLst>
          </p:cNvPr>
          <p:cNvSpPr>
            <a:spLocks noGrp="1"/>
          </p:cNvSpPr>
          <p:nvPr>
            <p:ph type="title"/>
          </p:nvPr>
        </p:nvSpPr>
        <p:spPr/>
        <p:txBody>
          <a:bodyPr/>
          <a:lstStyle/>
          <a:p>
            <a:r>
              <a:rPr lang="en-US" dirty="0"/>
              <a:t>Dashboard</a:t>
            </a:r>
          </a:p>
        </p:txBody>
      </p:sp>
      <p:pic>
        <p:nvPicPr>
          <p:cNvPr id="5" name="Content Placeholder 4">
            <a:extLst>
              <a:ext uri="{FF2B5EF4-FFF2-40B4-BE49-F238E27FC236}">
                <a16:creationId xmlns:a16="http://schemas.microsoft.com/office/drawing/2014/main" id="{EED98C98-AEF2-C800-8D96-7E2947F6A8B1}"/>
              </a:ext>
            </a:extLst>
          </p:cNvPr>
          <p:cNvPicPr>
            <a:picLocks noGrp="1" noChangeAspect="1"/>
          </p:cNvPicPr>
          <p:nvPr>
            <p:ph idx="1"/>
          </p:nvPr>
        </p:nvPicPr>
        <p:blipFill>
          <a:blip r:embed="rId2"/>
          <a:stretch>
            <a:fillRect/>
          </a:stretch>
        </p:blipFill>
        <p:spPr>
          <a:xfrm>
            <a:off x="1117894" y="2108200"/>
            <a:ext cx="10016537" cy="3760788"/>
          </a:xfrm>
        </p:spPr>
      </p:pic>
    </p:spTree>
    <p:extLst>
      <p:ext uri="{BB962C8B-B14F-4D97-AF65-F5344CB8AC3E}">
        <p14:creationId xmlns:p14="http://schemas.microsoft.com/office/powerpoint/2010/main" val="534663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DDBBE-D6B8-5AA5-C827-B74EC9711771}"/>
              </a:ext>
            </a:extLst>
          </p:cNvPr>
          <p:cNvSpPr>
            <a:spLocks noGrp="1"/>
          </p:cNvSpPr>
          <p:nvPr>
            <p:ph type="title"/>
          </p:nvPr>
        </p:nvSpPr>
        <p:spPr/>
        <p:txBody>
          <a:bodyPr/>
          <a:lstStyle/>
          <a:p>
            <a:r>
              <a:rPr lang="en-US" dirty="0"/>
              <a:t>SQL:</a:t>
            </a:r>
          </a:p>
        </p:txBody>
      </p:sp>
      <p:sp>
        <p:nvSpPr>
          <p:cNvPr id="3" name="Content Placeholder 2">
            <a:extLst>
              <a:ext uri="{FF2B5EF4-FFF2-40B4-BE49-F238E27FC236}">
                <a16:creationId xmlns:a16="http://schemas.microsoft.com/office/drawing/2014/main" id="{E60EE8D8-6608-1A70-FE33-91B8243B1C14}"/>
              </a:ext>
            </a:extLst>
          </p:cNvPr>
          <p:cNvSpPr>
            <a:spLocks noGrp="1"/>
          </p:cNvSpPr>
          <p:nvPr>
            <p:ph idx="1"/>
          </p:nvPr>
        </p:nvSpPr>
        <p:spPr/>
        <p:txBody>
          <a:bodyPr/>
          <a:lstStyle/>
          <a:p>
            <a:r>
              <a:rPr lang="en-US" sz="2800" dirty="0"/>
              <a:t>We did the following using SQL:</a:t>
            </a:r>
          </a:p>
          <a:p>
            <a:pPr>
              <a:buFont typeface="Courier New" panose="02070309020205020404" pitchFamily="49" charset="0"/>
              <a:buChar char="o"/>
            </a:pPr>
            <a:r>
              <a:rPr lang="en-US" sz="2000" dirty="0"/>
              <a:t>Data Modeling</a:t>
            </a:r>
          </a:p>
          <a:p>
            <a:pPr>
              <a:buFont typeface="Courier New" panose="02070309020205020404" pitchFamily="49" charset="0"/>
              <a:buChar char="o"/>
            </a:pPr>
            <a:r>
              <a:rPr lang="en-US" sz="2000" dirty="0"/>
              <a:t>Data Cleaning </a:t>
            </a:r>
          </a:p>
          <a:p>
            <a:pPr>
              <a:buFont typeface="Courier New" panose="02070309020205020404" pitchFamily="49" charset="0"/>
              <a:buChar char="o"/>
            </a:pPr>
            <a:r>
              <a:rPr lang="en-US" sz="2000" dirty="0"/>
              <a:t>Data Analysis and Extracting Insights</a:t>
            </a:r>
          </a:p>
        </p:txBody>
      </p:sp>
    </p:spTree>
    <p:extLst>
      <p:ext uri="{BB962C8B-B14F-4D97-AF65-F5344CB8AC3E}">
        <p14:creationId xmlns:p14="http://schemas.microsoft.com/office/powerpoint/2010/main" val="36723548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B8A56-31A6-8F2B-A912-263405613ECE}"/>
              </a:ext>
            </a:extLst>
          </p:cNvPr>
          <p:cNvSpPr>
            <a:spLocks noGrp="1"/>
          </p:cNvSpPr>
          <p:nvPr>
            <p:ph type="title"/>
          </p:nvPr>
        </p:nvSpPr>
        <p:spPr/>
        <p:txBody>
          <a:bodyPr/>
          <a:lstStyle/>
          <a:p>
            <a:r>
              <a:rPr lang="en-US" dirty="0"/>
              <a:t>Data Modeling</a:t>
            </a:r>
          </a:p>
        </p:txBody>
      </p:sp>
      <p:pic>
        <p:nvPicPr>
          <p:cNvPr id="5" name="Content Placeholder 4">
            <a:extLst>
              <a:ext uri="{FF2B5EF4-FFF2-40B4-BE49-F238E27FC236}">
                <a16:creationId xmlns:a16="http://schemas.microsoft.com/office/drawing/2014/main" id="{D9D2B01E-3AAD-E9BF-3107-EB2ACDF34AC2}"/>
              </a:ext>
            </a:extLst>
          </p:cNvPr>
          <p:cNvPicPr>
            <a:picLocks noGrp="1" noChangeAspect="1"/>
          </p:cNvPicPr>
          <p:nvPr>
            <p:ph idx="1"/>
          </p:nvPr>
        </p:nvPicPr>
        <p:blipFill>
          <a:blip r:embed="rId2"/>
          <a:stretch>
            <a:fillRect/>
          </a:stretch>
        </p:blipFill>
        <p:spPr>
          <a:xfrm>
            <a:off x="822960" y="2108200"/>
            <a:ext cx="10332720" cy="4170680"/>
          </a:xfrm>
        </p:spPr>
      </p:pic>
    </p:spTree>
    <p:extLst>
      <p:ext uri="{BB962C8B-B14F-4D97-AF65-F5344CB8AC3E}">
        <p14:creationId xmlns:p14="http://schemas.microsoft.com/office/powerpoint/2010/main" val="10279035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0A6F0-998B-9C9F-22D1-79FA3C098035}"/>
              </a:ext>
            </a:extLst>
          </p:cNvPr>
          <p:cNvSpPr>
            <a:spLocks noGrp="1"/>
          </p:cNvSpPr>
          <p:nvPr>
            <p:ph type="title"/>
          </p:nvPr>
        </p:nvSpPr>
        <p:spPr/>
        <p:txBody>
          <a:bodyPr/>
          <a:lstStyle/>
          <a:p>
            <a:r>
              <a:rPr lang="en-US" dirty="0"/>
              <a:t>Data Cleaning</a:t>
            </a:r>
          </a:p>
        </p:txBody>
      </p:sp>
      <p:sp>
        <p:nvSpPr>
          <p:cNvPr id="3" name="Content Placeholder 2">
            <a:extLst>
              <a:ext uri="{FF2B5EF4-FFF2-40B4-BE49-F238E27FC236}">
                <a16:creationId xmlns:a16="http://schemas.microsoft.com/office/drawing/2014/main" id="{95CB71CF-6A63-1E8A-9500-5E1DB656D4F0}"/>
              </a:ext>
            </a:extLst>
          </p:cNvPr>
          <p:cNvSpPr>
            <a:spLocks noGrp="1"/>
          </p:cNvSpPr>
          <p:nvPr>
            <p:ph idx="1"/>
          </p:nvPr>
        </p:nvSpPr>
        <p:spPr/>
        <p:txBody>
          <a:bodyPr/>
          <a:lstStyle/>
          <a:p>
            <a:r>
              <a:rPr lang="en-US" dirty="0"/>
              <a:t>We did the following:</a:t>
            </a:r>
          </a:p>
          <a:p>
            <a:pPr>
              <a:buFont typeface="Courier New" panose="02070309020205020404" pitchFamily="49" charset="0"/>
              <a:buChar char="o"/>
            </a:pPr>
            <a:r>
              <a:rPr lang="en-US" dirty="0"/>
              <a:t>Check duplicate data and remove them</a:t>
            </a:r>
          </a:p>
          <a:p>
            <a:pPr>
              <a:buFont typeface="Courier New" panose="02070309020205020404" pitchFamily="49" charset="0"/>
              <a:buChar char="o"/>
            </a:pPr>
            <a:r>
              <a:rPr lang="en-US" dirty="0"/>
              <a:t>Check missed data and replace them</a:t>
            </a:r>
          </a:p>
          <a:p>
            <a:pPr>
              <a:buFont typeface="Courier New" panose="02070309020205020404" pitchFamily="49" charset="0"/>
              <a:buChar char="o"/>
            </a:pPr>
            <a:r>
              <a:rPr lang="en-US" dirty="0"/>
              <a:t>Add some new columns to make some calculations.</a:t>
            </a:r>
          </a:p>
          <a:p>
            <a:pPr>
              <a:buFont typeface="Courier New" panose="02070309020205020404" pitchFamily="49" charset="0"/>
              <a:buChar char="o"/>
            </a:pPr>
            <a:endParaRPr lang="en-US" dirty="0"/>
          </a:p>
        </p:txBody>
      </p:sp>
    </p:spTree>
    <p:extLst>
      <p:ext uri="{BB962C8B-B14F-4D97-AF65-F5344CB8AC3E}">
        <p14:creationId xmlns:p14="http://schemas.microsoft.com/office/powerpoint/2010/main" val="2290879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F2D32-2A3C-55C7-736C-4149E98EFEFF}"/>
              </a:ext>
            </a:extLst>
          </p:cNvPr>
          <p:cNvSpPr>
            <a:spLocks noGrp="1"/>
          </p:cNvSpPr>
          <p:nvPr>
            <p:ph type="title"/>
          </p:nvPr>
        </p:nvSpPr>
        <p:spPr/>
        <p:txBody>
          <a:bodyPr/>
          <a:lstStyle/>
          <a:p>
            <a:r>
              <a:rPr lang="en-US" dirty="0"/>
              <a:t>Data Analysis</a:t>
            </a:r>
          </a:p>
        </p:txBody>
      </p:sp>
      <p:sp>
        <p:nvSpPr>
          <p:cNvPr id="3" name="Content Placeholder 2">
            <a:extLst>
              <a:ext uri="{FF2B5EF4-FFF2-40B4-BE49-F238E27FC236}">
                <a16:creationId xmlns:a16="http://schemas.microsoft.com/office/drawing/2014/main" id="{13878C54-8224-5968-DB2C-AB0E7EC7417F}"/>
              </a:ext>
            </a:extLst>
          </p:cNvPr>
          <p:cNvSpPr>
            <a:spLocks noGrp="1"/>
          </p:cNvSpPr>
          <p:nvPr>
            <p:ph idx="1"/>
          </p:nvPr>
        </p:nvSpPr>
        <p:spPr/>
        <p:txBody>
          <a:bodyPr/>
          <a:lstStyle/>
          <a:p>
            <a:r>
              <a:rPr lang="en-US" dirty="0"/>
              <a:t>Those are some of the insights created by us:</a:t>
            </a:r>
          </a:p>
          <a:p>
            <a:pPr>
              <a:buFont typeface="Courier New" panose="02070309020205020404" pitchFamily="49" charset="0"/>
              <a:buChar char="o"/>
            </a:pPr>
            <a:r>
              <a:rPr lang="en-US" dirty="0"/>
              <a:t> what is the brand that makes more sales?</a:t>
            </a:r>
          </a:p>
        </p:txBody>
      </p:sp>
      <p:pic>
        <p:nvPicPr>
          <p:cNvPr id="5" name="Picture 4">
            <a:extLst>
              <a:ext uri="{FF2B5EF4-FFF2-40B4-BE49-F238E27FC236}">
                <a16:creationId xmlns:a16="http://schemas.microsoft.com/office/drawing/2014/main" id="{BDE06333-44CC-570A-4B01-2EA74649C412}"/>
              </a:ext>
            </a:extLst>
          </p:cNvPr>
          <p:cNvPicPr>
            <a:picLocks noChangeAspect="1"/>
          </p:cNvPicPr>
          <p:nvPr/>
        </p:nvPicPr>
        <p:blipFill>
          <a:blip r:embed="rId2"/>
          <a:stretch>
            <a:fillRect/>
          </a:stretch>
        </p:blipFill>
        <p:spPr>
          <a:xfrm>
            <a:off x="1391920" y="3210561"/>
            <a:ext cx="9042399" cy="2773680"/>
          </a:xfrm>
          <a:prstGeom prst="rect">
            <a:avLst/>
          </a:prstGeom>
        </p:spPr>
      </p:pic>
    </p:spTree>
    <p:extLst>
      <p:ext uri="{BB962C8B-B14F-4D97-AF65-F5344CB8AC3E}">
        <p14:creationId xmlns:p14="http://schemas.microsoft.com/office/powerpoint/2010/main" val="30072796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C66EB-9C07-AE22-2DE9-37E196B0FB5C}"/>
              </a:ext>
            </a:extLst>
          </p:cNvPr>
          <p:cNvSpPr>
            <a:spLocks noGrp="1"/>
          </p:cNvSpPr>
          <p:nvPr>
            <p:ph type="title"/>
          </p:nvPr>
        </p:nvSpPr>
        <p:spPr/>
        <p:txBody>
          <a:bodyPr/>
          <a:lstStyle/>
          <a:p>
            <a:r>
              <a:rPr lang="en-US" dirty="0"/>
              <a:t>Data Analysis</a:t>
            </a:r>
          </a:p>
        </p:txBody>
      </p:sp>
      <p:sp>
        <p:nvSpPr>
          <p:cNvPr id="3" name="Content Placeholder 2">
            <a:extLst>
              <a:ext uri="{FF2B5EF4-FFF2-40B4-BE49-F238E27FC236}">
                <a16:creationId xmlns:a16="http://schemas.microsoft.com/office/drawing/2014/main" id="{6FC32646-BAE9-41CE-D97A-8118FE5B0BC5}"/>
              </a:ext>
            </a:extLst>
          </p:cNvPr>
          <p:cNvSpPr>
            <a:spLocks noGrp="1"/>
          </p:cNvSpPr>
          <p:nvPr>
            <p:ph idx="1"/>
          </p:nvPr>
        </p:nvSpPr>
        <p:spPr/>
        <p:txBody>
          <a:bodyPr/>
          <a:lstStyle/>
          <a:p>
            <a:r>
              <a:rPr lang="en-US" dirty="0"/>
              <a:t>what is models that makes most sales orders ?</a:t>
            </a:r>
          </a:p>
          <a:p>
            <a:endParaRPr lang="en-US" dirty="0"/>
          </a:p>
        </p:txBody>
      </p:sp>
      <p:pic>
        <p:nvPicPr>
          <p:cNvPr id="5" name="Picture 4">
            <a:extLst>
              <a:ext uri="{FF2B5EF4-FFF2-40B4-BE49-F238E27FC236}">
                <a16:creationId xmlns:a16="http://schemas.microsoft.com/office/drawing/2014/main" id="{B0BDB297-F51C-903F-DE87-5EAEAA449A05}"/>
              </a:ext>
            </a:extLst>
          </p:cNvPr>
          <p:cNvPicPr>
            <a:picLocks noChangeAspect="1"/>
          </p:cNvPicPr>
          <p:nvPr/>
        </p:nvPicPr>
        <p:blipFill>
          <a:blip r:embed="rId2"/>
          <a:stretch>
            <a:fillRect/>
          </a:stretch>
        </p:blipFill>
        <p:spPr>
          <a:xfrm>
            <a:off x="741681" y="2581231"/>
            <a:ext cx="11084560" cy="3287861"/>
          </a:xfrm>
          <a:prstGeom prst="rect">
            <a:avLst/>
          </a:prstGeom>
        </p:spPr>
      </p:pic>
    </p:spTree>
    <p:extLst>
      <p:ext uri="{BB962C8B-B14F-4D97-AF65-F5344CB8AC3E}">
        <p14:creationId xmlns:p14="http://schemas.microsoft.com/office/powerpoint/2010/main" val="4843322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AC927-00AF-456D-E3C0-477101455CB1}"/>
              </a:ext>
            </a:extLst>
          </p:cNvPr>
          <p:cNvSpPr>
            <a:spLocks noGrp="1"/>
          </p:cNvSpPr>
          <p:nvPr>
            <p:ph type="title"/>
          </p:nvPr>
        </p:nvSpPr>
        <p:spPr/>
        <p:txBody>
          <a:bodyPr/>
          <a:lstStyle/>
          <a:p>
            <a:r>
              <a:rPr lang="en-US" dirty="0"/>
              <a:t>Data Analysis</a:t>
            </a:r>
          </a:p>
        </p:txBody>
      </p:sp>
      <p:pic>
        <p:nvPicPr>
          <p:cNvPr id="5" name="Picture 4">
            <a:extLst>
              <a:ext uri="{FF2B5EF4-FFF2-40B4-BE49-F238E27FC236}">
                <a16:creationId xmlns:a16="http://schemas.microsoft.com/office/drawing/2014/main" id="{C29278A0-5664-2DFC-5305-0CD718029330}"/>
              </a:ext>
            </a:extLst>
          </p:cNvPr>
          <p:cNvPicPr>
            <a:picLocks noChangeAspect="1"/>
          </p:cNvPicPr>
          <p:nvPr/>
        </p:nvPicPr>
        <p:blipFill>
          <a:blip r:embed="rId2"/>
          <a:stretch>
            <a:fillRect/>
          </a:stretch>
        </p:blipFill>
        <p:spPr>
          <a:xfrm>
            <a:off x="995681" y="2682836"/>
            <a:ext cx="10424160" cy="3392844"/>
          </a:xfrm>
          <a:prstGeom prst="rect">
            <a:avLst/>
          </a:prstGeom>
        </p:spPr>
      </p:pic>
      <p:sp>
        <p:nvSpPr>
          <p:cNvPr id="7" name="Content Placeholder 6">
            <a:extLst>
              <a:ext uri="{FF2B5EF4-FFF2-40B4-BE49-F238E27FC236}">
                <a16:creationId xmlns:a16="http://schemas.microsoft.com/office/drawing/2014/main" id="{B4AFCD64-6A17-6161-5DB5-D81C5570EA3C}"/>
              </a:ext>
            </a:extLst>
          </p:cNvPr>
          <p:cNvSpPr>
            <a:spLocks noGrp="1"/>
          </p:cNvSpPr>
          <p:nvPr>
            <p:ph idx="1"/>
          </p:nvPr>
        </p:nvSpPr>
        <p:spPr>
          <a:xfrm>
            <a:off x="1097280" y="2108201"/>
            <a:ext cx="8209280" cy="3760891"/>
          </a:xfrm>
        </p:spPr>
        <p:txBody>
          <a:bodyPr/>
          <a:lstStyle/>
          <a:p>
            <a:r>
              <a:rPr lang="en-US" dirty="0"/>
              <a:t>what are the most profitable sold models?</a:t>
            </a:r>
          </a:p>
        </p:txBody>
      </p:sp>
    </p:spTree>
    <p:extLst>
      <p:ext uri="{BB962C8B-B14F-4D97-AF65-F5344CB8AC3E}">
        <p14:creationId xmlns:p14="http://schemas.microsoft.com/office/powerpoint/2010/main" val="20406247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9522B-A55A-37A1-1F3B-113BBDBF37FF}"/>
              </a:ext>
            </a:extLst>
          </p:cNvPr>
          <p:cNvSpPr>
            <a:spLocks noGrp="1"/>
          </p:cNvSpPr>
          <p:nvPr>
            <p:ph type="title"/>
          </p:nvPr>
        </p:nvSpPr>
        <p:spPr/>
        <p:txBody>
          <a:bodyPr/>
          <a:lstStyle/>
          <a:p>
            <a:r>
              <a:rPr lang="en-US" dirty="0"/>
              <a:t>Data Analysis</a:t>
            </a:r>
          </a:p>
        </p:txBody>
      </p:sp>
      <p:sp>
        <p:nvSpPr>
          <p:cNvPr id="3" name="Content Placeholder 2">
            <a:extLst>
              <a:ext uri="{FF2B5EF4-FFF2-40B4-BE49-F238E27FC236}">
                <a16:creationId xmlns:a16="http://schemas.microsoft.com/office/drawing/2014/main" id="{2992A160-069D-45C6-1AD1-A2E70A0110C7}"/>
              </a:ext>
            </a:extLst>
          </p:cNvPr>
          <p:cNvSpPr>
            <a:spLocks noGrp="1"/>
          </p:cNvSpPr>
          <p:nvPr>
            <p:ph idx="1"/>
          </p:nvPr>
        </p:nvSpPr>
        <p:spPr/>
        <p:txBody>
          <a:bodyPr/>
          <a:lstStyle/>
          <a:p>
            <a:r>
              <a:rPr lang="en-US" dirty="0"/>
              <a:t>what is the month that makes highest sales?</a:t>
            </a:r>
          </a:p>
          <a:p>
            <a:endParaRPr lang="en-US" dirty="0"/>
          </a:p>
        </p:txBody>
      </p:sp>
      <p:pic>
        <p:nvPicPr>
          <p:cNvPr id="5" name="Picture 4">
            <a:extLst>
              <a:ext uri="{FF2B5EF4-FFF2-40B4-BE49-F238E27FC236}">
                <a16:creationId xmlns:a16="http://schemas.microsoft.com/office/drawing/2014/main" id="{577AA79C-E2BC-C624-743D-DB03E235456F}"/>
              </a:ext>
            </a:extLst>
          </p:cNvPr>
          <p:cNvPicPr>
            <a:picLocks noChangeAspect="1"/>
          </p:cNvPicPr>
          <p:nvPr/>
        </p:nvPicPr>
        <p:blipFill>
          <a:blip r:embed="rId2"/>
          <a:stretch>
            <a:fillRect/>
          </a:stretch>
        </p:blipFill>
        <p:spPr>
          <a:xfrm>
            <a:off x="1310640" y="2644734"/>
            <a:ext cx="8920480" cy="3224358"/>
          </a:xfrm>
          <a:prstGeom prst="rect">
            <a:avLst/>
          </a:prstGeom>
        </p:spPr>
      </p:pic>
    </p:spTree>
    <p:extLst>
      <p:ext uri="{BB962C8B-B14F-4D97-AF65-F5344CB8AC3E}">
        <p14:creationId xmlns:p14="http://schemas.microsoft.com/office/powerpoint/2010/main" val="37848014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44A7A-D808-3130-1BE9-924ABE2FE129}"/>
              </a:ext>
            </a:extLst>
          </p:cNvPr>
          <p:cNvSpPr>
            <a:spLocks noGrp="1"/>
          </p:cNvSpPr>
          <p:nvPr>
            <p:ph type="title"/>
          </p:nvPr>
        </p:nvSpPr>
        <p:spPr/>
        <p:txBody>
          <a:bodyPr/>
          <a:lstStyle/>
          <a:p>
            <a:r>
              <a:rPr lang="en-US" dirty="0"/>
              <a:t>Data Analysis</a:t>
            </a:r>
          </a:p>
        </p:txBody>
      </p:sp>
      <p:sp>
        <p:nvSpPr>
          <p:cNvPr id="3" name="Content Placeholder 2">
            <a:extLst>
              <a:ext uri="{FF2B5EF4-FFF2-40B4-BE49-F238E27FC236}">
                <a16:creationId xmlns:a16="http://schemas.microsoft.com/office/drawing/2014/main" id="{EBE830E7-C774-E054-933B-AEEE9F48B4C0}"/>
              </a:ext>
            </a:extLst>
          </p:cNvPr>
          <p:cNvSpPr>
            <a:spLocks noGrp="1"/>
          </p:cNvSpPr>
          <p:nvPr>
            <p:ph idx="1"/>
          </p:nvPr>
        </p:nvSpPr>
        <p:spPr/>
        <p:txBody>
          <a:bodyPr/>
          <a:lstStyle/>
          <a:p>
            <a:r>
              <a:rPr lang="en-US" dirty="0"/>
              <a:t>What is region that makes the highest sales ?</a:t>
            </a:r>
          </a:p>
          <a:p>
            <a:endParaRPr lang="en-US" dirty="0"/>
          </a:p>
        </p:txBody>
      </p:sp>
      <p:pic>
        <p:nvPicPr>
          <p:cNvPr id="5" name="Picture 4">
            <a:extLst>
              <a:ext uri="{FF2B5EF4-FFF2-40B4-BE49-F238E27FC236}">
                <a16:creationId xmlns:a16="http://schemas.microsoft.com/office/drawing/2014/main" id="{62E0FEA7-AA72-3A2C-8ECA-1AB6C103854C}"/>
              </a:ext>
            </a:extLst>
          </p:cNvPr>
          <p:cNvPicPr>
            <a:picLocks noChangeAspect="1"/>
          </p:cNvPicPr>
          <p:nvPr/>
        </p:nvPicPr>
        <p:blipFill>
          <a:blip r:embed="rId2"/>
          <a:stretch>
            <a:fillRect/>
          </a:stretch>
        </p:blipFill>
        <p:spPr>
          <a:xfrm>
            <a:off x="1310640" y="2587582"/>
            <a:ext cx="9377680" cy="3579538"/>
          </a:xfrm>
          <a:prstGeom prst="rect">
            <a:avLst/>
          </a:prstGeom>
        </p:spPr>
      </p:pic>
    </p:spTree>
    <p:extLst>
      <p:ext uri="{BB962C8B-B14F-4D97-AF65-F5344CB8AC3E}">
        <p14:creationId xmlns:p14="http://schemas.microsoft.com/office/powerpoint/2010/main" val="8590455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05F7C-D5AA-18E6-3796-EEB9FBE4611F}"/>
              </a:ext>
            </a:extLst>
          </p:cNvPr>
          <p:cNvSpPr>
            <a:spLocks noGrp="1"/>
          </p:cNvSpPr>
          <p:nvPr>
            <p:ph type="title"/>
          </p:nvPr>
        </p:nvSpPr>
        <p:spPr/>
        <p:txBody>
          <a:bodyPr/>
          <a:lstStyle/>
          <a:p>
            <a:r>
              <a:rPr lang="en-US" dirty="0"/>
              <a:t>Data Analysis</a:t>
            </a:r>
          </a:p>
        </p:txBody>
      </p:sp>
      <p:sp>
        <p:nvSpPr>
          <p:cNvPr id="3" name="Content Placeholder 2">
            <a:extLst>
              <a:ext uri="{FF2B5EF4-FFF2-40B4-BE49-F238E27FC236}">
                <a16:creationId xmlns:a16="http://schemas.microsoft.com/office/drawing/2014/main" id="{7D8EFF46-64D4-8C1E-19D9-5F83E4FBBE62}"/>
              </a:ext>
            </a:extLst>
          </p:cNvPr>
          <p:cNvSpPr>
            <a:spLocks noGrp="1"/>
          </p:cNvSpPr>
          <p:nvPr>
            <p:ph idx="1"/>
          </p:nvPr>
        </p:nvSpPr>
        <p:spPr/>
        <p:txBody>
          <a:bodyPr/>
          <a:lstStyle/>
          <a:p>
            <a:r>
              <a:rPr lang="en-US" dirty="0"/>
              <a:t>What is the most income levels buy cars?</a:t>
            </a:r>
          </a:p>
          <a:p>
            <a:endParaRPr lang="en-US" dirty="0"/>
          </a:p>
        </p:txBody>
      </p:sp>
      <p:pic>
        <p:nvPicPr>
          <p:cNvPr id="5" name="Picture 4">
            <a:extLst>
              <a:ext uri="{FF2B5EF4-FFF2-40B4-BE49-F238E27FC236}">
                <a16:creationId xmlns:a16="http://schemas.microsoft.com/office/drawing/2014/main" id="{7BB2E936-C308-C32A-DE2C-48F430258E37}"/>
              </a:ext>
            </a:extLst>
          </p:cNvPr>
          <p:cNvPicPr>
            <a:picLocks noChangeAspect="1"/>
          </p:cNvPicPr>
          <p:nvPr/>
        </p:nvPicPr>
        <p:blipFill>
          <a:blip r:embed="rId2"/>
          <a:stretch>
            <a:fillRect/>
          </a:stretch>
        </p:blipFill>
        <p:spPr>
          <a:xfrm>
            <a:off x="1300480" y="2471419"/>
            <a:ext cx="6482079" cy="3687233"/>
          </a:xfrm>
          <a:prstGeom prst="rect">
            <a:avLst/>
          </a:prstGeom>
        </p:spPr>
      </p:pic>
    </p:spTree>
    <p:extLst>
      <p:ext uri="{BB962C8B-B14F-4D97-AF65-F5344CB8AC3E}">
        <p14:creationId xmlns:p14="http://schemas.microsoft.com/office/powerpoint/2010/main" val="1643338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BE9F6-6B54-5330-A08D-DD78107D859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BF942EC-8D50-4DBE-3E72-C21F3D016BE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37179105"/>
      </p:ext>
    </p:extLst>
  </p:cSld>
  <p:clrMapOvr>
    <a:masterClrMapping/>
  </p:clrMapOvr>
</p:sld>
</file>

<file path=ppt/theme/theme1.xml><?xml version="1.0" encoding="utf-8"?>
<a:theme xmlns:a="http://schemas.openxmlformats.org/drawingml/2006/main" name="Custom">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F5B7AB07-F859-4656-A1C1-DAFCFA0ACA4B}" vid="{A6E2497D-935A-4CFD-B9FD-6DCB15FA68BF}"/>
    </a:ext>
  </a:extLst>
</a:theme>
</file>

<file path=ppt/theme/themeOverride1.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_ip_UnifiedCompliancePolicyUIAction xmlns="http://schemas.microsoft.com/sharepoint/v3" xsi:nil="true"/>
    <Image xmlns="71af3243-3dd4-4a8d-8c0d-dd76da1f02a5">
      <Url xsi:nil="true"/>
      <Description xsi:nil="true"/>
    </Image>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03EEFF0-FB57-4CB4-8BFC-DF397689E2ED}">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AA3F7EDC-E5B4-4BBC-9D2A-CBE6D46C37AD}">
  <ds:schemaRefs>
    <ds:schemaRef ds:uri="http://schemas.microsoft.com/sharepoint/v3/contenttype/forms"/>
  </ds:schemaRefs>
</ds:datastoreItem>
</file>

<file path=customXml/itemProps3.xml><?xml version="1.0" encoding="utf-8"?>
<ds:datastoreItem xmlns:ds="http://schemas.openxmlformats.org/officeDocument/2006/customXml" ds:itemID="{D2957789-34B8-480C-AF9B-3EB54B9E5C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{CCE91439-CE65-4407-A8C0-3B11E0234E6E}TFb63a7776-4452-49b2-8055-21efce632b726e3c8758_win32-7d1db0309ca7</Template>
  <TotalTime>91</TotalTime>
  <Words>334</Words>
  <Application>Microsoft Office PowerPoint</Application>
  <PresentationFormat>Widescreen</PresentationFormat>
  <Paragraphs>54</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-apple-system</vt:lpstr>
      <vt:lpstr>Arial</vt:lpstr>
      <vt:lpstr>Bookman Old Style</vt:lpstr>
      <vt:lpstr>Calibri</vt:lpstr>
      <vt:lpstr>Courier New</vt:lpstr>
      <vt:lpstr>Franklin Gothic Book</vt:lpstr>
      <vt:lpstr>Custom</vt:lpstr>
      <vt:lpstr>Car Sales</vt:lpstr>
      <vt:lpstr>👥 Team Members </vt:lpstr>
      <vt:lpstr> Project Overview</vt:lpstr>
      <vt:lpstr>  Project Objectives </vt:lpstr>
      <vt:lpstr>  Tools &amp; Techniques </vt:lpstr>
      <vt:lpstr>Excel</vt:lpstr>
      <vt:lpstr>Data Modelling</vt:lpstr>
      <vt:lpstr>Dashboard</vt:lpstr>
      <vt:lpstr>Dashboard</vt:lpstr>
      <vt:lpstr>Dashboard</vt:lpstr>
      <vt:lpstr>SQL:</vt:lpstr>
      <vt:lpstr>Data Modeling</vt:lpstr>
      <vt:lpstr>Data Cleaning</vt:lpstr>
      <vt:lpstr>Data Analysis</vt:lpstr>
      <vt:lpstr>Data Analysis</vt:lpstr>
      <vt:lpstr>Data Analysis</vt:lpstr>
      <vt:lpstr>Data Analysis</vt:lpstr>
      <vt:lpstr>Data Analysis</vt:lpstr>
      <vt:lpstr>Data Analysis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Ahmed Hussein</dc:creator>
  <cp:lastModifiedBy>Ahmed Hussein</cp:lastModifiedBy>
  <cp:revision>1</cp:revision>
  <dcterms:created xsi:type="dcterms:W3CDTF">2025-11-14T09:34:11Z</dcterms:created>
  <dcterms:modified xsi:type="dcterms:W3CDTF">2025-11-14T11:06:09Z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