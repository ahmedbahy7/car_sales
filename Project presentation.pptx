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2"/>
  </p:notesMasterIdLst>
  <p:sldIdLst>
    <p:sldId id="256" r:id="rId2"/>
    <p:sldId id="273" r:id="rId3"/>
    <p:sldId id="257" r:id="rId4"/>
    <p:sldId id="258" r:id="rId5"/>
    <p:sldId id="279" r:id="rId6"/>
    <p:sldId id="259" r:id="rId7"/>
    <p:sldId id="260" r:id="rId8"/>
    <p:sldId id="275" r:id="rId9"/>
    <p:sldId id="280" r:id="rId10"/>
    <p:sldId id="282" r:id="rId11"/>
    <p:sldId id="283" r:id="rId12"/>
    <p:sldId id="284" r:id="rId13"/>
    <p:sldId id="285" r:id="rId14"/>
    <p:sldId id="287" r:id="rId15"/>
    <p:sldId id="286" r:id="rId16"/>
    <p:sldId id="288" r:id="rId17"/>
    <p:sldId id="289" r:id="rId18"/>
    <p:sldId id="290" r:id="rId19"/>
    <p:sldId id="291" r:id="rId20"/>
    <p:sldId id="292" r:id="rId21"/>
    <p:sldId id="276" r:id="rId22"/>
    <p:sldId id="293" r:id="rId23"/>
    <p:sldId id="294" r:id="rId24"/>
    <p:sldId id="295" r:id="rId25"/>
    <p:sldId id="296" r:id="rId26"/>
    <p:sldId id="277" r:id="rId27"/>
    <p:sldId id="297" r:id="rId28"/>
    <p:sldId id="278" r:id="rId29"/>
    <p:sldId id="298" r:id="rId30"/>
    <p:sldId id="271" r:id="rId31"/>
  </p:sldIdLst>
  <p:sldSz cx="18288000" cy="10287000"/>
  <p:notesSz cx="6858000" cy="9144000"/>
  <p:embeddedFontLst>
    <p:embeddedFont>
      <p:font typeface="Abadi" panose="020B0604020104020204" pitchFamily="34" charset="0"/>
      <p:regular r:id="rId33"/>
      <p:bold r:id="rId34"/>
      <p:italic r:id="rId35"/>
      <p:boldItalic r:id="rId36"/>
    </p:embeddedFont>
    <p:embeddedFont>
      <p:font typeface="Aharoni" panose="02010803020104030203" pitchFamily="2" charset="-79"/>
      <p:bold r:id="rId37"/>
    </p:embeddedFont>
    <p:embeddedFont>
      <p:font typeface="Poppins" panose="00000500000000000000" pitchFamily="2" charset="0"/>
      <p:regular r:id="rId38"/>
      <p:bold r:id="rId39"/>
      <p:boldItalic r:id="rId40"/>
    </p:embeddedFont>
    <p:embeddedFont>
      <p:font typeface="Poppins Bold" panose="00000800000000000000" charset="0"/>
      <p:regular r:id="rId41"/>
    </p:embeddedFont>
    <p:embeddedFont>
      <p:font typeface="Poppins ExtraBold" panose="00000900000000000000" pitchFamily="2" charset="0"/>
      <p:bold r:id="rId42"/>
      <p:boldItalic r:id="rId43"/>
    </p:embeddedFont>
    <p:embeddedFont>
      <p:font typeface="Poppins Ultra-Bold Italics" panose="020B0604020202020204" charset="0"/>
      <p:regular r:id="rId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36" autoAdjust="0"/>
    <p:restoredTop sz="94622" autoAdjust="0"/>
  </p:normalViewPr>
  <p:slideViewPr>
    <p:cSldViewPr>
      <p:cViewPr varScale="1">
        <p:scale>
          <a:sx n="39" d="100"/>
          <a:sy n="39" d="100"/>
        </p:scale>
        <p:origin x="908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2DC198-D718-4A55-BB58-EF539D55DFED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2EDD9B-FEA3-4CB2-91DC-26AB567847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577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2EDD9B-FEA3-4CB2-91DC-26AB567847A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111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5F5FD-5188-452B-2EB4-DA549F6DA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4AFA94-1F2D-C151-5CFD-731986B51E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086F6F-D31D-1601-A774-898E93C7BA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417BC4-F9A5-D988-3648-207E78DE86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2EDD9B-FEA3-4CB2-91DC-26AB567847A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244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9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9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5" Type="http://schemas.microsoft.com/office/2007/relationships/hdphoto" Target="../media/hdphoto2.wdp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microsoft.com/office/2007/relationships/hdphoto" Target="../media/hdphoto3.wdp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8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11" Type="http://schemas.openxmlformats.org/officeDocument/2006/relationships/image" Target="../media/image5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Relationship Id="rId5" Type="http://schemas.microsoft.com/office/2007/relationships/hdphoto" Target="../media/hdphoto4.wdp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6" Type="http://schemas.microsoft.com/office/2007/relationships/hdphoto" Target="../media/hdphoto5.wdp"/><Relationship Id="rId5" Type="http://schemas.openxmlformats.org/officeDocument/2006/relationships/image" Target="../media/image23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7" Type="http://schemas.microsoft.com/office/2007/relationships/hdphoto" Target="../media/hdphoto6.wdp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7" Type="http://schemas.microsoft.com/office/2007/relationships/hdphoto" Target="../media/hdphoto6.wdp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5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7" Type="http://schemas.microsoft.com/office/2007/relationships/hdphoto" Target="../media/hdphoto6.wdp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5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2.jpeg"/><Relationship Id="rId7" Type="http://schemas.openxmlformats.org/officeDocument/2006/relationships/image" Target="../media/image5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microsoft.com/office/2007/relationships/hdphoto" Target="../media/hdphoto6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6" Type="http://schemas.microsoft.com/office/2007/relationships/hdphoto" Target="../media/hdphoto6.wdp"/><Relationship Id="rId5" Type="http://schemas.openxmlformats.org/officeDocument/2006/relationships/image" Target="../media/image25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6" Type="http://schemas.microsoft.com/office/2007/relationships/hdphoto" Target="../media/hdphoto6.wdp"/><Relationship Id="rId5" Type="http://schemas.openxmlformats.org/officeDocument/2006/relationships/image" Target="../media/image25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7" Type="http://schemas.microsoft.com/office/2007/relationships/hdphoto" Target="../media/hdphoto6.wdp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5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7" Type="http://schemas.microsoft.com/office/2007/relationships/hdphoto" Target="../media/hdphoto6.wdp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5.png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7" Type="http://schemas.microsoft.com/office/2007/relationships/hdphoto" Target="../media/hdphoto6.wdp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5.png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7" Type="http://schemas.microsoft.com/office/2007/relationships/hdphoto" Target="../media/hdphoto6.wdp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5.png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7" Type="http://schemas.microsoft.com/office/2007/relationships/hdphoto" Target="../media/hdphoto6.wdp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5.png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7" Type="http://schemas.microsoft.com/office/2007/relationships/hdphoto" Target="../media/hdphoto6.wdp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5.png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6" Type="http://schemas.microsoft.com/office/2007/relationships/hdphoto" Target="../media/hdphoto6.wdp"/><Relationship Id="rId5" Type="http://schemas.openxmlformats.org/officeDocument/2006/relationships/image" Target="../media/image25.png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7" Type="http://schemas.microsoft.com/office/2007/relationships/hdphoto" Target="../media/hdphoto6.wdp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5.png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7" Type="http://schemas.microsoft.com/office/2007/relationships/hdphoto" Target="../media/hdphoto6.wdp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5.png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7" Type="http://schemas.microsoft.com/office/2007/relationships/hdphoto" Target="../media/hdphoto6.wdp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5.png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7" Type="http://schemas.microsoft.com/office/2007/relationships/hdphoto" Target="../media/hdphoto6.wdp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5.png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6" Type="http://schemas.microsoft.com/office/2007/relationships/hdphoto" Target="../media/hdphoto6.wdp"/><Relationship Id="rId5" Type="http://schemas.openxmlformats.org/officeDocument/2006/relationships/image" Target="../media/image25.png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7" Type="http://schemas.microsoft.com/office/2007/relationships/hdphoto" Target="../media/hdphoto6.wdp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5.png"/><Relationship Id="rId4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6" Type="http://schemas.microsoft.com/office/2007/relationships/hdphoto" Target="../media/hdphoto6.wdp"/><Relationship Id="rId5" Type="http://schemas.openxmlformats.org/officeDocument/2006/relationships/image" Target="../media/image25.png"/><Relationship Id="rId4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7" Type="http://schemas.microsoft.com/office/2007/relationships/hdphoto" Target="../media/hdphoto6.wdp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5.png"/><Relationship Id="rId4" Type="http://schemas.openxmlformats.org/officeDocument/2006/relationships/image" Target="../media/image4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microsoft.com/office/2007/relationships/hdphoto" Target="../media/hdphoto6.wdp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5.png"/><Relationship Id="rId4" Type="http://schemas.openxmlformats.org/officeDocument/2006/relationships/image" Target="../media/image4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-212736" y="-272342"/>
            <a:ext cx="10831683" cy="10831683"/>
          </a:xfrm>
          <a:custGeom>
            <a:avLst/>
            <a:gdLst/>
            <a:ahLst/>
            <a:cxnLst/>
            <a:rect l="l" t="t" r="r" b="b"/>
            <a:pathLst>
              <a:path w="10831683" h="10831683">
                <a:moveTo>
                  <a:pt x="0" y="0"/>
                </a:moveTo>
                <a:lnTo>
                  <a:pt x="10831683" y="0"/>
                </a:lnTo>
                <a:lnTo>
                  <a:pt x="10831683" y="10831684"/>
                </a:lnTo>
                <a:lnTo>
                  <a:pt x="0" y="108316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1571397" y="2476500"/>
            <a:ext cx="10696804" cy="14619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429"/>
              </a:lnSpc>
            </a:pPr>
            <a:r>
              <a:rPr lang="en-US" sz="8800" b="1" i="1" spc="-348" dirty="0">
                <a:solidFill>
                  <a:srgbClr val="F10505">
                    <a:alpha val="94902"/>
                  </a:srgbClr>
                </a:solidFill>
                <a:latin typeface="Poppins Ultra-Bold Italics"/>
                <a:ea typeface="Poppins Ultra-Bold Italics"/>
                <a:cs typeface="Poppins Ultra-Bold Italics"/>
                <a:sym typeface="Poppins Ultra-Bold Italics"/>
              </a:rPr>
              <a:t>Auto Analytics USA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3C97DCE-5CB2-DC58-4B03-A6F81FDE755D}"/>
              </a:ext>
            </a:extLst>
          </p:cNvPr>
          <p:cNvGrpSpPr/>
          <p:nvPr/>
        </p:nvGrpSpPr>
        <p:grpSpPr>
          <a:xfrm>
            <a:off x="-6220397" y="8567195"/>
            <a:ext cx="2766541" cy="973346"/>
            <a:chOff x="1723797" y="5836425"/>
            <a:chExt cx="2766541" cy="973346"/>
          </a:xfrm>
        </p:grpSpPr>
        <p:grpSp>
          <p:nvGrpSpPr>
            <p:cNvPr id="8" name="Group 8"/>
            <p:cNvGrpSpPr/>
            <p:nvPr/>
          </p:nvGrpSpPr>
          <p:grpSpPr>
            <a:xfrm>
              <a:off x="1723797" y="5836425"/>
              <a:ext cx="2766541" cy="973346"/>
              <a:chOff x="0" y="0"/>
              <a:chExt cx="2631425" cy="925808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2631425" cy="925808"/>
              </a:xfrm>
              <a:custGeom>
                <a:avLst/>
                <a:gdLst/>
                <a:ahLst/>
                <a:cxnLst/>
                <a:rect l="l" t="t" r="r" b="b"/>
                <a:pathLst>
                  <a:path w="2631425" h="925808">
                    <a:moveTo>
                      <a:pt x="2631425" y="462904"/>
                    </a:moveTo>
                    <a:lnTo>
                      <a:pt x="2428225" y="925808"/>
                    </a:lnTo>
                    <a:lnTo>
                      <a:pt x="203200" y="925808"/>
                    </a:lnTo>
                    <a:lnTo>
                      <a:pt x="0" y="462904"/>
                    </a:lnTo>
                    <a:lnTo>
                      <a:pt x="203200" y="0"/>
                    </a:lnTo>
                    <a:lnTo>
                      <a:pt x="2428225" y="0"/>
                    </a:lnTo>
                    <a:lnTo>
                      <a:pt x="2631425" y="462904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gradFill>
                  <a:gsLst>
                    <a:gs pos="0">
                      <a:srgbClr val="FC0505">
                        <a:alpha val="100000"/>
                      </a:srgbClr>
                    </a:gs>
                    <a:gs pos="100000">
                      <a:srgbClr val="800000">
                        <a:alpha val="10000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14300" y="-57150"/>
                <a:ext cx="2402825" cy="982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1897919" y="5971378"/>
              <a:ext cx="2418297" cy="703439"/>
              <a:chOff x="0" y="0"/>
              <a:chExt cx="3182762" cy="925808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3182762" cy="925808"/>
              </a:xfrm>
              <a:custGeom>
                <a:avLst/>
                <a:gdLst/>
                <a:ahLst/>
                <a:cxnLst/>
                <a:rect l="l" t="t" r="r" b="b"/>
                <a:pathLst>
                  <a:path w="3182762" h="925808">
                    <a:moveTo>
                      <a:pt x="3182762" y="462904"/>
                    </a:moveTo>
                    <a:lnTo>
                      <a:pt x="2979562" y="925808"/>
                    </a:lnTo>
                    <a:lnTo>
                      <a:pt x="203200" y="925808"/>
                    </a:lnTo>
                    <a:lnTo>
                      <a:pt x="0" y="462904"/>
                    </a:lnTo>
                    <a:lnTo>
                      <a:pt x="203200" y="0"/>
                    </a:lnTo>
                    <a:lnTo>
                      <a:pt x="2979562" y="0"/>
                    </a:lnTo>
                    <a:lnTo>
                      <a:pt x="3182762" y="46290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C0505">
                      <a:alpha val="100000"/>
                    </a:srgbClr>
                  </a:gs>
                  <a:gs pos="100000">
                    <a:srgbClr val="80000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14300" y="-57150"/>
                <a:ext cx="2954162" cy="982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2112731" y="6115135"/>
              <a:ext cx="1988673" cy="3587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9"/>
                </a:lnSpc>
                <a:spcBef>
                  <a:spcPct val="0"/>
                </a:spcBef>
              </a:pPr>
              <a:r>
                <a:rPr lang="en-US" sz="1999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Get Started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18CB268-D8DA-4736-7765-FA3E745DB8B3}"/>
              </a:ext>
            </a:extLst>
          </p:cNvPr>
          <p:cNvGrpSpPr/>
          <p:nvPr/>
        </p:nvGrpSpPr>
        <p:grpSpPr>
          <a:xfrm>
            <a:off x="-2999907" y="8601131"/>
            <a:ext cx="2766541" cy="973346"/>
            <a:chOff x="4870718" y="5836425"/>
            <a:chExt cx="2766541" cy="973346"/>
          </a:xfrm>
        </p:grpSpPr>
        <p:grpSp>
          <p:nvGrpSpPr>
            <p:cNvPr id="14" name="Group 14"/>
            <p:cNvGrpSpPr/>
            <p:nvPr/>
          </p:nvGrpSpPr>
          <p:grpSpPr>
            <a:xfrm>
              <a:off x="4870718" y="5836425"/>
              <a:ext cx="2766541" cy="973346"/>
              <a:chOff x="0" y="0"/>
              <a:chExt cx="2631425" cy="925808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2631425" cy="925808"/>
              </a:xfrm>
              <a:custGeom>
                <a:avLst/>
                <a:gdLst/>
                <a:ahLst/>
                <a:cxnLst/>
                <a:rect l="l" t="t" r="r" b="b"/>
                <a:pathLst>
                  <a:path w="2631425" h="925808">
                    <a:moveTo>
                      <a:pt x="2631425" y="462904"/>
                    </a:moveTo>
                    <a:lnTo>
                      <a:pt x="2428225" y="925808"/>
                    </a:lnTo>
                    <a:lnTo>
                      <a:pt x="203200" y="925808"/>
                    </a:lnTo>
                    <a:lnTo>
                      <a:pt x="0" y="462904"/>
                    </a:lnTo>
                    <a:lnTo>
                      <a:pt x="203200" y="0"/>
                    </a:lnTo>
                    <a:lnTo>
                      <a:pt x="2428225" y="0"/>
                    </a:lnTo>
                    <a:lnTo>
                      <a:pt x="2631425" y="462904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gradFill>
                  <a:gsLst>
                    <a:gs pos="0">
                      <a:srgbClr val="FC0505">
                        <a:alpha val="100000"/>
                      </a:srgbClr>
                    </a:gs>
                    <a:gs pos="100000">
                      <a:srgbClr val="800000">
                        <a:alpha val="10000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14300" y="-57150"/>
                <a:ext cx="2402825" cy="982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5044840" y="5927955"/>
              <a:ext cx="2418297" cy="746862"/>
              <a:chOff x="0" y="-57150"/>
              <a:chExt cx="3182762" cy="982958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3182762" cy="925808"/>
              </a:xfrm>
              <a:custGeom>
                <a:avLst/>
                <a:gdLst/>
                <a:ahLst/>
                <a:cxnLst/>
                <a:rect l="l" t="t" r="r" b="b"/>
                <a:pathLst>
                  <a:path w="3182762" h="925808">
                    <a:moveTo>
                      <a:pt x="3182762" y="462904"/>
                    </a:moveTo>
                    <a:lnTo>
                      <a:pt x="2979562" y="925808"/>
                    </a:lnTo>
                    <a:lnTo>
                      <a:pt x="203200" y="925808"/>
                    </a:lnTo>
                    <a:lnTo>
                      <a:pt x="0" y="462904"/>
                    </a:lnTo>
                    <a:lnTo>
                      <a:pt x="203200" y="0"/>
                    </a:lnTo>
                    <a:lnTo>
                      <a:pt x="2979562" y="0"/>
                    </a:lnTo>
                    <a:lnTo>
                      <a:pt x="3182762" y="46290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C0505">
                      <a:alpha val="100000"/>
                    </a:srgbClr>
                  </a:gs>
                  <a:gs pos="100000">
                    <a:srgbClr val="80000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14300" y="-57150"/>
                <a:ext cx="2954162" cy="982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5259652" y="6115135"/>
              <a:ext cx="1988673" cy="3587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9"/>
                </a:lnSpc>
                <a:spcBef>
                  <a:spcPct val="0"/>
                </a:spcBef>
              </a:pPr>
              <a:r>
                <a:rPr lang="en-US" sz="1999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Watch Video</a:t>
              </a:r>
            </a:p>
          </p:txBody>
        </p:sp>
      </p:grpSp>
      <p:sp>
        <p:nvSpPr>
          <p:cNvPr id="29" name="Freeform 29"/>
          <p:cNvSpPr/>
          <p:nvPr/>
        </p:nvSpPr>
        <p:spPr>
          <a:xfrm>
            <a:off x="16327670" y="3848100"/>
            <a:ext cx="8583816" cy="5239704"/>
          </a:xfrm>
          <a:custGeom>
            <a:avLst/>
            <a:gdLst/>
            <a:ahLst/>
            <a:cxnLst/>
            <a:rect l="l" t="t" r="r" b="b"/>
            <a:pathLst>
              <a:path w="8583816" h="5239704">
                <a:moveTo>
                  <a:pt x="0" y="0"/>
                </a:moveTo>
                <a:lnTo>
                  <a:pt x="8583816" y="0"/>
                </a:lnTo>
                <a:lnTo>
                  <a:pt x="8583816" y="5239705"/>
                </a:lnTo>
                <a:lnTo>
                  <a:pt x="0" y="52397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1" name="TextBox 21">
            <a:extLst>
              <a:ext uri="{FF2B5EF4-FFF2-40B4-BE49-F238E27FC236}">
                <a16:creationId xmlns:a16="http://schemas.microsoft.com/office/drawing/2014/main" id="{C68B1B4E-EDAF-99AE-B879-09CC58C76457}"/>
              </a:ext>
            </a:extLst>
          </p:cNvPr>
          <p:cNvSpPr txBox="1"/>
          <p:nvPr/>
        </p:nvSpPr>
        <p:spPr>
          <a:xfrm>
            <a:off x="2738989" y="4375452"/>
            <a:ext cx="4981804" cy="12400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429"/>
              </a:lnSpc>
            </a:pPr>
            <a:endParaRPr lang="en-US" sz="4000" b="1" i="1" spc="-348" dirty="0">
              <a:solidFill>
                <a:srgbClr val="F10505">
                  <a:alpha val="94902"/>
                </a:srgbClr>
              </a:solidFill>
              <a:latin typeface="Poppins Ultra-Bold Italics"/>
              <a:ea typeface="Poppins Ultra-Bold Italics"/>
              <a:cs typeface="Poppins Ultra-Bold Italics"/>
              <a:sym typeface="Poppins Ultra-Bold Itali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C49C559-4EFE-8610-C380-8EB79E9D8597}"/>
              </a:ext>
            </a:extLst>
          </p:cNvPr>
          <p:cNvSpPr txBox="1"/>
          <p:nvPr/>
        </p:nvSpPr>
        <p:spPr>
          <a:xfrm>
            <a:off x="3316869" y="3663069"/>
            <a:ext cx="5996103" cy="1404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1429"/>
              </a:lnSpc>
            </a:pPr>
            <a:r>
              <a:rPr lang="en-US" sz="6000" b="1" i="1" spc="-348" dirty="0">
                <a:solidFill>
                  <a:schemeClr val="bg1">
                    <a:alpha val="94902"/>
                  </a:schemeClr>
                </a:solidFill>
                <a:latin typeface="Poppins ExtraBold" panose="00000900000000000000" pitchFamily="2" charset="0"/>
                <a:ea typeface="Poppins Ultra-Bold Italics"/>
                <a:cs typeface="Poppins ExtraBold" panose="00000900000000000000" pitchFamily="2" charset="0"/>
                <a:sym typeface="Poppins Ultra-Bold Italics"/>
              </a:rPr>
              <a:t>Team names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C89312B-C625-3D5A-90F7-D875FFFD9ED3}"/>
              </a:ext>
            </a:extLst>
          </p:cNvPr>
          <p:cNvSpPr txBox="1"/>
          <p:nvPr/>
        </p:nvSpPr>
        <p:spPr>
          <a:xfrm>
            <a:off x="3926469" y="5067300"/>
            <a:ext cx="5386503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i="1" spc="-348" dirty="0">
                <a:solidFill>
                  <a:schemeClr val="bg1">
                    <a:alpha val="94902"/>
                  </a:schemeClr>
                </a:solidFill>
                <a:latin typeface="Poppins ExtraBold" panose="00000900000000000000" pitchFamily="2" charset="0"/>
                <a:ea typeface="Poppins Ultra-Bold Italics"/>
                <a:cs typeface="Poppins ExtraBold" panose="00000900000000000000" pitchFamily="2" charset="0"/>
                <a:sym typeface="Poppins Ultra-Bold Italics"/>
              </a:rPr>
              <a:t>Esraa Magdy</a:t>
            </a:r>
          </a:p>
          <a:p>
            <a:r>
              <a:rPr lang="en-US" sz="4400" b="1" i="1" spc="-348" dirty="0">
                <a:solidFill>
                  <a:schemeClr val="bg1">
                    <a:alpha val="94902"/>
                  </a:schemeClr>
                </a:solidFill>
                <a:latin typeface="Poppins ExtraBold" panose="00000900000000000000" pitchFamily="2" charset="0"/>
                <a:ea typeface="Poppins Ultra-Bold Italics"/>
                <a:cs typeface="Poppins ExtraBold" panose="00000900000000000000" pitchFamily="2" charset="0"/>
                <a:sym typeface="Poppins Ultra-Bold Italics"/>
              </a:rPr>
              <a:t>Mohamed Emad</a:t>
            </a:r>
          </a:p>
          <a:p>
            <a:r>
              <a:rPr lang="en-US" sz="4400" b="1" i="1" spc="-348" dirty="0">
                <a:solidFill>
                  <a:schemeClr val="bg1">
                    <a:alpha val="94902"/>
                  </a:schemeClr>
                </a:solidFill>
                <a:latin typeface="Poppins ExtraBold" panose="00000900000000000000" pitchFamily="2" charset="0"/>
                <a:ea typeface="Poppins Ultra-Bold Italics"/>
                <a:cs typeface="Poppins ExtraBold" panose="00000900000000000000" pitchFamily="2" charset="0"/>
                <a:sym typeface="Poppins Ultra-Bold Italics"/>
              </a:rPr>
              <a:t>Ahmad Bahi</a:t>
            </a:r>
          </a:p>
          <a:p>
            <a:r>
              <a:rPr lang="en-US" sz="4400" b="1" i="1" spc="-348" dirty="0">
                <a:solidFill>
                  <a:schemeClr val="bg1">
                    <a:alpha val="94902"/>
                  </a:schemeClr>
                </a:solidFill>
                <a:latin typeface="Poppins ExtraBold" panose="00000900000000000000" pitchFamily="2" charset="0"/>
                <a:ea typeface="Poppins Ultra-Bold Italics"/>
                <a:cs typeface="Poppins ExtraBold" panose="00000900000000000000" pitchFamily="2" charset="0"/>
                <a:sym typeface="Poppins Ultra-Bold Italics"/>
              </a:rPr>
              <a:t>Ahmad Abo-</a:t>
            </a:r>
            <a:r>
              <a:rPr lang="en-US" sz="4400" b="1" i="1" spc="-348" dirty="0" err="1">
                <a:solidFill>
                  <a:schemeClr val="bg1">
                    <a:alpha val="94902"/>
                  </a:schemeClr>
                </a:solidFill>
                <a:latin typeface="Poppins ExtraBold" panose="00000900000000000000" pitchFamily="2" charset="0"/>
                <a:ea typeface="Poppins Ultra-Bold Italics"/>
                <a:cs typeface="Poppins ExtraBold" panose="00000900000000000000" pitchFamily="2" charset="0"/>
                <a:sym typeface="Poppins Ultra-Bold Italics"/>
              </a:rPr>
              <a:t>Elfadl</a:t>
            </a:r>
            <a:endParaRPr lang="en-US" sz="4400" b="1" i="1" spc="-348" dirty="0">
              <a:solidFill>
                <a:schemeClr val="bg1">
                  <a:alpha val="94902"/>
                </a:schemeClr>
              </a:solidFill>
              <a:latin typeface="Poppins ExtraBold" panose="00000900000000000000" pitchFamily="2" charset="0"/>
              <a:ea typeface="Poppins Ultra-Bold Italics"/>
              <a:cs typeface="Poppins ExtraBold" panose="00000900000000000000" pitchFamily="2" charset="0"/>
              <a:sym typeface="Poppins Ultra-Bold Italics"/>
            </a:endParaRPr>
          </a:p>
        </p:txBody>
      </p:sp>
      <p:sp>
        <p:nvSpPr>
          <p:cNvPr id="48" name="Freeform 18">
            <a:extLst>
              <a:ext uri="{FF2B5EF4-FFF2-40B4-BE49-F238E27FC236}">
                <a16:creationId xmlns:a16="http://schemas.microsoft.com/office/drawing/2014/main" id="{CF606A11-0CF0-A574-F0F1-A547F142B153}"/>
              </a:ext>
            </a:extLst>
          </p:cNvPr>
          <p:cNvSpPr/>
          <p:nvPr/>
        </p:nvSpPr>
        <p:spPr>
          <a:xfrm>
            <a:off x="-363427" y="9405588"/>
            <a:ext cx="7092427" cy="749662"/>
          </a:xfrm>
          <a:custGeom>
            <a:avLst/>
            <a:gdLst/>
            <a:ahLst/>
            <a:cxnLst/>
            <a:rect l="l" t="t" r="r" b="b"/>
            <a:pathLst>
              <a:path w="3182762" h="925808">
                <a:moveTo>
                  <a:pt x="3182762" y="462904"/>
                </a:moveTo>
                <a:lnTo>
                  <a:pt x="2979562" y="925808"/>
                </a:lnTo>
                <a:lnTo>
                  <a:pt x="203200" y="925808"/>
                </a:lnTo>
                <a:lnTo>
                  <a:pt x="0" y="462904"/>
                </a:lnTo>
                <a:lnTo>
                  <a:pt x="203200" y="0"/>
                </a:lnTo>
                <a:lnTo>
                  <a:pt x="2979562" y="0"/>
                </a:lnTo>
                <a:lnTo>
                  <a:pt x="3182762" y="462904"/>
                </a:lnTo>
                <a:close/>
              </a:path>
            </a:pathLst>
          </a:custGeom>
          <a:gradFill rotWithShape="1">
            <a:gsLst>
              <a:gs pos="0">
                <a:srgbClr val="FC0505">
                  <a:alpha val="100000"/>
                </a:srgbClr>
              </a:gs>
              <a:gs pos="100000">
                <a:srgbClr val="800000">
                  <a:alpha val="100000"/>
                </a:srgbClr>
              </a:gs>
            </a:gsLst>
            <a:lin ang="0"/>
          </a:gradFill>
        </p:spPr>
        <p:txBody>
          <a:bodyPr/>
          <a:lstStyle/>
          <a:p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6101A97-3B88-B8ED-B5A6-8FAB8C77A7B2}"/>
              </a:ext>
            </a:extLst>
          </p:cNvPr>
          <p:cNvSpPr txBox="1"/>
          <p:nvPr/>
        </p:nvSpPr>
        <p:spPr>
          <a:xfrm>
            <a:off x="0" y="8737577"/>
            <a:ext cx="6324600" cy="1346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1429"/>
              </a:lnSpc>
            </a:pPr>
            <a:r>
              <a:rPr lang="en-US" sz="3200" b="1" i="1" spc="-348" dirty="0">
                <a:solidFill>
                  <a:schemeClr val="bg1">
                    <a:alpha val="94902"/>
                  </a:schemeClr>
                </a:solidFill>
                <a:latin typeface="Poppins Ultra-Bold Italics"/>
                <a:ea typeface="Poppins Ultra-Bold Italics"/>
                <a:cs typeface="Poppins Ultra-Bold Italics"/>
                <a:sym typeface="Poppins Ultra-Bold Italics"/>
              </a:rPr>
              <a:t>Supervised  by  :  Dr. Amal  Mahmoud</a:t>
            </a:r>
          </a:p>
        </p:txBody>
      </p:sp>
      <p:pic>
        <p:nvPicPr>
          <p:cNvPr id="4" name="Picture 3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935FB88D-B471-84A3-7F84-CE074988E3A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13094" y="223528"/>
            <a:ext cx="2122506" cy="1951336"/>
          </a:xfrm>
          <a:prstGeom prst="rect">
            <a:avLst/>
          </a:prstGeom>
        </p:spPr>
      </p:pic>
      <p:pic>
        <p:nvPicPr>
          <p:cNvPr id="20" name="Picture 19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4925160E-8C3C-A0D5-0900-6133257167D5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84542"/>
            <a:ext cx="3393680" cy="191064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02D45-44C4-B132-CB14-C57CA6692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AFD21E4-E042-46C0-7627-84E121997DD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1743AB45-8DBE-C605-4294-8EC445D8DE47}"/>
              </a:ext>
            </a:extLst>
          </p:cNvPr>
          <p:cNvSpPr/>
          <p:nvPr/>
        </p:nvSpPr>
        <p:spPr>
          <a:xfrm>
            <a:off x="-212736" y="-272342"/>
            <a:ext cx="10831683" cy="10831683"/>
          </a:xfrm>
          <a:custGeom>
            <a:avLst/>
            <a:gdLst/>
            <a:ahLst/>
            <a:cxnLst/>
            <a:rect l="l" t="t" r="r" b="b"/>
            <a:pathLst>
              <a:path w="10831683" h="10831683">
                <a:moveTo>
                  <a:pt x="0" y="0"/>
                </a:moveTo>
                <a:lnTo>
                  <a:pt x="10831683" y="0"/>
                </a:lnTo>
                <a:lnTo>
                  <a:pt x="10831683" y="10831684"/>
                </a:lnTo>
                <a:lnTo>
                  <a:pt x="0" y="108316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857BF85E-A671-BE3F-BB39-AD926F9EBB29}"/>
              </a:ext>
            </a:extLst>
          </p:cNvPr>
          <p:cNvSpPr txBox="1"/>
          <p:nvPr/>
        </p:nvSpPr>
        <p:spPr>
          <a:xfrm>
            <a:off x="1571397" y="2476500"/>
            <a:ext cx="10696804" cy="14619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429"/>
              </a:lnSpc>
            </a:pPr>
            <a:r>
              <a:rPr lang="en-US" sz="8800" b="1" i="1" spc="-348" dirty="0">
                <a:solidFill>
                  <a:srgbClr val="F10505">
                    <a:alpha val="94902"/>
                  </a:srgbClr>
                </a:solidFill>
                <a:latin typeface="Poppins ExtraBold" panose="00000900000000000000" pitchFamily="2" charset="0"/>
                <a:ea typeface="Poppins Ultra-Bold Italics"/>
                <a:cs typeface="Poppins ExtraBold" panose="00000900000000000000" pitchFamily="2" charset="0"/>
                <a:sym typeface="Poppins Ultra-Bold Italics"/>
              </a:rPr>
              <a:t>Auto Analytics USA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0E82E38-4B70-DE66-892D-D127825E63DE}"/>
              </a:ext>
            </a:extLst>
          </p:cNvPr>
          <p:cNvGrpSpPr/>
          <p:nvPr/>
        </p:nvGrpSpPr>
        <p:grpSpPr>
          <a:xfrm>
            <a:off x="-5909880" y="8541046"/>
            <a:ext cx="2766541" cy="973346"/>
            <a:chOff x="1723797" y="5836425"/>
            <a:chExt cx="2766541" cy="973346"/>
          </a:xfrm>
        </p:grpSpPr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98D75862-F690-1BF5-1711-C5FCF993EAD5}"/>
                </a:ext>
              </a:extLst>
            </p:cNvPr>
            <p:cNvGrpSpPr/>
            <p:nvPr/>
          </p:nvGrpSpPr>
          <p:grpSpPr>
            <a:xfrm>
              <a:off x="1723797" y="5836425"/>
              <a:ext cx="2766541" cy="973346"/>
              <a:chOff x="0" y="0"/>
              <a:chExt cx="2631425" cy="925808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3B665DDC-D517-B231-8A43-C1D8EB1E27F2}"/>
                  </a:ext>
                </a:extLst>
              </p:cNvPr>
              <p:cNvSpPr/>
              <p:nvPr/>
            </p:nvSpPr>
            <p:spPr>
              <a:xfrm>
                <a:off x="0" y="0"/>
                <a:ext cx="2631425" cy="925808"/>
              </a:xfrm>
              <a:custGeom>
                <a:avLst/>
                <a:gdLst/>
                <a:ahLst/>
                <a:cxnLst/>
                <a:rect l="l" t="t" r="r" b="b"/>
                <a:pathLst>
                  <a:path w="2631425" h="925808">
                    <a:moveTo>
                      <a:pt x="2631425" y="462904"/>
                    </a:moveTo>
                    <a:lnTo>
                      <a:pt x="2428225" y="925808"/>
                    </a:lnTo>
                    <a:lnTo>
                      <a:pt x="203200" y="925808"/>
                    </a:lnTo>
                    <a:lnTo>
                      <a:pt x="0" y="462904"/>
                    </a:lnTo>
                    <a:lnTo>
                      <a:pt x="203200" y="0"/>
                    </a:lnTo>
                    <a:lnTo>
                      <a:pt x="2428225" y="0"/>
                    </a:lnTo>
                    <a:lnTo>
                      <a:pt x="2631425" y="462904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gradFill>
                  <a:gsLst>
                    <a:gs pos="0">
                      <a:srgbClr val="FC0505">
                        <a:alpha val="100000"/>
                      </a:srgbClr>
                    </a:gs>
                    <a:gs pos="100000">
                      <a:srgbClr val="800000">
                        <a:alpha val="10000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E515AA1B-4CE9-2370-5BD5-643AEAC01C91}"/>
                  </a:ext>
                </a:extLst>
              </p:cNvPr>
              <p:cNvSpPr txBox="1"/>
              <p:nvPr/>
            </p:nvSpPr>
            <p:spPr>
              <a:xfrm>
                <a:off x="114300" y="-57150"/>
                <a:ext cx="2402825" cy="982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11" name="Group 11">
              <a:extLst>
                <a:ext uri="{FF2B5EF4-FFF2-40B4-BE49-F238E27FC236}">
                  <a16:creationId xmlns:a16="http://schemas.microsoft.com/office/drawing/2014/main" id="{098BDA56-BBFA-E140-9F41-8E9017BAD39F}"/>
                </a:ext>
              </a:extLst>
            </p:cNvPr>
            <p:cNvGrpSpPr/>
            <p:nvPr/>
          </p:nvGrpSpPr>
          <p:grpSpPr>
            <a:xfrm>
              <a:off x="1897919" y="5971378"/>
              <a:ext cx="2418297" cy="703439"/>
              <a:chOff x="0" y="0"/>
              <a:chExt cx="3182762" cy="925808"/>
            </a:xfrm>
          </p:grpSpPr>
          <p:sp>
            <p:nvSpPr>
              <p:cNvPr id="12" name="Freeform 12">
                <a:extLst>
                  <a:ext uri="{FF2B5EF4-FFF2-40B4-BE49-F238E27FC236}">
                    <a16:creationId xmlns:a16="http://schemas.microsoft.com/office/drawing/2014/main" id="{69B4F807-6280-96FF-DA3A-8E0CBD70AABF}"/>
                  </a:ext>
                </a:extLst>
              </p:cNvPr>
              <p:cNvSpPr/>
              <p:nvPr/>
            </p:nvSpPr>
            <p:spPr>
              <a:xfrm>
                <a:off x="0" y="0"/>
                <a:ext cx="3182762" cy="925808"/>
              </a:xfrm>
              <a:custGeom>
                <a:avLst/>
                <a:gdLst/>
                <a:ahLst/>
                <a:cxnLst/>
                <a:rect l="l" t="t" r="r" b="b"/>
                <a:pathLst>
                  <a:path w="3182762" h="925808">
                    <a:moveTo>
                      <a:pt x="3182762" y="462904"/>
                    </a:moveTo>
                    <a:lnTo>
                      <a:pt x="2979562" y="925808"/>
                    </a:lnTo>
                    <a:lnTo>
                      <a:pt x="203200" y="925808"/>
                    </a:lnTo>
                    <a:lnTo>
                      <a:pt x="0" y="462904"/>
                    </a:lnTo>
                    <a:lnTo>
                      <a:pt x="203200" y="0"/>
                    </a:lnTo>
                    <a:lnTo>
                      <a:pt x="2979562" y="0"/>
                    </a:lnTo>
                    <a:lnTo>
                      <a:pt x="3182762" y="46290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C0505">
                      <a:alpha val="100000"/>
                    </a:srgbClr>
                  </a:gs>
                  <a:gs pos="100000">
                    <a:srgbClr val="80000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3" name="TextBox 13">
                <a:extLst>
                  <a:ext uri="{FF2B5EF4-FFF2-40B4-BE49-F238E27FC236}">
                    <a16:creationId xmlns:a16="http://schemas.microsoft.com/office/drawing/2014/main" id="{8B74AA2F-75FE-D530-1077-36247C9C9F93}"/>
                  </a:ext>
                </a:extLst>
              </p:cNvPr>
              <p:cNvSpPr txBox="1"/>
              <p:nvPr/>
            </p:nvSpPr>
            <p:spPr>
              <a:xfrm>
                <a:off x="114300" y="-57150"/>
                <a:ext cx="2954162" cy="982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sp>
          <p:nvSpPr>
            <p:cNvPr id="26" name="TextBox 26">
              <a:extLst>
                <a:ext uri="{FF2B5EF4-FFF2-40B4-BE49-F238E27FC236}">
                  <a16:creationId xmlns:a16="http://schemas.microsoft.com/office/drawing/2014/main" id="{78EBC8A0-1EE4-0E07-4607-B933BB2D86E7}"/>
                </a:ext>
              </a:extLst>
            </p:cNvPr>
            <p:cNvSpPr txBox="1"/>
            <p:nvPr/>
          </p:nvSpPr>
          <p:spPr>
            <a:xfrm>
              <a:off x="2112731" y="6115135"/>
              <a:ext cx="1988673" cy="3587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9"/>
                </a:lnSpc>
                <a:spcBef>
                  <a:spcPct val="0"/>
                </a:spcBef>
              </a:pPr>
              <a:r>
                <a:rPr lang="en-US" sz="1999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Get Started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4DC8FC8-3233-6D84-5D1E-7BE25162FEB0}"/>
              </a:ext>
            </a:extLst>
          </p:cNvPr>
          <p:cNvGrpSpPr/>
          <p:nvPr/>
        </p:nvGrpSpPr>
        <p:grpSpPr>
          <a:xfrm>
            <a:off x="-2999907" y="8601131"/>
            <a:ext cx="2766541" cy="973346"/>
            <a:chOff x="4870718" y="5836425"/>
            <a:chExt cx="2766541" cy="973346"/>
          </a:xfrm>
        </p:grpSpPr>
        <p:grpSp>
          <p:nvGrpSpPr>
            <p:cNvPr id="14" name="Group 14">
              <a:extLst>
                <a:ext uri="{FF2B5EF4-FFF2-40B4-BE49-F238E27FC236}">
                  <a16:creationId xmlns:a16="http://schemas.microsoft.com/office/drawing/2014/main" id="{CF2C2F76-3A25-7E51-FD88-1B91AED6087C}"/>
                </a:ext>
              </a:extLst>
            </p:cNvPr>
            <p:cNvGrpSpPr/>
            <p:nvPr/>
          </p:nvGrpSpPr>
          <p:grpSpPr>
            <a:xfrm>
              <a:off x="4870718" y="5836425"/>
              <a:ext cx="2766541" cy="973346"/>
              <a:chOff x="0" y="0"/>
              <a:chExt cx="2631425" cy="925808"/>
            </a:xfrm>
          </p:grpSpPr>
          <p:sp>
            <p:nvSpPr>
              <p:cNvPr id="15" name="Freeform 15">
                <a:extLst>
                  <a:ext uri="{FF2B5EF4-FFF2-40B4-BE49-F238E27FC236}">
                    <a16:creationId xmlns:a16="http://schemas.microsoft.com/office/drawing/2014/main" id="{96889791-E2E2-AC33-CAB5-88CEB5515EAE}"/>
                  </a:ext>
                </a:extLst>
              </p:cNvPr>
              <p:cNvSpPr/>
              <p:nvPr/>
            </p:nvSpPr>
            <p:spPr>
              <a:xfrm>
                <a:off x="0" y="0"/>
                <a:ext cx="2631425" cy="925808"/>
              </a:xfrm>
              <a:custGeom>
                <a:avLst/>
                <a:gdLst/>
                <a:ahLst/>
                <a:cxnLst/>
                <a:rect l="l" t="t" r="r" b="b"/>
                <a:pathLst>
                  <a:path w="2631425" h="925808">
                    <a:moveTo>
                      <a:pt x="2631425" y="462904"/>
                    </a:moveTo>
                    <a:lnTo>
                      <a:pt x="2428225" y="925808"/>
                    </a:lnTo>
                    <a:lnTo>
                      <a:pt x="203200" y="925808"/>
                    </a:lnTo>
                    <a:lnTo>
                      <a:pt x="0" y="462904"/>
                    </a:lnTo>
                    <a:lnTo>
                      <a:pt x="203200" y="0"/>
                    </a:lnTo>
                    <a:lnTo>
                      <a:pt x="2428225" y="0"/>
                    </a:lnTo>
                    <a:lnTo>
                      <a:pt x="2631425" y="462904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gradFill>
                  <a:gsLst>
                    <a:gs pos="0">
                      <a:srgbClr val="FC0505">
                        <a:alpha val="100000"/>
                      </a:srgbClr>
                    </a:gs>
                    <a:gs pos="100000">
                      <a:srgbClr val="800000">
                        <a:alpha val="10000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TextBox 16">
                <a:extLst>
                  <a:ext uri="{FF2B5EF4-FFF2-40B4-BE49-F238E27FC236}">
                    <a16:creationId xmlns:a16="http://schemas.microsoft.com/office/drawing/2014/main" id="{500B2937-F260-9072-8972-A385F04D4D00}"/>
                  </a:ext>
                </a:extLst>
              </p:cNvPr>
              <p:cNvSpPr txBox="1"/>
              <p:nvPr/>
            </p:nvSpPr>
            <p:spPr>
              <a:xfrm>
                <a:off x="114300" y="-57150"/>
                <a:ext cx="2402825" cy="982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17" name="Group 17">
              <a:extLst>
                <a:ext uri="{FF2B5EF4-FFF2-40B4-BE49-F238E27FC236}">
                  <a16:creationId xmlns:a16="http://schemas.microsoft.com/office/drawing/2014/main" id="{AD5BBE68-BAE9-FAEA-DC11-ED533B8753DE}"/>
                </a:ext>
              </a:extLst>
            </p:cNvPr>
            <p:cNvGrpSpPr/>
            <p:nvPr/>
          </p:nvGrpSpPr>
          <p:grpSpPr>
            <a:xfrm>
              <a:off x="5044840" y="5927955"/>
              <a:ext cx="2418297" cy="746862"/>
              <a:chOff x="0" y="-57150"/>
              <a:chExt cx="3182762" cy="982958"/>
            </a:xfrm>
          </p:grpSpPr>
          <p:sp>
            <p:nvSpPr>
              <p:cNvPr id="18" name="Freeform 18">
                <a:extLst>
                  <a:ext uri="{FF2B5EF4-FFF2-40B4-BE49-F238E27FC236}">
                    <a16:creationId xmlns:a16="http://schemas.microsoft.com/office/drawing/2014/main" id="{44AD3DF0-7FD2-CCBD-DBCE-5A5EBF486914}"/>
                  </a:ext>
                </a:extLst>
              </p:cNvPr>
              <p:cNvSpPr/>
              <p:nvPr/>
            </p:nvSpPr>
            <p:spPr>
              <a:xfrm>
                <a:off x="0" y="0"/>
                <a:ext cx="3182762" cy="925808"/>
              </a:xfrm>
              <a:custGeom>
                <a:avLst/>
                <a:gdLst/>
                <a:ahLst/>
                <a:cxnLst/>
                <a:rect l="l" t="t" r="r" b="b"/>
                <a:pathLst>
                  <a:path w="3182762" h="925808">
                    <a:moveTo>
                      <a:pt x="3182762" y="462904"/>
                    </a:moveTo>
                    <a:lnTo>
                      <a:pt x="2979562" y="925808"/>
                    </a:lnTo>
                    <a:lnTo>
                      <a:pt x="203200" y="925808"/>
                    </a:lnTo>
                    <a:lnTo>
                      <a:pt x="0" y="462904"/>
                    </a:lnTo>
                    <a:lnTo>
                      <a:pt x="203200" y="0"/>
                    </a:lnTo>
                    <a:lnTo>
                      <a:pt x="2979562" y="0"/>
                    </a:lnTo>
                    <a:lnTo>
                      <a:pt x="3182762" y="46290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C0505">
                      <a:alpha val="100000"/>
                    </a:srgbClr>
                  </a:gs>
                  <a:gs pos="100000">
                    <a:srgbClr val="80000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TextBox 19">
                <a:extLst>
                  <a:ext uri="{FF2B5EF4-FFF2-40B4-BE49-F238E27FC236}">
                    <a16:creationId xmlns:a16="http://schemas.microsoft.com/office/drawing/2014/main" id="{EDB15E4C-DD79-13AF-CDE8-7AF65046DD75}"/>
                  </a:ext>
                </a:extLst>
              </p:cNvPr>
              <p:cNvSpPr txBox="1"/>
              <p:nvPr/>
            </p:nvSpPr>
            <p:spPr>
              <a:xfrm>
                <a:off x="114300" y="-57150"/>
                <a:ext cx="2954162" cy="982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E7F8999D-CF57-9B3F-B67A-F04FF9A7B37E}"/>
                </a:ext>
              </a:extLst>
            </p:cNvPr>
            <p:cNvSpPr txBox="1"/>
            <p:nvPr/>
          </p:nvSpPr>
          <p:spPr>
            <a:xfrm>
              <a:off x="5259652" y="6115135"/>
              <a:ext cx="1988673" cy="3587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9"/>
                </a:lnSpc>
                <a:spcBef>
                  <a:spcPct val="0"/>
                </a:spcBef>
              </a:pPr>
              <a:r>
                <a:rPr lang="en-US" sz="1999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Watch Video</a:t>
              </a:r>
            </a:p>
          </p:txBody>
        </p:sp>
      </p:grpSp>
      <p:sp>
        <p:nvSpPr>
          <p:cNvPr id="29" name="Freeform 29">
            <a:extLst>
              <a:ext uri="{FF2B5EF4-FFF2-40B4-BE49-F238E27FC236}">
                <a16:creationId xmlns:a16="http://schemas.microsoft.com/office/drawing/2014/main" id="{8FBA0016-E9D6-DD44-1907-0E43AB5B8FEC}"/>
              </a:ext>
            </a:extLst>
          </p:cNvPr>
          <p:cNvSpPr/>
          <p:nvPr/>
        </p:nvSpPr>
        <p:spPr>
          <a:xfrm>
            <a:off x="9433141" y="3925979"/>
            <a:ext cx="8583816" cy="5239704"/>
          </a:xfrm>
          <a:custGeom>
            <a:avLst/>
            <a:gdLst/>
            <a:ahLst/>
            <a:cxnLst/>
            <a:rect l="l" t="t" r="r" b="b"/>
            <a:pathLst>
              <a:path w="8583816" h="5239704">
                <a:moveTo>
                  <a:pt x="0" y="0"/>
                </a:moveTo>
                <a:lnTo>
                  <a:pt x="8583816" y="0"/>
                </a:lnTo>
                <a:lnTo>
                  <a:pt x="8583816" y="5239705"/>
                </a:lnTo>
                <a:lnTo>
                  <a:pt x="0" y="52397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1" name="TextBox 21">
            <a:extLst>
              <a:ext uri="{FF2B5EF4-FFF2-40B4-BE49-F238E27FC236}">
                <a16:creationId xmlns:a16="http://schemas.microsoft.com/office/drawing/2014/main" id="{76070C02-3828-51C3-CBBE-FC03674D02C9}"/>
              </a:ext>
            </a:extLst>
          </p:cNvPr>
          <p:cNvSpPr txBox="1"/>
          <p:nvPr/>
        </p:nvSpPr>
        <p:spPr>
          <a:xfrm>
            <a:off x="2738989" y="4375452"/>
            <a:ext cx="4981804" cy="12400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429"/>
              </a:lnSpc>
            </a:pPr>
            <a:endParaRPr lang="en-US" sz="4000" b="1" i="1" spc="-348" dirty="0">
              <a:solidFill>
                <a:srgbClr val="F10505">
                  <a:alpha val="94902"/>
                </a:srgbClr>
              </a:solidFill>
              <a:latin typeface="Poppins Ultra-Bold Italics"/>
              <a:ea typeface="Poppins Ultra-Bold Italics"/>
              <a:cs typeface="Poppins Ultra-Bold Italics"/>
              <a:sym typeface="Poppins Ultra-Bold Itali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760B281-384B-09D4-8C3C-131C3F30E0ED}"/>
              </a:ext>
            </a:extLst>
          </p:cNvPr>
          <p:cNvSpPr txBox="1"/>
          <p:nvPr/>
        </p:nvSpPr>
        <p:spPr>
          <a:xfrm>
            <a:off x="3316869" y="3663069"/>
            <a:ext cx="5996103" cy="1404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1429"/>
              </a:lnSpc>
            </a:pPr>
            <a:r>
              <a:rPr lang="en-US" sz="6000" b="1" i="1" spc="-348" dirty="0">
                <a:solidFill>
                  <a:schemeClr val="bg1">
                    <a:alpha val="94902"/>
                  </a:schemeClr>
                </a:solidFill>
                <a:latin typeface="Poppins ExtraBold" panose="00000900000000000000" pitchFamily="2" charset="0"/>
                <a:ea typeface="Poppins Ultra-Bold Italics"/>
                <a:cs typeface="Poppins ExtraBold" panose="00000900000000000000" pitchFamily="2" charset="0"/>
                <a:sym typeface="Poppins Ultra-Bold Italics"/>
              </a:rPr>
              <a:t>Team names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066E7EE-7F08-B9D0-59A4-C926133EDCBF}"/>
              </a:ext>
            </a:extLst>
          </p:cNvPr>
          <p:cNvSpPr txBox="1"/>
          <p:nvPr/>
        </p:nvSpPr>
        <p:spPr>
          <a:xfrm>
            <a:off x="3926469" y="5067300"/>
            <a:ext cx="5386503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i="1" spc="-348" dirty="0">
                <a:solidFill>
                  <a:schemeClr val="bg1">
                    <a:alpha val="94902"/>
                  </a:schemeClr>
                </a:solidFill>
                <a:latin typeface="Poppins ExtraBold" panose="00000900000000000000" pitchFamily="2" charset="0"/>
                <a:ea typeface="Poppins Ultra-Bold Italics"/>
                <a:cs typeface="Poppins ExtraBold" panose="00000900000000000000" pitchFamily="2" charset="0"/>
                <a:sym typeface="Poppins Ultra-Bold Italics"/>
              </a:rPr>
              <a:t>Esraa Magdy</a:t>
            </a:r>
          </a:p>
          <a:p>
            <a:r>
              <a:rPr lang="en-US" sz="4400" b="1" i="1" spc="-348" dirty="0">
                <a:solidFill>
                  <a:schemeClr val="bg1">
                    <a:alpha val="94902"/>
                  </a:schemeClr>
                </a:solidFill>
                <a:latin typeface="Poppins ExtraBold" panose="00000900000000000000" pitchFamily="2" charset="0"/>
                <a:ea typeface="Poppins Ultra-Bold Italics"/>
                <a:cs typeface="Poppins ExtraBold" panose="00000900000000000000" pitchFamily="2" charset="0"/>
                <a:sym typeface="Poppins Ultra-Bold Italics"/>
              </a:rPr>
              <a:t>Mohamed Emad</a:t>
            </a:r>
          </a:p>
          <a:p>
            <a:r>
              <a:rPr lang="en-US" sz="4400" b="1" i="1" spc="-348" dirty="0">
                <a:solidFill>
                  <a:schemeClr val="bg1">
                    <a:alpha val="94902"/>
                  </a:schemeClr>
                </a:solidFill>
                <a:latin typeface="Poppins ExtraBold" panose="00000900000000000000" pitchFamily="2" charset="0"/>
                <a:ea typeface="Poppins Ultra-Bold Italics"/>
                <a:cs typeface="Poppins ExtraBold" panose="00000900000000000000" pitchFamily="2" charset="0"/>
                <a:sym typeface="Poppins Ultra-Bold Italics"/>
              </a:rPr>
              <a:t>Ahmad Bahi</a:t>
            </a:r>
          </a:p>
          <a:p>
            <a:r>
              <a:rPr lang="en-US" sz="4400" b="1" i="1" spc="-348" dirty="0">
                <a:solidFill>
                  <a:schemeClr val="bg1">
                    <a:alpha val="94902"/>
                  </a:schemeClr>
                </a:solidFill>
                <a:latin typeface="Poppins ExtraBold" panose="00000900000000000000" pitchFamily="2" charset="0"/>
                <a:ea typeface="Poppins Ultra-Bold Italics"/>
                <a:cs typeface="Poppins ExtraBold" panose="00000900000000000000" pitchFamily="2" charset="0"/>
                <a:sym typeface="Poppins Ultra-Bold Italics"/>
              </a:rPr>
              <a:t>Ahmad Abo-</a:t>
            </a:r>
            <a:r>
              <a:rPr lang="en-US" sz="4400" b="1" i="1" spc="-348" dirty="0" err="1">
                <a:solidFill>
                  <a:schemeClr val="bg1">
                    <a:alpha val="94902"/>
                  </a:schemeClr>
                </a:solidFill>
                <a:latin typeface="Poppins ExtraBold" panose="00000900000000000000" pitchFamily="2" charset="0"/>
                <a:ea typeface="Poppins Ultra-Bold Italics"/>
                <a:cs typeface="Poppins ExtraBold" panose="00000900000000000000" pitchFamily="2" charset="0"/>
                <a:sym typeface="Poppins Ultra-Bold Italics"/>
              </a:rPr>
              <a:t>Elfadl</a:t>
            </a:r>
            <a:endParaRPr lang="en-US" sz="4400" b="1" i="1" spc="-348" dirty="0">
              <a:solidFill>
                <a:schemeClr val="bg1">
                  <a:alpha val="94902"/>
                </a:schemeClr>
              </a:solidFill>
              <a:latin typeface="Poppins ExtraBold" panose="00000900000000000000" pitchFamily="2" charset="0"/>
              <a:ea typeface="Poppins Ultra-Bold Italics"/>
              <a:cs typeface="Poppins ExtraBold" panose="00000900000000000000" pitchFamily="2" charset="0"/>
              <a:sym typeface="Poppins Ultra-Bold Italics"/>
            </a:endParaRPr>
          </a:p>
        </p:txBody>
      </p:sp>
      <p:sp>
        <p:nvSpPr>
          <p:cNvPr id="46" name="Freeform 18">
            <a:extLst>
              <a:ext uri="{FF2B5EF4-FFF2-40B4-BE49-F238E27FC236}">
                <a16:creationId xmlns:a16="http://schemas.microsoft.com/office/drawing/2014/main" id="{4B38E39D-0B65-70E0-4538-F86F349DB8CF}"/>
              </a:ext>
            </a:extLst>
          </p:cNvPr>
          <p:cNvSpPr/>
          <p:nvPr/>
        </p:nvSpPr>
        <p:spPr>
          <a:xfrm>
            <a:off x="-363427" y="9405588"/>
            <a:ext cx="7092427" cy="749662"/>
          </a:xfrm>
          <a:custGeom>
            <a:avLst/>
            <a:gdLst/>
            <a:ahLst/>
            <a:cxnLst/>
            <a:rect l="l" t="t" r="r" b="b"/>
            <a:pathLst>
              <a:path w="3182762" h="925808">
                <a:moveTo>
                  <a:pt x="3182762" y="462904"/>
                </a:moveTo>
                <a:lnTo>
                  <a:pt x="2979562" y="925808"/>
                </a:lnTo>
                <a:lnTo>
                  <a:pt x="203200" y="925808"/>
                </a:lnTo>
                <a:lnTo>
                  <a:pt x="0" y="462904"/>
                </a:lnTo>
                <a:lnTo>
                  <a:pt x="203200" y="0"/>
                </a:lnTo>
                <a:lnTo>
                  <a:pt x="2979562" y="0"/>
                </a:lnTo>
                <a:lnTo>
                  <a:pt x="3182762" y="462904"/>
                </a:lnTo>
                <a:close/>
              </a:path>
            </a:pathLst>
          </a:custGeom>
          <a:gradFill rotWithShape="1">
            <a:gsLst>
              <a:gs pos="0">
                <a:srgbClr val="FC0505">
                  <a:alpha val="100000"/>
                </a:srgbClr>
              </a:gs>
              <a:gs pos="100000">
                <a:srgbClr val="800000">
                  <a:alpha val="100000"/>
                </a:srgbClr>
              </a:gs>
            </a:gsLst>
            <a:lin ang="0"/>
          </a:gradFill>
        </p:spPr>
        <p:txBody>
          <a:bodyPr/>
          <a:lstStyle/>
          <a:p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B5BBC56-6A71-1113-DB52-B5A2E0A68B1B}"/>
              </a:ext>
            </a:extLst>
          </p:cNvPr>
          <p:cNvSpPr txBox="1"/>
          <p:nvPr/>
        </p:nvSpPr>
        <p:spPr>
          <a:xfrm>
            <a:off x="0" y="8737577"/>
            <a:ext cx="6324600" cy="1346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1429"/>
              </a:lnSpc>
            </a:pPr>
            <a:r>
              <a:rPr lang="en-US" sz="3200" b="1" i="1" spc="-348" dirty="0">
                <a:solidFill>
                  <a:schemeClr val="bg1">
                    <a:alpha val="94902"/>
                  </a:schemeClr>
                </a:solidFill>
                <a:latin typeface="Poppins ExtraBold" panose="00000900000000000000" pitchFamily="2" charset="0"/>
                <a:ea typeface="Poppins Ultra-Bold Italics"/>
                <a:cs typeface="Poppins ExtraBold" panose="00000900000000000000" pitchFamily="2" charset="0"/>
                <a:sym typeface="Poppins Ultra-Bold Italics"/>
              </a:rPr>
              <a:t>Supervised  by  :  Dr. Amal  Mahmoud</a:t>
            </a:r>
          </a:p>
        </p:txBody>
      </p:sp>
      <p:pic>
        <p:nvPicPr>
          <p:cNvPr id="5" name="Picture 4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51C124BD-7125-B05B-4A62-8634B88CC72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13094" y="223528"/>
            <a:ext cx="2122506" cy="1951336"/>
          </a:xfrm>
          <a:prstGeom prst="rect">
            <a:avLst/>
          </a:prstGeom>
        </p:spPr>
      </p:pic>
      <p:pic>
        <p:nvPicPr>
          <p:cNvPr id="20" name="Picture 19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BF7F2DC9-92DB-2711-D120-2C041D92BE0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84542"/>
            <a:ext cx="3393680" cy="1910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7818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8FA6721B-5863-CE6E-CDC5-A61124C7C5DF}"/>
              </a:ext>
            </a:extLst>
          </p:cNvPr>
          <p:cNvGrpSpPr/>
          <p:nvPr/>
        </p:nvGrpSpPr>
        <p:grpSpPr>
          <a:xfrm>
            <a:off x="-2418903" y="2309710"/>
            <a:ext cx="10478134" cy="5667580"/>
            <a:chOff x="-2418903" y="2309710"/>
            <a:chExt cx="10478134" cy="5667580"/>
          </a:xfrm>
        </p:grpSpPr>
        <p:grpSp>
          <p:nvGrpSpPr>
            <p:cNvPr id="12" name="Group 12"/>
            <p:cNvGrpSpPr/>
            <p:nvPr/>
          </p:nvGrpSpPr>
          <p:grpSpPr>
            <a:xfrm>
              <a:off x="-2418903" y="2309710"/>
              <a:ext cx="10478134" cy="5667580"/>
              <a:chOff x="0" y="0"/>
              <a:chExt cx="1315579" cy="711592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315579" cy="711592"/>
              </a:xfrm>
              <a:custGeom>
                <a:avLst/>
                <a:gdLst/>
                <a:ahLst/>
                <a:cxnLst/>
                <a:rect l="l" t="t" r="r" b="b"/>
                <a:pathLst>
                  <a:path w="1315579" h="711592">
                    <a:moveTo>
                      <a:pt x="1315579" y="355796"/>
                    </a:moveTo>
                    <a:lnTo>
                      <a:pt x="1112379" y="711592"/>
                    </a:lnTo>
                    <a:lnTo>
                      <a:pt x="203200" y="711592"/>
                    </a:lnTo>
                    <a:lnTo>
                      <a:pt x="0" y="355796"/>
                    </a:lnTo>
                    <a:lnTo>
                      <a:pt x="203200" y="0"/>
                    </a:lnTo>
                    <a:lnTo>
                      <a:pt x="1112379" y="0"/>
                    </a:lnTo>
                    <a:lnTo>
                      <a:pt x="1315579" y="35579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C0505">
                      <a:alpha val="100000"/>
                    </a:srgbClr>
                  </a:gs>
                  <a:gs pos="100000">
                    <a:srgbClr val="80000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14300" y="-57150"/>
                <a:ext cx="1086979" cy="76874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-1813792" y="2520315"/>
              <a:ext cx="9548092" cy="5246370"/>
              <a:chOff x="0" y="0"/>
              <a:chExt cx="1271230" cy="6985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271230" cy="698500"/>
              </a:xfrm>
              <a:custGeom>
                <a:avLst/>
                <a:gdLst/>
                <a:ahLst/>
                <a:cxnLst/>
                <a:rect l="l" t="t" r="r" b="b"/>
                <a:pathLst>
                  <a:path w="1271230" h="698500">
                    <a:moveTo>
                      <a:pt x="1271230" y="349250"/>
                    </a:moveTo>
                    <a:lnTo>
                      <a:pt x="1068030" y="698500"/>
                    </a:lnTo>
                    <a:lnTo>
                      <a:pt x="203200" y="698500"/>
                    </a:lnTo>
                    <a:lnTo>
                      <a:pt x="0" y="349250"/>
                    </a:lnTo>
                    <a:lnTo>
                      <a:pt x="203200" y="0"/>
                    </a:lnTo>
                    <a:lnTo>
                      <a:pt x="1068030" y="0"/>
                    </a:lnTo>
                    <a:lnTo>
                      <a:pt x="1271230" y="349250"/>
                    </a:lnTo>
                    <a:close/>
                  </a:path>
                </a:pathLst>
              </a:custGeom>
              <a:blipFill>
                <a:blip r:embed="rId2"/>
                <a:stretch>
                  <a:fillRect t="-1185" b="-1185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2" name="TextBox 22"/>
          <p:cNvSpPr txBox="1"/>
          <p:nvPr/>
        </p:nvSpPr>
        <p:spPr>
          <a:xfrm>
            <a:off x="9144000" y="2865532"/>
            <a:ext cx="7630707" cy="1018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00"/>
              </a:lnSpc>
            </a:pPr>
            <a:r>
              <a:rPr lang="en-US" sz="8000" b="1" i="1" spc="-232" dirty="0">
                <a:solidFill>
                  <a:srgbClr val="F10505">
                    <a:alpha val="94902"/>
                  </a:srgbClr>
                </a:solidFill>
                <a:latin typeface="Poppins ExtraBold" panose="00000900000000000000" pitchFamily="2" charset="0"/>
                <a:ea typeface="Poppins Ultra-Bold Italics"/>
                <a:cs typeface="Poppins ExtraBold" panose="00000900000000000000" pitchFamily="2" charset="0"/>
                <a:sym typeface="Poppins Ultra-Bold Italics"/>
              </a:rPr>
              <a:t>Agenda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983446" y="3751408"/>
            <a:ext cx="8390154" cy="55207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5400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Introduction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5400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Project objective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5400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Methodology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5400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Conclusion and insights</a:t>
            </a:r>
          </a:p>
          <a:p>
            <a:pPr algn="just">
              <a:lnSpc>
                <a:spcPts val="3400"/>
              </a:lnSpc>
            </a:pPr>
            <a:endParaRPr lang="en-US" sz="5400" dirty="0">
              <a:solidFill>
                <a:srgbClr val="FFFFFF"/>
              </a:solidFill>
              <a:latin typeface="Aharoni" panose="02010803020104030203" pitchFamily="2" charset="-79"/>
              <a:ea typeface="Poppins"/>
              <a:cs typeface="Aharoni" panose="02010803020104030203" pitchFamily="2" charset="-79"/>
              <a:sym typeface="Poppins"/>
            </a:endParaRPr>
          </a:p>
        </p:txBody>
      </p:sp>
      <p:pic>
        <p:nvPicPr>
          <p:cNvPr id="2" name="Picture 1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DCD9E095-E061-3BDE-00A0-DF23558B58B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13094" y="223528"/>
            <a:ext cx="2122506" cy="1951336"/>
          </a:xfrm>
          <a:prstGeom prst="rect">
            <a:avLst/>
          </a:prstGeom>
        </p:spPr>
      </p:pic>
      <p:pic>
        <p:nvPicPr>
          <p:cNvPr id="3" name="Picture 2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F832A5B7-CC3A-22CB-504D-962AF0D4206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84542"/>
            <a:ext cx="3393680" cy="191064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09C1D7EE-C534-6CE9-B1EF-CB03A881A91B}"/>
              </a:ext>
            </a:extLst>
          </p:cNvPr>
          <p:cNvGrpSpPr/>
          <p:nvPr/>
        </p:nvGrpSpPr>
        <p:grpSpPr>
          <a:xfrm>
            <a:off x="9598840" y="-111322"/>
            <a:ext cx="15459933" cy="11028342"/>
            <a:chOff x="9598840" y="-111322"/>
            <a:chExt cx="15459933" cy="11028342"/>
          </a:xfrm>
        </p:grpSpPr>
        <p:grpSp>
          <p:nvGrpSpPr>
            <p:cNvPr id="8" name="Group 8"/>
            <p:cNvGrpSpPr/>
            <p:nvPr/>
          </p:nvGrpSpPr>
          <p:grpSpPr>
            <a:xfrm>
              <a:off x="9598840" y="0"/>
              <a:ext cx="10695691" cy="10653508"/>
              <a:chOff x="0" y="0"/>
              <a:chExt cx="406400" cy="40479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406400" cy="40479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0479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04797"/>
                    </a:lnTo>
                    <a:lnTo>
                      <a:pt x="0" y="404797"/>
                    </a:lnTo>
                    <a:lnTo>
                      <a:pt x="20320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C0505">
                      <a:alpha val="100000"/>
                    </a:srgbClr>
                  </a:gs>
                  <a:gs pos="100000">
                    <a:srgbClr val="80000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01600" y="-57150"/>
                <a:ext cx="203200" cy="46194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9753600" y="-111322"/>
              <a:ext cx="15305173" cy="11028342"/>
              <a:chOff x="0" y="0"/>
              <a:chExt cx="8812553" cy="63500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812553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8812553" h="6350000">
                    <a:moveTo>
                      <a:pt x="8812553" y="0"/>
                    </a:moveTo>
                    <a:lnTo>
                      <a:pt x="5641427" y="6350000"/>
                    </a:lnTo>
                    <a:lnTo>
                      <a:pt x="0" y="6350000"/>
                    </a:lnTo>
                    <a:lnTo>
                      <a:pt x="3134213" y="0"/>
                    </a:lnTo>
                    <a:lnTo>
                      <a:pt x="8812553" y="0"/>
                    </a:lnTo>
                    <a:close/>
                  </a:path>
                </a:pathLst>
              </a:custGeom>
              <a:blipFill>
                <a:blip r:embed="rId2"/>
                <a:stretch>
                  <a:fillRect r="-8084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18" name="TextBox 18"/>
          <p:cNvSpPr txBox="1"/>
          <p:nvPr/>
        </p:nvSpPr>
        <p:spPr>
          <a:xfrm>
            <a:off x="1804951" y="1337722"/>
            <a:ext cx="8265595" cy="1018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00"/>
              </a:lnSpc>
            </a:pPr>
            <a:r>
              <a:rPr lang="en-US" sz="8000" b="1" i="1" spc="-232" dirty="0">
                <a:solidFill>
                  <a:srgbClr val="F10505">
                    <a:alpha val="94902"/>
                  </a:srgbClr>
                </a:solidFill>
                <a:latin typeface="Poppins ExtraBold" panose="00000900000000000000" pitchFamily="2" charset="0"/>
                <a:ea typeface="Poppins Ultra-Bold Italics"/>
                <a:cs typeface="Poppins ExtraBold" panose="00000900000000000000" pitchFamily="2" charset="0"/>
                <a:sym typeface="Poppins Ultra-Bold Italics"/>
              </a:rPr>
              <a:t>INTRODUCTION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804951" y="2307657"/>
            <a:ext cx="9091649" cy="78790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This project aims to explore and evaluate the sales performance of the various car companies and dealerships across multiple regions in USA.</a:t>
            </a:r>
          </a:p>
          <a:p>
            <a:endParaRPr lang="en-US" sz="3200" b="1" dirty="0">
              <a:solidFill>
                <a:schemeClr val="bg1"/>
              </a:solidFill>
            </a:endParaRPr>
          </a:p>
          <a:p>
            <a:r>
              <a:rPr lang="en-US" sz="3200" b="1" dirty="0">
                <a:solidFill>
                  <a:schemeClr val="bg1"/>
                </a:solidFill>
              </a:rPr>
              <a:t>The project involves analyzing customer data, car brands, prices, and revenue trends to gain meaningful business insights.</a:t>
            </a:r>
          </a:p>
          <a:p>
            <a:endParaRPr lang="en-US" sz="3200" b="1" dirty="0">
              <a:solidFill>
                <a:schemeClr val="bg1"/>
              </a:solidFill>
            </a:endParaRPr>
          </a:p>
          <a:p>
            <a:r>
              <a:rPr lang="en-US" sz="3200" b="1" dirty="0">
                <a:solidFill>
                  <a:schemeClr val="bg1"/>
                </a:solidFill>
              </a:rPr>
              <a:t> Interactive dashboards have been developed to track key performance indicators (KPIs), identify market trends, and understand customer behavior. </a:t>
            </a:r>
          </a:p>
          <a:p>
            <a:endParaRPr lang="en-US" sz="3200" b="1" dirty="0">
              <a:solidFill>
                <a:schemeClr val="bg1"/>
              </a:solidFill>
            </a:endParaRPr>
          </a:p>
          <a:p>
            <a:r>
              <a:rPr lang="en-US" sz="3200" b="1" dirty="0">
                <a:solidFill>
                  <a:schemeClr val="bg1"/>
                </a:solidFill>
              </a:rPr>
              <a:t>This analysis supports strategic decision-making, improves marketing and sales operations, and enhances the efficiency of dealer and inventory management.</a:t>
            </a:r>
          </a:p>
        </p:txBody>
      </p:sp>
      <p:pic>
        <p:nvPicPr>
          <p:cNvPr id="2" name="Picture 1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970D1B7F-1C44-46FD-AA50-285CEBAAAA7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4094" y="150981"/>
            <a:ext cx="1446889" cy="1330204"/>
          </a:xfrm>
          <a:prstGeom prst="rect">
            <a:avLst/>
          </a:prstGeom>
        </p:spPr>
      </p:pic>
      <p:pic>
        <p:nvPicPr>
          <p:cNvPr id="3" name="Picture 2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14C82594-2BDB-C666-9B69-4A6A936D5AA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9038"/>
            <a:ext cx="2895600" cy="16302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B5DB03-5A98-3764-2719-C83E76B5D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1A8C5964-9A21-F734-7DCF-0DF33C3B3C7E}"/>
              </a:ext>
            </a:extLst>
          </p:cNvPr>
          <p:cNvGrpSpPr/>
          <p:nvPr/>
        </p:nvGrpSpPr>
        <p:grpSpPr>
          <a:xfrm>
            <a:off x="16992600" y="266700"/>
            <a:ext cx="15459933" cy="11028342"/>
            <a:chOff x="9598840" y="-111322"/>
            <a:chExt cx="15459933" cy="11028342"/>
          </a:xfrm>
        </p:grpSpPr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CBEC298C-17DF-1FE0-9B8C-BCA187F82BEB}"/>
                </a:ext>
              </a:extLst>
            </p:cNvPr>
            <p:cNvGrpSpPr/>
            <p:nvPr/>
          </p:nvGrpSpPr>
          <p:grpSpPr>
            <a:xfrm>
              <a:off x="9598840" y="0"/>
              <a:ext cx="10695691" cy="10653508"/>
              <a:chOff x="0" y="0"/>
              <a:chExt cx="406400" cy="404797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6C669092-0C5E-80D4-C6F7-147B71BCF046}"/>
                  </a:ext>
                </a:extLst>
              </p:cNvPr>
              <p:cNvSpPr/>
              <p:nvPr/>
            </p:nvSpPr>
            <p:spPr>
              <a:xfrm>
                <a:off x="0" y="0"/>
                <a:ext cx="406400" cy="404797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04797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04797"/>
                    </a:lnTo>
                    <a:lnTo>
                      <a:pt x="0" y="404797"/>
                    </a:lnTo>
                    <a:lnTo>
                      <a:pt x="20320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C0505">
                      <a:alpha val="100000"/>
                    </a:srgbClr>
                  </a:gs>
                  <a:gs pos="100000">
                    <a:srgbClr val="80000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D45FC2E6-9524-5F50-BAFE-8FA0543657CE}"/>
                  </a:ext>
                </a:extLst>
              </p:cNvPr>
              <p:cNvSpPr txBox="1"/>
              <p:nvPr/>
            </p:nvSpPr>
            <p:spPr>
              <a:xfrm>
                <a:off x="101600" y="-57150"/>
                <a:ext cx="203200" cy="46194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11" name="Group 11">
              <a:extLst>
                <a:ext uri="{FF2B5EF4-FFF2-40B4-BE49-F238E27FC236}">
                  <a16:creationId xmlns:a16="http://schemas.microsoft.com/office/drawing/2014/main" id="{6A212FD5-840C-F092-E6B0-DC6EA4CFF4F9}"/>
                </a:ext>
              </a:extLst>
            </p:cNvPr>
            <p:cNvGrpSpPr/>
            <p:nvPr/>
          </p:nvGrpSpPr>
          <p:grpSpPr>
            <a:xfrm>
              <a:off x="9753600" y="-111322"/>
              <a:ext cx="15305173" cy="11028342"/>
              <a:chOff x="0" y="0"/>
              <a:chExt cx="8812553" cy="6350000"/>
            </a:xfrm>
          </p:grpSpPr>
          <p:sp>
            <p:nvSpPr>
              <p:cNvPr id="12" name="Freeform 12">
                <a:extLst>
                  <a:ext uri="{FF2B5EF4-FFF2-40B4-BE49-F238E27FC236}">
                    <a16:creationId xmlns:a16="http://schemas.microsoft.com/office/drawing/2014/main" id="{09DC20E4-1C98-BF1C-D37F-7A07EA09E209}"/>
                  </a:ext>
                </a:extLst>
              </p:cNvPr>
              <p:cNvSpPr/>
              <p:nvPr/>
            </p:nvSpPr>
            <p:spPr>
              <a:xfrm>
                <a:off x="0" y="0"/>
                <a:ext cx="8812553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8812553" h="6350000">
                    <a:moveTo>
                      <a:pt x="8812553" y="0"/>
                    </a:moveTo>
                    <a:lnTo>
                      <a:pt x="5641427" y="6350000"/>
                    </a:lnTo>
                    <a:lnTo>
                      <a:pt x="0" y="6350000"/>
                    </a:lnTo>
                    <a:lnTo>
                      <a:pt x="3134213" y="0"/>
                    </a:lnTo>
                    <a:lnTo>
                      <a:pt x="8812553" y="0"/>
                    </a:lnTo>
                    <a:close/>
                  </a:path>
                </a:pathLst>
              </a:custGeom>
              <a:blipFill>
                <a:blip r:embed="rId2"/>
                <a:stretch>
                  <a:fillRect r="-8084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18" name="TextBox 18">
            <a:extLst>
              <a:ext uri="{FF2B5EF4-FFF2-40B4-BE49-F238E27FC236}">
                <a16:creationId xmlns:a16="http://schemas.microsoft.com/office/drawing/2014/main" id="{B1AFD1BB-2647-19BD-B7A6-1065E4B1B830}"/>
              </a:ext>
            </a:extLst>
          </p:cNvPr>
          <p:cNvSpPr txBox="1"/>
          <p:nvPr/>
        </p:nvSpPr>
        <p:spPr>
          <a:xfrm>
            <a:off x="1676400" y="2677473"/>
            <a:ext cx="3605249" cy="10182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600"/>
              </a:lnSpc>
            </a:pPr>
            <a:r>
              <a:rPr lang="en-US" sz="8000" b="1" i="1" spc="-232" dirty="0">
                <a:solidFill>
                  <a:srgbClr val="F10505">
                    <a:alpha val="94902"/>
                  </a:srgbClr>
                </a:solidFill>
                <a:latin typeface="Poppins ExtraBold" panose="00000900000000000000" pitchFamily="2" charset="0"/>
                <a:ea typeface="Poppins Ultra-Bold Italics"/>
                <a:cs typeface="Poppins ExtraBold" panose="00000900000000000000" pitchFamily="2" charset="0"/>
                <a:sym typeface="Poppins Ultra-Bold Italics"/>
              </a:rPr>
              <a:t>SCOPE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6B2D88FB-9E57-531F-C62C-CC58908B7DA7}"/>
              </a:ext>
            </a:extLst>
          </p:cNvPr>
          <p:cNvSpPr txBox="1"/>
          <p:nvPr/>
        </p:nvSpPr>
        <p:spPr>
          <a:xfrm>
            <a:off x="2321161" y="5665745"/>
            <a:ext cx="2243293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7</a:t>
            </a:r>
          </a:p>
        </p:txBody>
      </p:sp>
      <p:pic>
        <p:nvPicPr>
          <p:cNvPr id="3" name="Graphic 2" descr="Earth globe: Africa and Europe with solid fill">
            <a:extLst>
              <a:ext uri="{FF2B5EF4-FFF2-40B4-BE49-F238E27FC236}">
                <a16:creationId xmlns:a16="http://schemas.microsoft.com/office/drawing/2014/main" id="{D2A02032-5C4C-AF7A-512B-BC91206687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57400" y="4007178"/>
            <a:ext cx="914400" cy="914400"/>
          </a:xfrm>
          <a:prstGeom prst="rect">
            <a:avLst/>
          </a:prstGeom>
        </p:spPr>
      </p:pic>
      <p:pic>
        <p:nvPicPr>
          <p:cNvPr id="5" name="Graphic 4" descr="Car with solid fill">
            <a:extLst>
              <a:ext uri="{FF2B5EF4-FFF2-40B4-BE49-F238E27FC236}">
                <a16:creationId xmlns:a16="http://schemas.microsoft.com/office/drawing/2014/main" id="{F7393E24-034B-28CF-9351-78E3B6A87D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86400" y="3887672"/>
            <a:ext cx="1295400" cy="1295400"/>
          </a:xfrm>
          <a:prstGeom prst="rect">
            <a:avLst/>
          </a:prstGeom>
        </p:spPr>
      </p:pic>
      <p:sp>
        <p:nvSpPr>
          <p:cNvPr id="6" name="TextBox 19">
            <a:extLst>
              <a:ext uri="{FF2B5EF4-FFF2-40B4-BE49-F238E27FC236}">
                <a16:creationId xmlns:a16="http://schemas.microsoft.com/office/drawing/2014/main" id="{9EBE8140-0574-76AE-E29F-2ADDE51FEFAD}"/>
              </a:ext>
            </a:extLst>
          </p:cNvPr>
          <p:cNvSpPr txBox="1"/>
          <p:nvPr/>
        </p:nvSpPr>
        <p:spPr>
          <a:xfrm>
            <a:off x="5681507" y="5644273"/>
            <a:ext cx="2243293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30</a:t>
            </a:r>
          </a:p>
        </p:txBody>
      </p:sp>
      <p:sp>
        <p:nvSpPr>
          <p:cNvPr id="7" name="TextBox 19">
            <a:extLst>
              <a:ext uri="{FF2B5EF4-FFF2-40B4-BE49-F238E27FC236}">
                <a16:creationId xmlns:a16="http://schemas.microsoft.com/office/drawing/2014/main" id="{7995D2FE-ABEB-90A1-2C84-1814F7EA9E04}"/>
              </a:ext>
            </a:extLst>
          </p:cNvPr>
          <p:cNvSpPr txBox="1"/>
          <p:nvPr/>
        </p:nvSpPr>
        <p:spPr>
          <a:xfrm>
            <a:off x="5114744" y="4796750"/>
            <a:ext cx="3223260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Car company</a:t>
            </a:r>
          </a:p>
        </p:txBody>
      </p:sp>
      <p:sp>
        <p:nvSpPr>
          <p:cNvPr id="13" name="TextBox 19">
            <a:extLst>
              <a:ext uri="{FF2B5EF4-FFF2-40B4-BE49-F238E27FC236}">
                <a16:creationId xmlns:a16="http://schemas.microsoft.com/office/drawing/2014/main" id="{6283E73F-C92E-E41A-D406-8EDAE9839E7F}"/>
              </a:ext>
            </a:extLst>
          </p:cNvPr>
          <p:cNvSpPr txBox="1"/>
          <p:nvPr/>
        </p:nvSpPr>
        <p:spPr>
          <a:xfrm>
            <a:off x="1549446" y="4807314"/>
            <a:ext cx="3223260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USA Regions</a:t>
            </a:r>
          </a:p>
        </p:txBody>
      </p:sp>
      <p:pic>
        <p:nvPicPr>
          <p:cNvPr id="15" name="Graphic 14" descr="Stopwatch with solid fill">
            <a:extLst>
              <a:ext uri="{FF2B5EF4-FFF2-40B4-BE49-F238E27FC236}">
                <a16:creationId xmlns:a16="http://schemas.microsoft.com/office/drawing/2014/main" id="{22C32BDD-ADC3-1A71-158C-A4932090475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575388" y="3807781"/>
            <a:ext cx="1034776" cy="1034776"/>
          </a:xfrm>
          <a:prstGeom prst="rect">
            <a:avLst/>
          </a:prstGeom>
        </p:spPr>
      </p:pic>
      <p:sp>
        <p:nvSpPr>
          <p:cNvPr id="16" name="TextBox 19">
            <a:extLst>
              <a:ext uri="{FF2B5EF4-FFF2-40B4-BE49-F238E27FC236}">
                <a16:creationId xmlns:a16="http://schemas.microsoft.com/office/drawing/2014/main" id="{4C508870-775B-1572-24C8-4ABC0E01697B}"/>
              </a:ext>
            </a:extLst>
          </p:cNvPr>
          <p:cNvSpPr txBox="1"/>
          <p:nvPr/>
        </p:nvSpPr>
        <p:spPr>
          <a:xfrm>
            <a:off x="12158507" y="5660159"/>
            <a:ext cx="2243293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2022 -2023</a:t>
            </a:r>
          </a:p>
        </p:txBody>
      </p:sp>
      <p:pic>
        <p:nvPicPr>
          <p:cNvPr id="20" name="Graphic 19" descr="Convertible with solid fill">
            <a:extLst>
              <a:ext uri="{FF2B5EF4-FFF2-40B4-BE49-F238E27FC236}">
                <a16:creationId xmlns:a16="http://schemas.microsoft.com/office/drawing/2014/main" id="{CC6F0F29-91EF-E877-324E-1FAEE65A685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787420" y="3771900"/>
            <a:ext cx="1527857" cy="1527857"/>
          </a:xfrm>
          <a:prstGeom prst="rect">
            <a:avLst/>
          </a:prstGeom>
        </p:spPr>
      </p:pic>
      <p:sp>
        <p:nvSpPr>
          <p:cNvPr id="21" name="TextBox 19">
            <a:extLst>
              <a:ext uri="{FF2B5EF4-FFF2-40B4-BE49-F238E27FC236}">
                <a16:creationId xmlns:a16="http://schemas.microsoft.com/office/drawing/2014/main" id="{A1C42FE1-7790-2E22-E764-CD90680D9E97}"/>
              </a:ext>
            </a:extLst>
          </p:cNvPr>
          <p:cNvSpPr txBox="1"/>
          <p:nvPr/>
        </p:nvSpPr>
        <p:spPr>
          <a:xfrm>
            <a:off x="8680042" y="4807314"/>
            <a:ext cx="3223260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Car body style</a:t>
            </a:r>
          </a:p>
        </p:txBody>
      </p:sp>
      <p:sp>
        <p:nvSpPr>
          <p:cNvPr id="23" name="TextBox 19">
            <a:extLst>
              <a:ext uri="{FF2B5EF4-FFF2-40B4-BE49-F238E27FC236}">
                <a16:creationId xmlns:a16="http://schemas.microsoft.com/office/drawing/2014/main" id="{82D9FE05-59C6-0A83-2449-F74056640409}"/>
              </a:ext>
            </a:extLst>
          </p:cNvPr>
          <p:cNvSpPr txBox="1"/>
          <p:nvPr/>
        </p:nvSpPr>
        <p:spPr>
          <a:xfrm>
            <a:off x="12473940" y="4842557"/>
            <a:ext cx="3223260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Duration</a:t>
            </a:r>
          </a:p>
        </p:txBody>
      </p:sp>
      <p:sp>
        <p:nvSpPr>
          <p:cNvPr id="24" name="TextBox 19">
            <a:extLst>
              <a:ext uri="{FF2B5EF4-FFF2-40B4-BE49-F238E27FC236}">
                <a16:creationId xmlns:a16="http://schemas.microsoft.com/office/drawing/2014/main" id="{6FD63135-0133-B967-93C7-D358089E6A78}"/>
              </a:ext>
            </a:extLst>
          </p:cNvPr>
          <p:cNvSpPr txBox="1"/>
          <p:nvPr/>
        </p:nvSpPr>
        <p:spPr>
          <a:xfrm>
            <a:off x="9491507" y="5629680"/>
            <a:ext cx="2243293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5</a:t>
            </a:r>
          </a:p>
        </p:txBody>
      </p:sp>
      <p:pic>
        <p:nvPicPr>
          <p:cNvPr id="25" name="Picture 24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B57696B9-3BDB-1179-7F9F-7ED6336AA600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13094" y="223528"/>
            <a:ext cx="1893906" cy="1741172"/>
          </a:xfrm>
          <a:prstGeom prst="rect">
            <a:avLst/>
          </a:prstGeom>
        </p:spPr>
      </p:pic>
      <p:pic>
        <p:nvPicPr>
          <p:cNvPr id="26" name="Picture 25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74D94232-065D-8DB9-1453-B2CE25D2C4DA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84542"/>
            <a:ext cx="3028171" cy="1704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353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856234" y="1580259"/>
            <a:ext cx="10058165" cy="10182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600"/>
              </a:lnSpc>
            </a:pPr>
            <a:r>
              <a:rPr lang="en-US" sz="8000" b="1" i="1" spc="-232" dirty="0">
                <a:solidFill>
                  <a:srgbClr val="F10505">
                    <a:alpha val="94902"/>
                  </a:srgbClr>
                </a:solidFill>
                <a:latin typeface="Poppins Ultra-Bold Italics"/>
                <a:ea typeface="Poppins Ultra-Bold Italics"/>
                <a:cs typeface="Poppins Ultra-Bold Italics"/>
                <a:sym typeface="Poppins Ultra-Bold Italics"/>
              </a:rPr>
              <a:t>Project objectives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28525" y="2914128"/>
            <a:ext cx="10478134" cy="48994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Analyze car sales trends in the USA.</a:t>
            </a: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Identify the best-selling car models and brands.</a:t>
            </a: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Analyze buyer behavior by gender.</a:t>
            </a: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Compare sales data across two years.</a:t>
            </a: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Evaluate dealer performance by name.</a:t>
            </a: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Identify regional differences in dealership sales.</a:t>
            </a:r>
            <a:endParaRPr lang="en-US" sz="3600" b="1" dirty="0">
              <a:solidFill>
                <a:schemeClr val="bg1"/>
              </a:solidFill>
              <a:latin typeface="Abadi" panose="020B0604020104020204" pitchFamily="34" charset="0"/>
              <a:ea typeface="Poppins"/>
              <a:cs typeface="Poppins"/>
              <a:sym typeface="Poppins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5FACB5A-5AAC-C1A6-1A5F-531C615C9A7F}"/>
              </a:ext>
            </a:extLst>
          </p:cNvPr>
          <p:cNvGrpSpPr/>
          <p:nvPr/>
        </p:nvGrpSpPr>
        <p:grpSpPr>
          <a:xfrm>
            <a:off x="9948933" y="2530047"/>
            <a:ext cx="10478134" cy="5667580"/>
            <a:chOff x="9948933" y="2530047"/>
            <a:chExt cx="10478134" cy="5667580"/>
          </a:xfrm>
        </p:grpSpPr>
        <p:grpSp>
          <p:nvGrpSpPr>
            <p:cNvPr id="16" name="Group 16"/>
            <p:cNvGrpSpPr/>
            <p:nvPr/>
          </p:nvGrpSpPr>
          <p:grpSpPr>
            <a:xfrm>
              <a:off x="9948933" y="2530047"/>
              <a:ext cx="10478134" cy="5667580"/>
              <a:chOff x="0" y="0"/>
              <a:chExt cx="1315579" cy="711592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315579" cy="711592"/>
              </a:xfrm>
              <a:custGeom>
                <a:avLst/>
                <a:gdLst/>
                <a:ahLst/>
                <a:cxnLst/>
                <a:rect l="l" t="t" r="r" b="b"/>
                <a:pathLst>
                  <a:path w="1315579" h="711592">
                    <a:moveTo>
                      <a:pt x="1315579" y="355796"/>
                    </a:moveTo>
                    <a:lnTo>
                      <a:pt x="1112379" y="711592"/>
                    </a:lnTo>
                    <a:lnTo>
                      <a:pt x="203200" y="711592"/>
                    </a:lnTo>
                    <a:lnTo>
                      <a:pt x="0" y="355796"/>
                    </a:lnTo>
                    <a:lnTo>
                      <a:pt x="203200" y="0"/>
                    </a:lnTo>
                    <a:lnTo>
                      <a:pt x="1112379" y="0"/>
                    </a:lnTo>
                    <a:lnTo>
                      <a:pt x="1315579" y="35579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C0505">
                      <a:alpha val="100000"/>
                    </a:srgbClr>
                  </a:gs>
                  <a:gs pos="100000">
                    <a:srgbClr val="80000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14300" y="-57150"/>
                <a:ext cx="1086979" cy="76874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10204405" y="2740652"/>
              <a:ext cx="9548092" cy="5246370"/>
              <a:chOff x="0" y="0"/>
              <a:chExt cx="1271230" cy="6985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271230" cy="698500"/>
              </a:xfrm>
              <a:custGeom>
                <a:avLst/>
                <a:gdLst/>
                <a:ahLst/>
                <a:cxnLst/>
                <a:rect l="l" t="t" r="r" b="b"/>
                <a:pathLst>
                  <a:path w="1271230" h="698500">
                    <a:moveTo>
                      <a:pt x="1271230" y="349250"/>
                    </a:moveTo>
                    <a:lnTo>
                      <a:pt x="1068030" y="698500"/>
                    </a:lnTo>
                    <a:lnTo>
                      <a:pt x="203200" y="698500"/>
                    </a:lnTo>
                    <a:lnTo>
                      <a:pt x="0" y="349250"/>
                    </a:lnTo>
                    <a:lnTo>
                      <a:pt x="203200" y="0"/>
                    </a:lnTo>
                    <a:lnTo>
                      <a:pt x="1068030" y="0"/>
                    </a:lnTo>
                    <a:lnTo>
                      <a:pt x="1271230" y="349250"/>
                    </a:lnTo>
                    <a:close/>
                  </a:path>
                </a:pathLst>
              </a:custGeom>
              <a:blipFill>
                <a:blip r:embed="rId2"/>
                <a:stretch>
                  <a:fillRect t="-10626" b="-10626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</p:grpSp>
      <p:pic>
        <p:nvPicPr>
          <p:cNvPr id="2" name="Picture 1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A56BE348-A11B-0C17-3264-D7040217F5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2300" y="36506"/>
            <a:ext cx="1836560" cy="1688450"/>
          </a:xfrm>
          <a:prstGeom prst="rect">
            <a:avLst/>
          </a:prstGeom>
        </p:spPr>
      </p:pic>
      <p:pic>
        <p:nvPicPr>
          <p:cNvPr id="3" name="Picture 2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ADF3641E-45A3-1DBA-B933-EC7EECC7B11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" y="-102480"/>
            <a:ext cx="2936480" cy="165323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8B39D97A-9EA8-2AF9-17F1-D59C835DC04F}"/>
              </a:ext>
            </a:extLst>
          </p:cNvPr>
          <p:cNvGrpSpPr/>
          <p:nvPr/>
        </p:nvGrpSpPr>
        <p:grpSpPr>
          <a:xfrm>
            <a:off x="-11299842" y="4822306"/>
            <a:ext cx="21288025" cy="11364542"/>
            <a:chOff x="-11299842" y="4822306"/>
            <a:chExt cx="21288025" cy="11364542"/>
          </a:xfrm>
        </p:grpSpPr>
        <p:grpSp>
          <p:nvGrpSpPr>
            <p:cNvPr id="2" name="Group 2"/>
            <p:cNvGrpSpPr/>
            <p:nvPr/>
          </p:nvGrpSpPr>
          <p:grpSpPr>
            <a:xfrm>
              <a:off x="-11299842" y="4822306"/>
              <a:ext cx="21288025" cy="11364542"/>
              <a:chOff x="0" y="0"/>
              <a:chExt cx="1264956" cy="675293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0" y="0"/>
                <a:ext cx="1264956" cy="675293"/>
              </a:xfrm>
              <a:custGeom>
                <a:avLst/>
                <a:gdLst/>
                <a:ahLst/>
                <a:cxnLst/>
                <a:rect l="l" t="t" r="r" b="b"/>
                <a:pathLst>
                  <a:path w="1264956" h="675293">
                    <a:moveTo>
                      <a:pt x="1264956" y="337646"/>
                    </a:moveTo>
                    <a:lnTo>
                      <a:pt x="1061756" y="675293"/>
                    </a:lnTo>
                    <a:lnTo>
                      <a:pt x="203200" y="675293"/>
                    </a:lnTo>
                    <a:lnTo>
                      <a:pt x="0" y="337646"/>
                    </a:lnTo>
                    <a:lnTo>
                      <a:pt x="203200" y="0"/>
                    </a:lnTo>
                    <a:lnTo>
                      <a:pt x="1061756" y="0"/>
                    </a:lnTo>
                    <a:lnTo>
                      <a:pt x="1264956" y="33764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C0505">
                      <a:alpha val="100000"/>
                    </a:srgbClr>
                  </a:gs>
                  <a:gs pos="100000">
                    <a:srgbClr val="80000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" name="TextBox 4"/>
              <p:cNvSpPr txBox="1"/>
              <p:nvPr/>
            </p:nvSpPr>
            <p:spPr>
              <a:xfrm>
                <a:off x="114300" y="-57150"/>
                <a:ext cx="1036356" cy="7324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5" name="Group 5"/>
            <p:cNvGrpSpPr/>
            <p:nvPr/>
          </p:nvGrpSpPr>
          <p:grpSpPr>
            <a:xfrm>
              <a:off x="-6524260" y="4988259"/>
              <a:ext cx="16331963" cy="11166685"/>
              <a:chOff x="0" y="0"/>
              <a:chExt cx="975283" cy="666832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975283" cy="666832"/>
              </a:xfrm>
              <a:custGeom>
                <a:avLst/>
                <a:gdLst/>
                <a:ahLst/>
                <a:cxnLst/>
                <a:rect l="l" t="t" r="r" b="b"/>
                <a:pathLst>
                  <a:path w="975283" h="666832">
                    <a:moveTo>
                      <a:pt x="975283" y="333416"/>
                    </a:moveTo>
                    <a:lnTo>
                      <a:pt x="772083" y="666832"/>
                    </a:lnTo>
                    <a:lnTo>
                      <a:pt x="203200" y="666832"/>
                    </a:lnTo>
                    <a:lnTo>
                      <a:pt x="0" y="333416"/>
                    </a:lnTo>
                    <a:lnTo>
                      <a:pt x="203200" y="0"/>
                    </a:lnTo>
                    <a:lnTo>
                      <a:pt x="772083" y="0"/>
                    </a:lnTo>
                    <a:lnTo>
                      <a:pt x="975283" y="333416"/>
                    </a:lnTo>
                    <a:close/>
                  </a:path>
                </a:pathLst>
              </a:custGeom>
              <a:blipFill>
                <a:blip r:embed="rId2"/>
                <a:stretch>
                  <a:fillRect l="-5901" t="-8455" r="-25929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7" name="Group 7"/>
          <p:cNvGrpSpPr/>
          <p:nvPr/>
        </p:nvGrpSpPr>
        <p:grpSpPr>
          <a:xfrm>
            <a:off x="15186425" y="-644483"/>
            <a:ext cx="7877784" cy="11575965"/>
            <a:chOff x="0" y="0"/>
            <a:chExt cx="482133" cy="70846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82133" cy="708467"/>
            </a:xfrm>
            <a:custGeom>
              <a:avLst/>
              <a:gdLst/>
              <a:ahLst/>
              <a:cxnLst/>
              <a:rect l="l" t="t" r="r" b="b"/>
              <a:pathLst>
                <a:path w="482133" h="708467">
                  <a:moveTo>
                    <a:pt x="482133" y="354233"/>
                  </a:moveTo>
                  <a:lnTo>
                    <a:pt x="278933" y="708467"/>
                  </a:lnTo>
                  <a:lnTo>
                    <a:pt x="203200" y="708467"/>
                  </a:lnTo>
                  <a:lnTo>
                    <a:pt x="0" y="354233"/>
                  </a:lnTo>
                  <a:lnTo>
                    <a:pt x="203200" y="0"/>
                  </a:lnTo>
                  <a:lnTo>
                    <a:pt x="278933" y="0"/>
                  </a:lnTo>
                  <a:lnTo>
                    <a:pt x="482133" y="354233"/>
                  </a:lnTo>
                  <a:close/>
                </a:path>
              </a:pathLst>
            </a:custGeom>
            <a:blipFill>
              <a:blip r:embed="rId3"/>
              <a:stretch>
                <a:fillRect l="-96944" r="-9694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533400" y="2729981"/>
            <a:ext cx="7795779" cy="10182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600"/>
              </a:lnSpc>
            </a:pPr>
            <a:r>
              <a:rPr lang="en-US" sz="8000" b="1" i="1" spc="-232" dirty="0">
                <a:solidFill>
                  <a:srgbClr val="F10505">
                    <a:alpha val="94902"/>
                  </a:srgbClr>
                </a:solidFill>
                <a:latin typeface="Poppins Ultra-Bold Italics"/>
                <a:ea typeface="Poppins Ultra-Bold Italics"/>
                <a:cs typeface="Poppins Ultra-Bold Italics"/>
                <a:sym typeface="Poppins Ultra-Bold Italics"/>
              </a:rPr>
              <a:t>Methodologies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921197" y="3165769"/>
            <a:ext cx="1190399" cy="450764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just">
              <a:lnSpc>
                <a:spcPts val="3400"/>
              </a:lnSpc>
            </a:pPr>
            <a:r>
              <a:rPr lang="en-US" sz="32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Excel</a:t>
            </a:r>
            <a:endParaRPr lang="en-US" sz="3200" b="1" dirty="0">
              <a:solidFill>
                <a:srgbClr val="F10505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8921197" y="3664463"/>
            <a:ext cx="6265228" cy="440442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just">
              <a:lnSpc>
                <a:spcPts val="3400"/>
              </a:lnSpc>
            </a:pPr>
            <a:r>
              <a:rPr lang="en-US" sz="3200" dirty="0">
                <a:solidFill>
                  <a:schemeClr val="bg1"/>
                </a:solidFill>
                <a:latin typeface="-apple-system"/>
              </a:rPr>
              <a:t>For quick analysis and visualization.</a:t>
            </a:r>
            <a:r>
              <a:rPr lang="en-US" sz="3200" dirty="0">
                <a:solidFill>
                  <a:schemeClr val="bg1"/>
                </a:solidFill>
                <a:latin typeface="Poppins"/>
                <a:cs typeface="Poppins"/>
                <a:sym typeface="Poppins"/>
              </a:rPr>
              <a:t> </a:t>
            </a:r>
            <a:endParaRPr lang="en-US" sz="3200" dirty="0">
              <a:solidFill>
                <a:schemeClr val="bg1"/>
              </a:solidFill>
              <a:latin typeface="-apple-system"/>
            </a:endParaRPr>
          </a:p>
        </p:txBody>
      </p:sp>
      <p:sp>
        <p:nvSpPr>
          <p:cNvPr id="19" name="TextBox 15">
            <a:extLst>
              <a:ext uri="{FF2B5EF4-FFF2-40B4-BE49-F238E27FC236}">
                <a16:creationId xmlns:a16="http://schemas.microsoft.com/office/drawing/2014/main" id="{C4E421D7-65A9-E0D1-C58B-7EE0FBB65639}"/>
              </a:ext>
            </a:extLst>
          </p:cNvPr>
          <p:cNvSpPr txBox="1"/>
          <p:nvPr/>
        </p:nvSpPr>
        <p:spPr>
          <a:xfrm>
            <a:off x="8921197" y="4489565"/>
            <a:ext cx="1190399" cy="450764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just">
              <a:lnSpc>
                <a:spcPts val="3400"/>
              </a:lnSpc>
            </a:pPr>
            <a:r>
              <a:rPr lang="en-US" sz="32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SQL</a:t>
            </a:r>
            <a:endParaRPr lang="en-US" sz="3200" b="1" dirty="0">
              <a:solidFill>
                <a:srgbClr val="F10505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0" name="TextBox 18">
            <a:extLst>
              <a:ext uri="{FF2B5EF4-FFF2-40B4-BE49-F238E27FC236}">
                <a16:creationId xmlns:a16="http://schemas.microsoft.com/office/drawing/2014/main" id="{C6BDA53A-D2C9-4E4C-5708-6A0A1F1EBD55}"/>
              </a:ext>
            </a:extLst>
          </p:cNvPr>
          <p:cNvSpPr txBox="1"/>
          <p:nvPr/>
        </p:nvSpPr>
        <p:spPr>
          <a:xfrm>
            <a:off x="8921197" y="4988261"/>
            <a:ext cx="6928403" cy="492443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just"/>
            <a:r>
              <a:rPr lang="en-US" sz="3200" dirty="0">
                <a:solidFill>
                  <a:schemeClr val="bg1"/>
                </a:solidFill>
                <a:latin typeface="-apple-system"/>
              </a:rPr>
              <a:t>For querying and managing datasets.</a:t>
            </a:r>
          </a:p>
        </p:txBody>
      </p:sp>
      <p:sp>
        <p:nvSpPr>
          <p:cNvPr id="21" name="TextBox 15">
            <a:extLst>
              <a:ext uri="{FF2B5EF4-FFF2-40B4-BE49-F238E27FC236}">
                <a16:creationId xmlns:a16="http://schemas.microsoft.com/office/drawing/2014/main" id="{EAB8BE1A-910E-B08A-CA70-B605D3138835}"/>
              </a:ext>
            </a:extLst>
          </p:cNvPr>
          <p:cNvSpPr txBox="1"/>
          <p:nvPr/>
        </p:nvSpPr>
        <p:spPr>
          <a:xfrm>
            <a:off x="8921197" y="5810604"/>
            <a:ext cx="2386365" cy="892296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just">
              <a:lnSpc>
                <a:spcPts val="3400"/>
              </a:lnSpc>
            </a:pPr>
            <a:r>
              <a:rPr lang="en-US" sz="32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Python</a:t>
            </a:r>
            <a:endParaRPr lang="en-US" sz="3200" b="1" dirty="0">
              <a:solidFill>
                <a:srgbClr val="F10505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3400"/>
              </a:lnSpc>
            </a:pPr>
            <a:endParaRPr lang="en-US" sz="3200" b="1" dirty="0">
              <a:solidFill>
                <a:srgbClr val="F10505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2" name="TextBox 18">
            <a:extLst>
              <a:ext uri="{FF2B5EF4-FFF2-40B4-BE49-F238E27FC236}">
                <a16:creationId xmlns:a16="http://schemas.microsoft.com/office/drawing/2014/main" id="{88A5A627-9BC5-4C1A-9511-E62AD400429A}"/>
              </a:ext>
            </a:extLst>
          </p:cNvPr>
          <p:cNvSpPr txBox="1"/>
          <p:nvPr/>
        </p:nvSpPr>
        <p:spPr>
          <a:xfrm>
            <a:off x="8921197" y="6312055"/>
            <a:ext cx="5528195" cy="984885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just"/>
            <a:r>
              <a:rPr lang="en-US" sz="3200" dirty="0">
                <a:solidFill>
                  <a:schemeClr val="bg1"/>
                </a:solidFill>
                <a:latin typeface="-apple-system"/>
              </a:rPr>
              <a:t>For advanced statistical analysis and modeling.</a:t>
            </a:r>
          </a:p>
        </p:txBody>
      </p:sp>
      <p:sp>
        <p:nvSpPr>
          <p:cNvPr id="23" name="TextBox 15">
            <a:extLst>
              <a:ext uri="{FF2B5EF4-FFF2-40B4-BE49-F238E27FC236}">
                <a16:creationId xmlns:a16="http://schemas.microsoft.com/office/drawing/2014/main" id="{4A0359FE-3D65-B428-0553-DD6A567FEE3B}"/>
              </a:ext>
            </a:extLst>
          </p:cNvPr>
          <p:cNvSpPr txBox="1"/>
          <p:nvPr/>
        </p:nvSpPr>
        <p:spPr>
          <a:xfrm>
            <a:off x="8921197" y="7707096"/>
            <a:ext cx="5076598" cy="450764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just">
              <a:lnSpc>
                <a:spcPts val="3400"/>
              </a:lnSpc>
            </a:pPr>
            <a:r>
              <a:rPr lang="en-US" sz="32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Tableau &amp; power bi</a:t>
            </a:r>
            <a:endParaRPr lang="en-US" sz="3200" b="1" dirty="0">
              <a:solidFill>
                <a:srgbClr val="F10505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4" name="TextBox 18">
            <a:extLst>
              <a:ext uri="{FF2B5EF4-FFF2-40B4-BE49-F238E27FC236}">
                <a16:creationId xmlns:a16="http://schemas.microsoft.com/office/drawing/2014/main" id="{A3468DF2-48A5-7BDF-FDD0-77E3AD95B137}"/>
              </a:ext>
            </a:extLst>
          </p:cNvPr>
          <p:cNvSpPr txBox="1"/>
          <p:nvPr/>
        </p:nvSpPr>
        <p:spPr>
          <a:xfrm>
            <a:off x="8921197" y="8208258"/>
            <a:ext cx="6928403" cy="440442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just">
              <a:lnSpc>
                <a:spcPts val="3400"/>
              </a:lnSpc>
            </a:pPr>
            <a:r>
              <a:rPr lang="en-US" sz="3200" dirty="0">
                <a:solidFill>
                  <a:schemeClr val="bg1"/>
                </a:solidFill>
                <a:latin typeface="-apple-system"/>
              </a:rPr>
              <a:t>For quick analysis and visualization.</a:t>
            </a:r>
            <a:r>
              <a:rPr lang="en-US" sz="3200" dirty="0">
                <a:solidFill>
                  <a:schemeClr val="bg1"/>
                </a:solidFill>
                <a:latin typeface="Poppins"/>
                <a:cs typeface="Poppins"/>
                <a:sym typeface="Poppins"/>
              </a:rPr>
              <a:t> </a:t>
            </a:r>
            <a:endParaRPr lang="en-US" sz="3200" dirty="0">
              <a:solidFill>
                <a:schemeClr val="bg1"/>
              </a:solidFill>
              <a:latin typeface="-apple-system"/>
            </a:endParaRPr>
          </a:p>
        </p:txBody>
      </p:sp>
      <p:pic>
        <p:nvPicPr>
          <p:cNvPr id="9" name="Picture 8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13E9E13E-6E3E-4302-F778-3B4C8955C25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88347" y="84542"/>
            <a:ext cx="2122506" cy="1951336"/>
          </a:xfrm>
          <a:prstGeom prst="rect">
            <a:avLst/>
          </a:prstGeom>
        </p:spPr>
      </p:pic>
      <p:pic>
        <p:nvPicPr>
          <p:cNvPr id="10" name="Picture 9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ECC0C859-8C23-2575-BA60-F0AA42F8224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84542"/>
            <a:ext cx="3393680" cy="191064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0E42F7-00A0-BEA2-56B1-71A901E18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46561B58-7D17-13DC-BD5D-03863155DFAD}"/>
              </a:ext>
            </a:extLst>
          </p:cNvPr>
          <p:cNvGrpSpPr/>
          <p:nvPr/>
        </p:nvGrpSpPr>
        <p:grpSpPr>
          <a:xfrm>
            <a:off x="-18897600" y="4822306"/>
            <a:ext cx="21288025" cy="11364542"/>
            <a:chOff x="-11299842" y="4822306"/>
            <a:chExt cx="21288025" cy="11364542"/>
          </a:xfrm>
        </p:grpSpPr>
        <p:grpSp>
          <p:nvGrpSpPr>
            <p:cNvPr id="2" name="Group 2">
              <a:extLst>
                <a:ext uri="{FF2B5EF4-FFF2-40B4-BE49-F238E27FC236}">
                  <a16:creationId xmlns:a16="http://schemas.microsoft.com/office/drawing/2014/main" id="{06A1D1D2-02AF-9690-1EEB-0540BE7E8F09}"/>
                </a:ext>
              </a:extLst>
            </p:cNvPr>
            <p:cNvGrpSpPr/>
            <p:nvPr/>
          </p:nvGrpSpPr>
          <p:grpSpPr>
            <a:xfrm>
              <a:off x="-11299842" y="4822306"/>
              <a:ext cx="21288025" cy="11364542"/>
              <a:chOff x="0" y="0"/>
              <a:chExt cx="1264956" cy="675293"/>
            </a:xfrm>
          </p:grpSpPr>
          <p:sp>
            <p:nvSpPr>
              <p:cNvPr id="3" name="Freeform 3">
                <a:extLst>
                  <a:ext uri="{FF2B5EF4-FFF2-40B4-BE49-F238E27FC236}">
                    <a16:creationId xmlns:a16="http://schemas.microsoft.com/office/drawing/2014/main" id="{4BEDDC8B-C267-4464-8C05-FD48EE63FB54}"/>
                  </a:ext>
                </a:extLst>
              </p:cNvPr>
              <p:cNvSpPr/>
              <p:nvPr/>
            </p:nvSpPr>
            <p:spPr>
              <a:xfrm>
                <a:off x="0" y="0"/>
                <a:ext cx="1264956" cy="675293"/>
              </a:xfrm>
              <a:custGeom>
                <a:avLst/>
                <a:gdLst/>
                <a:ahLst/>
                <a:cxnLst/>
                <a:rect l="l" t="t" r="r" b="b"/>
                <a:pathLst>
                  <a:path w="1264956" h="675293">
                    <a:moveTo>
                      <a:pt x="1264956" y="337646"/>
                    </a:moveTo>
                    <a:lnTo>
                      <a:pt x="1061756" y="675293"/>
                    </a:lnTo>
                    <a:lnTo>
                      <a:pt x="203200" y="675293"/>
                    </a:lnTo>
                    <a:lnTo>
                      <a:pt x="0" y="337646"/>
                    </a:lnTo>
                    <a:lnTo>
                      <a:pt x="203200" y="0"/>
                    </a:lnTo>
                    <a:lnTo>
                      <a:pt x="1061756" y="0"/>
                    </a:lnTo>
                    <a:lnTo>
                      <a:pt x="1264956" y="33764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C0505">
                      <a:alpha val="100000"/>
                    </a:srgbClr>
                  </a:gs>
                  <a:gs pos="100000">
                    <a:srgbClr val="80000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" name="TextBox 4">
                <a:extLst>
                  <a:ext uri="{FF2B5EF4-FFF2-40B4-BE49-F238E27FC236}">
                    <a16:creationId xmlns:a16="http://schemas.microsoft.com/office/drawing/2014/main" id="{D466276D-FB5B-3D7D-DDDD-17925DDAEE7A}"/>
                  </a:ext>
                </a:extLst>
              </p:cNvPr>
              <p:cNvSpPr txBox="1"/>
              <p:nvPr/>
            </p:nvSpPr>
            <p:spPr>
              <a:xfrm>
                <a:off x="114300" y="-57150"/>
                <a:ext cx="1036356" cy="7324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64EB0E8C-EE0C-84A2-A4E1-10209919887B}"/>
                </a:ext>
              </a:extLst>
            </p:cNvPr>
            <p:cNvGrpSpPr/>
            <p:nvPr/>
          </p:nvGrpSpPr>
          <p:grpSpPr>
            <a:xfrm>
              <a:off x="-6524260" y="4988259"/>
              <a:ext cx="16331963" cy="11166685"/>
              <a:chOff x="0" y="0"/>
              <a:chExt cx="975283" cy="666832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7740B5EC-3D17-DCC9-48C8-6741D61349C3}"/>
                  </a:ext>
                </a:extLst>
              </p:cNvPr>
              <p:cNvSpPr/>
              <p:nvPr/>
            </p:nvSpPr>
            <p:spPr>
              <a:xfrm>
                <a:off x="0" y="0"/>
                <a:ext cx="975283" cy="666832"/>
              </a:xfrm>
              <a:custGeom>
                <a:avLst/>
                <a:gdLst/>
                <a:ahLst/>
                <a:cxnLst/>
                <a:rect l="l" t="t" r="r" b="b"/>
                <a:pathLst>
                  <a:path w="975283" h="666832">
                    <a:moveTo>
                      <a:pt x="975283" y="333416"/>
                    </a:moveTo>
                    <a:lnTo>
                      <a:pt x="772083" y="666832"/>
                    </a:lnTo>
                    <a:lnTo>
                      <a:pt x="203200" y="666832"/>
                    </a:lnTo>
                    <a:lnTo>
                      <a:pt x="0" y="333416"/>
                    </a:lnTo>
                    <a:lnTo>
                      <a:pt x="203200" y="0"/>
                    </a:lnTo>
                    <a:lnTo>
                      <a:pt x="772083" y="0"/>
                    </a:lnTo>
                    <a:lnTo>
                      <a:pt x="975283" y="333416"/>
                    </a:lnTo>
                    <a:close/>
                  </a:path>
                </a:pathLst>
              </a:custGeom>
              <a:blipFill>
                <a:blip r:embed="rId2"/>
                <a:stretch>
                  <a:fillRect l="-5901" t="-8455" r="-25929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AB95E97E-5F17-6205-2643-E560E242F8BE}"/>
              </a:ext>
            </a:extLst>
          </p:cNvPr>
          <p:cNvGrpSpPr/>
          <p:nvPr/>
        </p:nvGrpSpPr>
        <p:grpSpPr>
          <a:xfrm>
            <a:off x="18030216" y="-644483"/>
            <a:ext cx="7877784" cy="11575965"/>
            <a:chOff x="0" y="0"/>
            <a:chExt cx="482133" cy="708467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D3FBDCA-B1D5-9EEA-7598-5DE0FD3BDE2A}"/>
                </a:ext>
              </a:extLst>
            </p:cNvPr>
            <p:cNvSpPr/>
            <p:nvPr/>
          </p:nvSpPr>
          <p:spPr>
            <a:xfrm>
              <a:off x="0" y="0"/>
              <a:ext cx="482133" cy="708467"/>
            </a:xfrm>
            <a:custGeom>
              <a:avLst/>
              <a:gdLst/>
              <a:ahLst/>
              <a:cxnLst/>
              <a:rect l="l" t="t" r="r" b="b"/>
              <a:pathLst>
                <a:path w="482133" h="708467">
                  <a:moveTo>
                    <a:pt x="482133" y="354233"/>
                  </a:moveTo>
                  <a:lnTo>
                    <a:pt x="278933" y="708467"/>
                  </a:lnTo>
                  <a:lnTo>
                    <a:pt x="203200" y="708467"/>
                  </a:lnTo>
                  <a:lnTo>
                    <a:pt x="0" y="354233"/>
                  </a:lnTo>
                  <a:lnTo>
                    <a:pt x="203200" y="0"/>
                  </a:lnTo>
                  <a:lnTo>
                    <a:pt x="278933" y="0"/>
                  </a:lnTo>
                  <a:lnTo>
                    <a:pt x="482133" y="354233"/>
                  </a:lnTo>
                  <a:close/>
                </a:path>
              </a:pathLst>
            </a:custGeom>
            <a:blipFill>
              <a:blip r:embed="rId3"/>
              <a:stretch>
                <a:fillRect l="-96944" r="-9694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03051CDB-1C1F-2D77-0A36-84F3928D807F}"/>
              </a:ext>
            </a:extLst>
          </p:cNvPr>
          <p:cNvSpPr txBox="1"/>
          <p:nvPr/>
        </p:nvSpPr>
        <p:spPr>
          <a:xfrm>
            <a:off x="533400" y="1104900"/>
            <a:ext cx="7795779" cy="10182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600"/>
              </a:lnSpc>
            </a:pPr>
            <a:r>
              <a:rPr lang="en-US" sz="8000" b="1" i="1" spc="-232" dirty="0">
                <a:solidFill>
                  <a:srgbClr val="F10505">
                    <a:alpha val="94902"/>
                  </a:srgbClr>
                </a:solidFill>
                <a:latin typeface="Poppins Ultra-Bold Italics"/>
                <a:ea typeface="Poppins Ultra-Bold Italics"/>
                <a:cs typeface="Poppins Ultra-Bold Italics"/>
                <a:sym typeface="Poppins Ultra-Bold Italics"/>
              </a:rPr>
              <a:t>Methodologies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3596D81F-F136-95B3-28AE-AE18D1B9D0FA}"/>
              </a:ext>
            </a:extLst>
          </p:cNvPr>
          <p:cNvSpPr txBox="1"/>
          <p:nvPr/>
        </p:nvSpPr>
        <p:spPr>
          <a:xfrm>
            <a:off x="914400" y="3165769"/>
            <a:ext cx="1190399" cy="450764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just">
              <a:lnSpc>
                <a:spcPts val="3400"/>
              </a:lnSpc>
            </a:pPr>
            <a:r>
              <a:rPr lang="en-US" sz="32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Excel</a:t>
            </a:r>
            <a:endParaRPr lang="en-US" sz="3200" b="1" dirty="0">
              <a:solidFill>
                <a:srgbClr val="F10505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A50C6CF6-31AB-91EC-DF75-D0CC16D6B737}"/>
              </a:ext>
            </a:extLst>
          </p:cNvPr>
          <p:cNvSpPr txBox="1"/>
          <p:nvPr/>
        </p:nvSpPr>
        <p:spPr>
          <a:xfrm>
            <a:off x="914400" y="3707130"/>
            <a:ext cx="6265228" cy="196977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We did the following using Excel: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200" dirty="0">
                <a:solidFill>
                  <a:schemeClr val="bg1"/>
                </a:solidFill>
              </a:rPr>
              <a:t>Data Modeling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200" dirty="0">
                <a:solidFill>
                  <a:schemeClr val="bg1"/>
                </a:solidFill>
              </a:rPr>
              <a:t>Data Cleaning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200" dirty="0">
                <a:solidFill>
                  <a:schemeClr val="bg1"/>
                </a:solidFill>
              </a:rPr>
              <a:t>Data Analysis and Extracting Insights</a:t>
            </a:r>
          </a:p>
        </p:txBody>
      </p:sp>
      <p:pic>
        <p:nvPicPr>
          <p:cNvPr id="9" name="Picture 8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7E97CD69-C0AB-162E-755D-A6FC2A4299A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18406" y="0"/>
            <a:ext cx="1502956" cy="1381750"/>
          </a:xfrm>
          <a:prstGeom prst="rect">
            <a:avLst/>
          </a:prstGeom>
        </p:spPr>
      </p:pic>
      <p:pic>
        <p:nvPicPr>
          <p:cNvPr id="10" name="Picture 9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5A65191-338D-AB64-B5FA-2C24E7DF3AE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763" y="-138987"/>
            <a:ext cx="2403080" cy="1352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0288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483192-72B1-FAF3-3D41-600FF38D7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FFFADFF9-3D8C-3D27-C79F-647CE51CA0E5}"/>
              </a:ext>
            </a:extLst>
          </p:cNvPr>
          <p:cNvGrpSpPr/>
          <p:nvPr/>
        </p:nvGrpSpPr>
        <p:grpSpPr>
          <a:xfrm>
            <a:off x="-18897600" y="4822306"/>
            <a:ext cx="21288025" cy="11364542"/>
            <a:chOff x="-11299842" y="4822306"/>
            <a:chExt cx="21288025" cy="11364542"/>
          </a:xfrm>
        </p:grpSpPr>
        <p:grpSp>
          <p:nvGrpSpPr>
            <p:cNvPr id="2" name="Group 2">
              <a:extLst>
                <a:ext uri="{FF2B5EF4-FFF2-40B4-BE49-F238E27FC236}">
                  <a16:creationId xmlns:a16="http://schemas.microsoft.com/office/drawing/2014/main" id="{AE45E8CD-C584-ED09-DDA1-A94D99B54151}"/>
                </a:ext>
              </a:extLst>
            </p:cNvPr>
            <p:cNvGrpSpPr/>
            <p:nvPr/>
          </p:nvGrpSpPr>
          <p:grpSpPr>
            <a:xfrm>
              <a:off x="-11299842" y="4822306"/>
              <a:ext cx="21288025" cy="11364542"/>
              <a:chOff x="0" y="0"/>
              <a:chExt cx="1264956" cy="675293"/>
            </a:xfrm>
          </p:grpSpPr>
          <p:sp>
            <p:nvSpPr>
              <p:cNvPr id="3" name="Freeform 3">
                <a:extLst>
                  <a:ext uri="{FF2B5EF4-FFF2-40B4-BE49-F238E27FC236}">
                    <a16:creationId xmlns:a16="http://schemas.microsoft.com/office/drawing/2014/main" id="{12E80A91-FBA7-2A05-3C21-075AC1C62FC2}"/>
                  </a:ext>
                </a:extLst>
              </p:cNvPr>
              <p:cNvSpPr/>
              <p:nvPr/>
            </p:nvSpPr>
            <p:spPr>
              <a:xfrm>
                <a:off x="0" y="0"/>
                <a:ext cx="1264956" cy="675293"/>
              </a:xfrm>
              <a:custGeom>
                <a:avLst/>
                <a:gdLst/>
                <a:ahLst/>
                <a:cxnLst/>
                <a:rect l="l" t="t" r="r" b="b"/>
                <a:pathLst>
                  <a:path w="1264956" h="675293">
                    <a:moveTo>
                      <a:pt x="1264956" y="337646"/>
                    </a:moveTo>
                    <a:lnTo>
                      <a:pt x="1061756" y="675293"/>
                    </a:lnTo>
                    <a:lnTo>
                      <a:pt x="203200" y="675293"/>
                    </a:lnTo>
                    <a:lnTo>
                      <a:pt x="0" y="337646"/>
                    </a:lnTo>
                    <a:lnTo>
                      <a:pt x="203200" y="0"/>
                    </a:lnTo>
                    <a:lnTo>
                      <a:pt x="1061756" y="0"/>
                    </a:lnTo>
                    <a:lnTo>
                      <a:pt x="1264956" y="33764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C0505">
                      <a:alpha val="100000"/>
                    </a:srgbClr>
                  </a:gs>
                  <a:gs pos="100000">
                    <a:srgbClr val="80000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" name="TextBox 4">
                <a:extLst>
                  <a:ext uri="{FF2B5EF4-FFF2-40B4-BE49-F238E27FC236}">
                    <a16:creationId xmlns:a16="http://schemas.microsoft.com/office/drawing/2014/main" id="{CF5EF0C9-A2EA-FC79-7163-7F4909E421D7}"/>
                  </a:ext>
                </a:extLst>
              </p:cNvPr>
              <p:cNvSpPr txBox="1"/>
              <p:nvPr/>
            </p:nvSpPr>
            <p:spPr>
              <a:xfrm>
                <a:off x="114300" y="-57150"/>
                <a:ext cx="1036356" cy="7324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7DBD11AC-E34F-8F4E-A58E-B2B951D3F3C7}"/>
                </a:ext>
              </a:extLst>
            </p:cNvPr>
            <p:cNvGrpSpPr/>
            <p:nvPr/>
          </p:nvGrpSpPr>
          <p:grpSpPr>
            <a:xfrm>
              <a:off x="-6524260" y="4988259"/>
              <a:ext cx="16331963" cy="11166685"/>
              <a:chOff x="0" y="0"/>
              <a:chExt cx="975283" cy="666832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E736B98D-B23B-48F0-7309-C86F9AB09CB6}"/>
                  </a:ext>
                </a:extLst>
              </p:cNvPr>
              <p:cNvSpPr/>
              <p:nvPr/>
            </p:nvSpPr>
            <p:spPr>
              <a:xfrm>
                <a:off x="0" y="0"/>
                <a:ext cx="975283" cy="666832"/>
              </a:xfrm>
              <a:custGeom>
                <a:avLst/>
                <a:gdLst/>
                <a:ahLst/>
                <a:cxnLst/>
                <a:rect l="l" t="t" r="r" b="b"/>
                <a:pathLst>
                  <a:path w="975283" h="666832">
                    <a:moveTo>
                      <a:pt x="975283" y="333416"/>
                    </a:moveTo>
                    <a:lnTo>
                      <a:pt x="772083" y="666832"/>
                    </a:lnTo>
                    <a:lnTo>
                      <a:pt x="203200" y="666832"/>
                    </a:lnTo>
                    <a:lnTo>
                      <a:pt x="0" y="333416"/>
                    </a:lnTo>
                    <a:lnTo>
                      <a:pt x="203200" y="0"/>
                    </a:lnTo>
                    <a:lnTo>
                      <a:pt x="772083" y="0"/>
                    </a:lnTo>
                    <a:lnTo>
                      <a:pt x="975283" y="333416"/>
                    </a:lnTo>
                    <a:close/>
                  </a:path>
                </a:pathLst>
              </a:custGeom>
              <a:blipFill>
                <a:blip r:embed="rId2"/>
                <a:stretch>
                  <a:fillRect l="-5901" t="-8455" r="-25929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059743AB-5477-B4CD-3348-32C6556B12D7}"/>
              </a:ext>
            </a:extLst>
          </p:cNvPr>
          <p:cNvGrpSpPr/>
          <p:nvPr/>
        </p:nvGrpSpPr>
        <p:grpSpPr>
          <a:xfrm>
            <a:off x="18030216" y="-644483"/>
            <a:ext cx="7877784" cy="11575965"/>
            <a:chOff x="0" y="0"/>
            <a:chExt cx="482133" cy="708467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FD62554-1D1C-AC63-6BC8-F8415CF4BF6A}"/>
                </a:ext>
              </a:extLst>
            </p:cNvPr>
            <p:cNvSpPr/>
            <p:nvPr/>
          </p:nvSpPr>
          <p:spPr>
            <a:xfrm>
              <a:off x="0" y="0"/>
              <a:ext cx="482133" cy="708467"/>
            </a:xfrm>
            <a:custGeom>
              <a:avLst/>
              <a:gdLst/>
              <a:ahLst/>
              <a:cxnLst/>
              <a:rect l="l" t="t" r="r" b="b"/>
              <a:pathLst>
                <a:path w="482133" h="708467">
                  <a:moveTo>
                    <a:pt x="482133" y="354233"/>
                  </a:moveTo>
                  <a:lnTo>
                    <a:pt x="278933" y="708467"/>
                  </a:lnTo>
                  <a:lnTo>
                    <a:pt x="203200" y="708467"/>
                  </a:lnTo>
                  <a:lnTo>
                    <a:pt x="0" y="354233"/>
                  </a:lnTo>
                  <a:lnTo>
                    <a:pt x="203200" y="0"/>
                  </a:lnTo>
                  <a:lnTo>
                    <a:pt x="278933" y="0"/>
                  </a:lnTo>
                  <a:lnTo>
                    <a:pt x="482133" y="354233"/>
                  </a:lnTo>
                  <a:close/>
                </a:path>
              </a:pathLst>
            </a:custGeom>
            <a:blipFill>
              <a:blip r:embed="rId3"/>
              <a:stretch>
                <a:fillRect l="-96944" r="-9694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A032F3E0-1903-D341-F997-00A4E0AD5050}"/>
              </a:ext>
            </a:extLst>
          </p:cNvPr>
          <p:cNvSpPr txBox="1"/>
          <p:nvPr/>
        </p:nvSpPr>
        <p:spPr>
          <a:xfrm>
            <a:off x="533400" y="1104900"/>
            <a:ext cx="7795779" cy="10182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600"/>
              </a:lnSpc>
            </a:pPr>
            <a:r>
              <a:rPr lang="en-US" sz="8000" b="1" i="1" spc="-232" dirty="0">
                <a:solidFill>
                  <a:srgbClr val="F10505">
                    <a:alpha val="94902"/>
                  </a:srgbClr>
                </a:solidFill>
                <a:latin typeface="Poppins Ultra-Bold Italics"/>
                <a:ea typeface="Poppins Ultra-Bold Italics"/>
                <a:cs typeface="Poppins Ultra-Bold Italics"/>
                <a:sym typeface="Poppins Ultra-Bold Italics"/>
              </a:rPr>
              <a:t>Excel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7AC6FCD1-2CBD-239D-EDE2-72F9BD3EA57B}"/>
              </a:ext>
            </a:extLst>
          </p:cNvPr>
          <p:cNvSpPr txBox="1"/>
          <p:nvPr/>
        </p:nvSpPr>
        <p:spPr>
          <a:xfrm>
            <a:off x="914400" y="2952354"/>
            <a:ext cx="3886200" cy="499367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just">
              <a:lnSpc>
                <a:spcPts val="3400"/>
              </a:lnSpc>
            </a:pPr>
            <a:r>
              <a:rPr lang="en-US" sz="4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Raw data</a:t>
            </a:r>
            <a:endParaRPr lang="en-US" sz="4800" b="1" dirty="0">
              <a:solidFill>
                <a:srgbClr val="F10505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A4AD8A-2441-6941-B4DC-55115800DF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2059" y="3695700"/>
            <a:ext cx="15534575" cy="5334000"/>
          </a:xfrm>
          <a:prstGeom prst="roundRect">
            <a:avLst>
              <a:gd name="adj" fmla="val 3381"/>
            </a:avLst>
          </a:prstGeom>
          <a:ln w="76200">
            <a:solidFill>
              <a:srgbClr val="C00000"/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0" name="Picture 9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969124F2-D186-58AE-2724-4C8E5B3A592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27965" y="55016"/>
            <a:ext cx="1455298" cy="1337935"/>
          </a:xfrm>
          <a:prstGeom prst="rect">
            <a:avLst/>
          </a:prstGeom>
        </p:spPr>
      </p:pic>
      <p:pic>
        <p:nvPicPr>
          <p:cNvPr id="11" name="Picture 10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9931CD8D-4AAC-2A5E-A619-9E5D65CE36B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863" y="-83970"/>
            <a:ext cx="2326880" cy="1310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0731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5E3D41-5464-6207-FA48-E011EBE93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2B0DA1EE-692B-13ED-989C-4B98454465E2}"/>
              </a:ext>
            </a:extLst>
          </p:cNvPr>
          <p:cNvGrpSpPr/>
          <p:nvPr/>
        </p:nvGrpSpPr>
        <p:grpSpPr>
          <a:xfrm>
            <a:off x="-18897600" y="4822306"/>
            <a:ext cx="21288025" cy="11364542"/>
            <a:chOff x="-11299842" y="4822306"/>
            <a:chExt cx="21288025" cy="11364542"/>
          </a:xfrm>
        </p:grpSpPr>
        <p:grpSp>
          <p:nvGrpSpPr>
            <p:cNvPr id="2" name="Group 2">
              <a:extLst>
                <a:ext uri="{FF2B5EF4-FFF2-40B4-BE49-F238E27FC236}">
                  <a16:creationId xmlns:a16="http://schemas.microsoft.com/office/drawing/2014/main" id="{BE610208-00C5-4740-1A19-6B425D8C7404}"/>
                </a:ext>
              </a:extLst>
            </p:cNvPr>
            <p:cNvGrpSpPr/>
            <p:nvPr/>
          </p:nvGrpSpPr>
          <p:grpSpPr>
            <a:xfrm>
              <a:off x="-11299842" y="4822306"/>
              <a:ext cx="21288025" cy="11364542"/>
              <a:chOff x="0" y="0"/>
              <a:chExt cx="1264956" cy="675293"/>
            </a:xfrm>
          </p:grpSpPr>
          <p:sp>
            <p:nvSpPr>
              <p:cNvPr id="3" name="Freeform 3">
                <a:extLst>
                  <a:ext uri="{FF2B5EF4-FFF2-40B4-BE49-F238E27FC236}">
                    <a16:creationId xmlns:a16="http://schemas.microsoft.com/office/drawing/2014/main" id="{79AD5080-97D3-D062-4403-85EE744D8F4E}"/>
                  </a:ext>
                </a:extLst>
              </p:cNvPr>
              <p:cNvSpPr/>
              <p:nvPr/>
            </p:nvSpPr>
            <p:spPr>
              <a:xfrm>
                <a:off x="0" y="0"/>
                <a:ext cx="1264956" cy="675293"/>
              </a:xfrm>
              <a:custGeom>
                <a:avLst/>
                <a:gdLst/>
                <a:ahLst/>
                <a:cxnLst/>
                <a:rect l="l" t="t" r="r" b="b"/>
                <a:pathLst>
                  <a:path w="1264956" h="675293">
                    <a:moveTo>
                      <a:pt x="1264956" y="337646"/>
                    </a:moveTo>
                    <a:lnTo>
                      <a:pt x="1061756" y="675293"/>
                    </a:lnTo>
                    <a:lnTo>
                      <a:pt x="203200" y="675293"/>
                    </a:lnTo>
                    <a:lnTo>
                      <a:pt x="0" y="337646"/>
                    </a:lnTo>
                    <a:lnTo>
                      <a:pt x="203200" y="0"/>
                    </a:lnTo>
                    <a:lnTo>
                      <a:pt x="1061756" y="0"/>
                    </a:lnTo>
                    <a:lnTo>
                      <a:pt x="1264956" y="33764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C0505">
                      <a:alpha val="100000"/>
                    </a:srgbClr>
                  </a:gs>
                  <a:gs pos="100000">
                    <a:srgbClr val="80000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" name="TextBox 4">
                <a:extLst>
                  <a:ext uri="{FF2B5EF4-FFF2-40B4-BE49-F238E27FC236}">
                    <a16:creationId xmlns:a16="http://schemas.microsoft.com/office/drawing/2014/main" id="{8BC927AD-088B-10FD-2B83-4FCF193EFBAA}"/>
                  </a:ext>
                </a:extLst>
              </p:cNvPr>
              <p:cNvSpPr txBox="1"/>
              <p:nvPr/>
            </p:nvSpPr>
            <p:spPr>
              <a:xfrm>
                <a:off x="114300" y="-57150"/>
                <a:ext cx="1036356" cy="7324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582B9B06-1CEB-2BBB-06D2-12A4B5665D53}"/>
                </a:ext>
              </a:extLst>
            </p:cNvPr>
            <p:cNvGrpSpPr/>
            <p:nvPr/>
          </p:nvGrpSpPr>
          <p:grpSpPr>
            <a:xfrm>
              <a:off x="-6524260" y="4988259"/>
              <a:ext cx="16331963" cy="11166685"/>
              <a:chOff x="0" y="0"/>
              <a:chExt cx="975283" cy="666832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9A789406-D249-12A7-981E-3A76D3D0497F}"/>
                  </a:ext>
                </a:extLst>
              </p:cNvPr>
              <p:cNvSpPr/>
              <p:nvPr/>
            </p:nvSpPr>
            <p:spPr>
              <a:xfrm>
                <a:off x="0" y="0"/>
                <a:ext cx="975283" cy="666832"/>
              </a:xfrm>
              <a:custGeom>
                <a:avLst/>
                <a:gdLst/>
                <a:ahLst/>
                <a:cxnLst/>
                <a:rect l="l" t="t" r="r" b="b"/>
                <a:pathLst>
                  <a:path w="975283" h="666832">
                    <a:moveTo>
                      <a:pt x="975283" y="333416"/>
                    </a:moveTo>
                    <a:lnTo>
                      <a:pt x="772083" y="666832"/>
                    </a:lnTo>
                    <a:lnTo>
                      <a:pt x="203200" y="666832"/>
                    </a:lnTo>
                    <a:lnTo>
                      <a:pt x="0" y="333416"/>
                    </a:lnTo>
                    <a:lnTo>
                      <a:pt x="203200" y="0"/>
                    </a:lnTo>
                    <a:lnTo>
                      <a:pt x="772083" y="0"/>
                    </a:lnTo>
                    <a:lnTo>
                      <a:pt x="975283" y="333416"/>
                    </a:lnTo>
                    <a:close/>
                  </a:path>
                </a:pathLst>
              </a:custGeom>
              <a:blipFill>
                <a:blip r:embed="rId2"/>
                <a:stretch>
                  <a:fillRect l="-5901" t="-8455" r="-25929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6E1DBF9C-1EEB-DAAE-6D0C-EF985DE5DE32}"/>
              </a:ext>
            </a:extLst>
          </p:cNvPr>
          <p:cNvGrpSpPr/>
          <p:nvPr/>
        </p:nvGrpSpPr>
        <p:grpSpPr>
          <a:xfrm>
            <a:off x="18030216" y="-644483"/>
            <a:ext cx="7877784" cy="11575965"/>
            <a:chOff x="0" y="0"/>
            <a:chExt cx="482133" cy="708467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0A38C056-AE53-500A-2D27-153107687291}"/>
                </a:ext>
              </a:extLst>
            </p:cNvPr>
            <p:cNvSpPr/>
            <p:nvPr/>
          </p:nvSpPr>
          <p:spPr>
            <a:xfrm>
              <a:off x="0" y="0"/>
              <a:ext cx="482133" cy="708467"/>
            </a:xfrm>
            <a:custGeom>
              <a:avLst/>
              <a:gdLst/>
              <a:ahLst/>
              <a:cxnLst/>
              <a:rect l="l" t="t" r="r" b="b"/>
              <a:pathLst>
                <a:path w="482133" h="708467">
                  <a:moveTo>
                    <a:pt x="482133" y="354233"/>
                  </a:moveTo>
                  <a:lnTo>
                    <a:pt x="278933" y="708467"/>
                  </a:lnTo>
                  <a:lnTo>
                    <a:pt x="203200" y="708467"/>
                  </a:lnTo>
                  <a:lnTo>
                    <a:pt x="0" y="354233"/>
                  </a:lnTo>
                  <a:lnTo>
                    <a:pt x="203200" y="0"/>
                  </a:lnTo>
                  <a:lnTo>
                    <a:pt x="278933" y="0"/>
                  </a:lnTo>
                  <a:lnTo>
                    <a:pt x="482133" y="354233"/>
                  </a:lnTo>
                  <a:close/>
                </a:path>
              </a:pathLst>
            </a:custGeom>
            <a:blipFill>
              <a:blip r:embed="rId3"/>
              <a:stretch>
                <a:fillRect l="-96944" r="-9694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C814158A-085A-B139-C7C5-CF80A41B4B99}"/>
              </a:ext>
            </a:extLst>
          </p:cNvPr>
          <p:cNvSpPr txBox="1"/>
          <p:nvPr/>
        </p:nvSpPr>
        <p:spPr>
          <a:xfrm>
            <a:off x="533400" y="1104900"/>
            <a:ext cx="7795779" cy="10182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600"/>
              </a:lnSpc>
            </a:pPr>
            <a:r>
              <a:rPr lang="en-US" sz="8000" b="1" i="1" spc="-232" dirty="0">
                <a:solidFill>
                  <a:srgbClr val="F10505">
                    <a:alpha val="94902"/>
                  </a:srgbClr>
                </a:solidFill>
                <a:latin typeface="Poppins Ultra-Bold Italics"/>
                <a:ea typeface="Poppins Ultra-Bold Italics"/>
                <a:cs typeface="Poppins Ultra-Bold Italics"/>
                <a:sym typeface="Poppins Ultra-Bold Italics"/>
              </a:rPr>
              <a:t>Excel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1CFEE00D-70CB-3BB7-B0D2-4E6779D0F2E1}"/>
              </a:ext>
            </a:extLst>
          </p:cNvPr>
          <p:cNvSpPr txBox="1"/>
          <p:nvPr/>
        </p:nvSpPr>
        <p:spPr>
          <a:xfrm>
            <a:off x="914400" y="2953475"/>
            <a:ext cx="6477000" cy="497124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just">
              <a:lnSpc>
                <a:spcPts val="3400"/>
              </a:lnSpc>
            </a:pPr>
            <a:r>
              <a:rPr lang="en-US" sz="4800" b="1" dirty="0">
                <a:solidFill>
                  <a:schemeClr val="bg1"/>
                </a:solidFill>
                <a:latin typeface="Poppins"/>
                <a:ea typeface="Poppins"/>
                <a:cs typeface="Poppins"/>
              </a:rPr>
              <a:t>Data Preprocessing</a:t>
            </a:r>
            <a:endParaRPr lang="en-US" sz="4800" b="1" dirty="0">
              <a:solidFill>
                <a:schemeClr val="bg1"/>
              </a:solidFill>
              <a:latin typeface="Poppins"/>
              <a:ea typeface="Poppins"/>
              <a:cs typeface="Poppins"/>
              <a:sym typeface="Poppins Bold"/>
            </a:endParaRPr>
          </a:p>
        </p:txBody>
      </p:sp>
      <p:pic>
        <p:nvPicPr>
          <p:cNvPr id="10" name="Content Placeholder 6">
            <a:extLst>
              <a:ext uri="{FF2B5EF4-FFF2-40B4-BE49-F238E27FC236}">
                <a16:creationId xmlns:a16="http://schemas.microsoft.com/office/drawing/2014/main" id="{F921EE63-EA74-7D6F-EDB1-49D0A7C542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4649" y="3502454"/>
            <a:ext cx="14735899" cy="6167339"/>
          </a:xfrm>
          <a:prstGeom prst="roundRect">
            <a:avLst>
              <a:gd name="adj" fmla="val 16667"/>
            </a:avLst>
          </a:prstGeom>
          <a:ln w="76200">
            <a:solidFill>
              <a:srgbClr val="C00000"/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9" name="Picture 8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4FB728DA-3003-45B7-12B7-9A1B3F12E39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27965" y="55016"/>
            <a:ext cx="1455298" cy="1337935"/>
          </a:xfrm>
          <a:prstGeom prst="rect">
            <a:avLst/>
          </a:prstGeom>
        </p:spPr>
      </p:pic>
      <p:pic>
        <p:nvPicPr>
          <p:cNvPr id="11" name="Picture 10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9FE950C-159D-0211-A31E-6C09D3FB597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863" y="-83970"/>
            <a:ext cx="2326880" cy="1310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653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1F22DC-B1F5-1016-BF56-64942F70A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2495747B-2F07-E4AB-A811-38522E82B830}"/>
              </a:ext>
            </a:extLst>
          </p:cNvPr>
          <p:cNvGrpSpPr/>
          <p:nvPr/>
        </p:nvGrpSpPr>
        <p:grpSpPr>
          <a:xfrm>
            <a:off x="-18897600" y="4822306"/>
            <a:ext cx="21288025" cy="11364542"/>
            <a:chOff x="-11299842" y="4822306"/>
            <a:chExt cx="21288025" cy="11364542"/>
          </a:xfrm>
        </p:grpSpPr>
        <p:grpSp>
          <p:nvGrpSpPr>
            <p:cNvPr id="2" name="Group 2">
              <a:extLst>
                <a:ext uri="{FF2B5EF4-FFF2-40B4-BE49-F238E27FC236}">
                  <a16:creationId xmlns:a16="http://schemas.microsoft.com/office/drawing/2014/main" id="{96ED63A0-49BC-9BBB-D331-27DF0613E0E5}"/>
                </a:ext>
              </a:extLst>
            </p:cNvPr>
            <p:cNvGrpSpPr/>
            <p:nvPr/>
          </p:nvGrpSpPr>
          <p:grpSpPr>
            <a:xfrm>
              <a:off x="-11299842" y="4822306"/>
              <a:ext cx="21288025" cy="11364542"/>
              <a:chOff x="0" y="0"/>
              <a:chExt cx="1264956" cy="675293"/>
            </a:xfrm>
          </p:grpSpPr>
          <p:sp>
            <p:nvSpPr>
              <p:cNvPr id="3" name="Freeform 3">
                <a:extLst>
                  <a:ext uri="{FF2B5EF4-FFF2-40B4-BE49-F238E27FC236}">
                    <a16:creationId xmlns:a16="http://schemas.microsoft.com/office/drawing/2014/main" id="{A7B9F7D9-501B-2196-83EC-053F4ADB3508}"/>
                  </a:ext>
                </a:extLst>
              </p:cNvPr>
              <p:cNvSpPr/>
              <p:nvPr/>
            </p:nvSpPr>
            <p:spPr>
              <a:xfrm>
                <a:off x="0" y="0"/>
                <a:ext cx="1264956" cy="675293"/>
              </a:xfrm>
              <a:custGeom>
                <a:avLst/>
                <a:gdLst/>
                <a:ahLst/>
                <a:cxnLst/>
                <a:rect l="l" t="t" r="r" b="b"/>
                <a:pathLst>
                  <a:path w="1264956" h="675293">
                    <a:moveTo>
                      <a:pt x="1264956" y="337646"/>
                    </a:moveTo>
                    <a:lnTo>
                      <a:pt x="1061756" y="675293"/>
                    </a:lnTo>
                    <a:lnTo>
                      <a:pt x="203200" y="675293"/>
                    </a:lnTo>
                    <a:lnTo>
                      <a:pt x="0" y="337646"/>
                    </a:lnTo>
                    <a:lnTo>
                      <a:pt x="203200" y="0"/>
                    </a:lnTo>
                    <a:lnTo>
                      <a:pt x="1061756" y="0"/>
                    </a:lnTo>
                    <a:lnTo>
                      <a:pt x="1264956" y="33764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C0505">
                      <a:alpha val="100000"/>
                    </a:srgbClr>
                  </a:gs>
                  <a:gs pos="100000">
                    <a:srgbClr val="80000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" name="TextBox 4">
                <a:extLst>
                  <a:ext uri="{FF2B5EF4-FFF2-40B4-BE49-F238E27FC236}">
                    <a16:creationId xmlns:a16="http://schemas.microsoft.com/office/drawing/2014/main" id="{68588431-9E9C-07E7-E656-BE57CF12625F}"/>
                  </a:ext>
                </a:extLst>
              </p:cNvPr>
              <p:cNvSpPr txBox="1"/>
              <p:nvPr/>
            </p:nvSpPr>
            <p:spPr>
              <a:xfrm>
                <a:off x="114300" y="-57150"/>
                <a:ext cx="1036356" cy="7324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DC8DD94D-B390-7CB8-39D3-004EF702A56B}"/>
                </a:ext>
              </a:extLst>
            </p:cNvPr>
            <p:cNvGrpSpPr/>
            <p:nvPr/>
          </p:nvGrpSpPr>
          <p:grpSpPr>
            <a:xfrm>
              <a:off x="-6524260" y="4988259"/>
              <a:ext cx="16331963" cy="11166685"/>
              <a:chOff x="0" y="0"/>
              <a:chExt cx="975283" cy="666832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05F0E954-D1B4-0949-9A70-D56D3AD34056}"/>
                  </a:ext>
                </a:extLst>
              </p:cNvPr>
              <p:cNvSpPr/>
              <p:nvPr/>
            </p:nvSpPr>
            <p:spPr>
              <a:xfrm>
                <a:off x="0" y="0"/>
                <a:ext cx="975283" cy="666832"/>
              </a:xfrm>
              <a:custGeom>
                <a:avLst/>
                <a:gdLst/>
                <a:ahLst/>
                <a:cxnLst/>
                <a:rect l="l" t="t" r="r" b="b"/>
                <a:pathLst>
                  <a:path w="975283" h="666832">
                    <a:moveTo>
                      <a:pt x="975283" y="333416"/>
                    </a:moveTo>
                    <a:lnTo>
                      <a:pt x="772083" y="666832"/>
                    </a:lnTo>
                    <a:lnTo>
                      <a:pt x="203200" y="666832"/>
                    </a:lnTo>
                    <a:lnTo>
                      <a:pt x="0" y="333416"/>
                    </a:lnTo>
                    <a:lnTo>
                      <a:pt x="203200" y="0"/>
                    </a:lnTo>
                    <a:lnTo>
                      <a:pt x="772083" y="0"/>
                    </a:lnTo>
                    <a:lnTo>
                      <a:pt x="975283" y="333416"/>
                    </a:lnTo>
                    <a:close/>
                  </a:path>
                </a:pathLst>
              </a:custGeom>
              <a:blipFill>
                <a:blip r:embed="rId2"/>
                <a:stretch>
                  <a:fillRect l="-5901" t="-8455" r="-25929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4972FE25-5E56-4BE6-79B1-7846AAD94B5B}"/>
              </a:ext>
            </a:extLst>
          </p:cNvPr>
          <p:cNvGrpSpPr/>
          <p:nvPr/>
        </p:nvGrpSpPr>
        <p:grpSpPr>
          <a:xfrm>
            <a:off x="18030216" y="-644483"/>
            <a:ext cx="7877784" cy="11575965"/>
            <a:chOff x="0" y="0"/>
            <a:chExt cx="482133" cy="708467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D099185C-6970-EC16-3E02-1B5229215B19}"/>
                </a:ext>
              </a:extLst>
            </p:cNvPr>
            <p:cNvSpPr/>
            <p:nvPr/>
          </p:nvSpPr>
          <p:spPr>
            <a:xfrm>
              <a:off x="0" y="0"/>
              <a:ext cx="482133" cy="708467"/>
            </a:xfrm>
            <a:custGeom>
              <a:avLst/>
              <a:gdLst/>
              <a:ahLst/>
              <a:cxnLst/>
              <a:rect l="l" t="t" r="r" b="b"/>
              <a:pathLst>
                <a:path w="482133" h="708467">
                  <a:moveTo>
                    <a:pt x="482133" y="354233"/>
                  </a:moveTo>
                  <a:lnTo>
                    <a:pt x="278933" y="708467"/>
                  </a:lnTo>
                  <a:lnTo>
                    <a:pt x="203200" y="708467"/>
                  </a:lnTo>
                  <a:lnTo>
                    <a:pt x="0" y="354233"/>
                  </a:lnTo>
                  <a:lnTo>
                    <a:pt x="203200" y="0"/>
                  </a:lnTo>
                  <a:lnTo>
                    <a:pt x="278933" y="0"/>
                  </a:lnTo>
                  <a:lnTo>
                    <a:pt x="482133" y="354233"/>
                  </a:lnTo>
                  <a:close/>
                </a:path>
              </a:pathLst>
            </a:custGeom>
            <a:blipFill>
              <a:blip r:embed="rId3"/>
              <a:stretch>
                <a:fillRect l="-96944" r="-9694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44E2CCBC-BE52-01C1-C584-7886DFD2F5BE}"/>
              </a:ext>
            </a:extLst>
          </p:cNvPr>
          <p:cNvSpPr txBox="1"/>
          <p:nvPr/>
        </p:nvSpPr>
        <p:spPr>
          <a:xfrm>
            <a:off x="533400" y="1104900"/>
            <a:ext cx="7795779" cy="10182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600"/>
              </a:lnSpc>
            </a:pPr>
            <a:r>
              <a:rPr lang="en-US" sz="8000" b="1" i="1" spc="-232" dirty="0">
                <a:solidFill>
                  <a:srgbClr val="F10505">
                    <a:alpha val="94902"/>
                  </a:srgbClr>
                </a:solidFill>
                <a:latin typeface="Poppins Ultra-Bold Italics"/>
                <a:ea typeface="Poppins Ultra-Bold Italics"/>
                <a:cs typeface="Poppins Ultra-Bold Italics"/>
                <a:sym typeface="Poppins Ultra-Bold Italics"/>
              </a:rPr>
              <a:t>Excel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826EB421-26D0-6981-7E4A-25318014FDAE}"/>
              </a:ext>
            </a:extLst>
          </p:cNvPr>
          <p:cNvSpPr txBox="1"/>
          <p:nvPr/>
        </p:nvSpPr>
        <p:spPr>
          <a:xfrm>
            <a:off x="914400" y="2953475"/>
            <a:ext cx="6477000" cy="497124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just">
              <a:lnSpc>
                <a:spcPts val="3400"/>
              </a:lnSpc>
            </a:pPr>
            <a:r>
              <a:rPr lang="en-US" sz="4800" b="1" dirty="0">
                <a:solidFill>
                  <a:schemeClr val="bg1"/>
                </a:solidFill>
              </a:rPr>
              <a:t>Data Modelling</a:t>
            </a:r>
            <a:endParaRPr lang="en-US" sz="4800" b="1" dirty="0">
              <a:solidFill>
                <a:schemeClr val="bg1"/>
              </a:solidFill>
              <a:latin typeface="Poppins"/>
              <a:ea typeface="Poppins"/>
              <a:cs typeface="Poppins"/>
              <a:sym typeface="Poppins Bold"/>
            </a:endParaRPr>
          </a:p>
        </p:txBody>
      </p:sp>
      <p:pic>
        <p:nvPicPr>
          <p:cNvPr id="9" name="Content Placeholder 4">
            <a:extLst>
              <a:ext uri="{FF2B5EF4-FFF2-40B4-BE49-F238E27FC236}">
                <a16:creationId xmlns:a16="http://schemas.microsoft.com/office/drawing/2014/main" id="{E26AD3EA-C9A4-99B2-887F-F6271D4CD8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5184" y="3743659"/>
            <a:ext cx="14386415" cy="5826282"/>
          </a:xfrm>
          <a:prstGeom prst="roundRect">
            <a:avLst>
              <a:gd name="adj" fmla="val 16667"/>
            </a:avLst>
          </a:prstGeom>
          <a:ln w="76200">
            <a:solidFill>
              <a:srgbClr val="C00000"/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1" name="Picture 10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1D3BD543-7CC9-C1BA-9BAB-B9EA0D2B4A4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27965" y="55016"/>
            <a:ext cx="1455298" cy="1337935"/>
          </a:xfrm>
          <a:prstGeom prst="rect">
            <a:avLst/>
          </a:prstGeom>
        </p:spPr>
      </p:pic>
      <p:pic>
        <p:nvPicPr>
          <p:cNvPr id="12" name="Picture 1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7CB559CE-C0A0-BA75-B77E-8A1724969B9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863" y="-83970"/>
            <a:ext cx="2326880" cy="1310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738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F6BB79-52F9-1DA0-B97B-822ABC687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954DC15D-8345-23E5-3DA2-507B0D6A16ED}"/>
              </a:ext>
            </a:extLst>
          </p:cNvPr>
          <p:cNvGrpSpPr/>
          <p:nvPr/>
        </p:nvGrpSpPr>
        <p:grpSpPr>
          <a:xfrm>
            <a:off x="-18897600" y="4822306"/>
            <a:ext cx="21288025" cy="11364542"/>
            <a:chOff x="-11299842" y="4822306"/>
            <a:chExt cx="21288025" cy="11364542"/>
          </a:xfrm>
        </p:grpSpPr>
        <p:grpSp>
          <p:nvGrpSpPr>
            <p:cNvPr id="2" name="Group 2">
              <a:extLst>
                <a:ext uri="{FF2B5EF4-FFF2-40B4-BE49-F238E27FC236}">
                  <a16:creationId xmlns:a16="http://schemas.microsoft.com/office/drawing/2014/main" id="{CF778935-BCCF-7E74-A249-4B805697D02A}"/>
                </a:ext>
              </a:extLst>
            </p:cNvPr>
            <p:cNvGrpSpPr/>
            <p:nvPr/>
          </p:nvGrpSpPr>
          <p:grpSpPr>
            <a:xfrm>
              <a:off x="-11299842" y="4822306"/>
              <a:ext cx="21288025" cy="11364542"/>
              <a:chOff x="0" y="0"/>
              <a:chExt cx="1264956" cy="675293"/>
            </a:xfrm>
          </p:grpSpPr>
          <p:sp>
            <p:nvSpPr>
              <p:cNvPr id="3" name="Freeform 3">
                <a:extLst>
                  <a:ext uri="{FF2B5EF4-FFF2-40B4-BE49-F238E27FC236}">
                    <a16:creationId xmlns:a16="http://schemas.microsoft.com/office/drawing/2014/main" id="{4A4EE723-177C-2F50-52B1-F6CFA09C7CBB}"/>
                  </a:ext>
                </a:extLst>
              </p:cNvPr>
              <p:cNvSpPr/>
              <p:nvPr/>
            </p:nvSpPr>
            <p:spPr>
              <a:xfrm>
                <a:off x="0" y="0"/>
                <a:ext cx="1264956" cy="675293"/>
              </a:xfrm>
              <a:custGeom>
                <a:avLst/>
                <a:gdLst/>
                <a:ahLst/>
                <a:cxnLst/>
                <a:rect l="l" t="t" r="r" b="b"/>
                <a:pathLst>
                  <a:path w="1264956" h="675293">
                    <a:moveTo>
                      <a:pt x="1264956" y="337646"/>
                    </a:moveTo>
                    <a:lnTo>
                      <a:pt x="1061756" y="675293"/>
                    </a:lnTo>
                    <a:lnTo>
                      <a:pt x="203200" y="675293"/>
                    </a:lnTo>
                    <a:lnTo>
                      <a:pt x="0" y="337646"/>
                    </a:lnTo>
                    <a:lnTo>
                      <a:pt x="203200" y="0"/>
                    </a:lnTo>
                    <a:lnTo>
                      <a:pt x="1061756" y="0"/>
                    </a:lnTo>
                    <a:lnTo>
                      <a:pt x="1264956" y="33764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C0505">
                      <a:alpha val="100000"/>
                    </a:srgbClr>
                  </a:gs>
                  <a:gs pos="100000">
                    <a:srgbClr val="80000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" name="TextBox 4">
                <a:extLst>
                  <a:ext uri="{FF2B5EF4-FFF2-40B4-BE49-F238E27FC236}">
                    <a16:creationId xmlns:a16="http://schemas.microsoft.com/office/drawing/2014/main" id="{A5B6AB2B-DE6E-C9BF-93F1-3074BEA31892}"/>
                  </a:ext>
                </a:extLst>
              </p:cNvPr>
              <p:cNvSpPr txBox="1"/>
              <p:nvPr/>
            </p:nvSpPr>
            <p:spPr>
              <a:xfrm>
                <a:off x="114300" y="-57150"/>
                <a:ext cx="1036356" cy="7324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DC845F08-98F2-29C0-6864-7A129877F19B}"/>
                </a:ext>
              </a:extLst>
            </p:cNvPr>
            <p:cNvGrpSpPr/>
            <p:nvPr/>
          </p:nvGrpSpPr>
          <p:grpSpPr>
            <a:xfrm>
              <a:off x="-6524260" y="4988259"/>
              <a:ext cx="16331963" cy="11166685"/>
              <a:chOff x="0" y="0"/>
              <a:chExt cx="975283" cy="666832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FB3F7BC4-7A02-AA1E-A28B-F49EE81B18C8}"/>
                  </a:ext>
                </a:extLst>
              </p:cNvPr>
              <p:cNvSpPr/>
              <p:nvPr/>
            </p:nvSpPr>
            <p:spPr>
              <a:xfrm>
                <a:off x="0" y="0"/>
                <a:ext cx="975283" cy="666832"/>
              </a:xfrm>
              <a:custGeom>
                <a:avLst/>
                <a:gdLst/>
                <a:ahLst/>
                <a:cxnLst/>
                <a:rect l="l" t="t" r="r" b="b"/>
                <a:pathLst>
                  <a:path w="975283" h="666832">
                    <a:moveTo>
                      <a:pt x="975283" y="333416"/>
                    </a:moveTo>
                    <a:lnTo>
                      <a:pt x="772083" y="666832"/>
                    </a:lnTo>
                    <a:lnTo>
                      <a:pt x="203200" y="666832"/>
                    </a:lnTo>
                    <a:lnTo>
                      <a:pt x="0" y="333416"/>
                    </a:lnTo>
                    <a:lnTo>
                      <a:pt x="203200" y="0"/>
                    </a:lnTo>
                    <a:lnTo>
                      <a:pt x="772083" y="0"/>
                    </a:lnTo>
                    <a:lnTo>
                      <a:pt x="975283" y="333416"/>
                    </a:lnTo>
                    <a:close/>
                  </a:path>
                </a:pathLst>
              </a:custGeom>
              <a:blipFill>
                <a:blip r:embed="rId2"/>
                <a:stretch>
                  <a:fillRect l="-5901" t="-8455" r="-25929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705E9F72-F4FE-713E-92E6-351975491ABD}"/>
              </a:ext>
            </a:extLst>
          </p:cNvPr>
          <p:cNvGrpSpPr/>
          <p:nvPr/>
        </p:nvGrpSpPr>
        <p:grpSpPr>
          <a:xfrm>
            <a:off x="18030216" y="-644483"/>
            <a:ext cx="7877784" cy="11575965"/>
            <a:chOff x="0" y="0"/>
            <a:chExt cx="482133" cy="708467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AE0E945E-8131-CA09-E94E-FBCA9119B247}"/>
                </a:ext>
              </a:extLst>
            </p:cNvPr>
            <p:cNvSpPr/>
            <p:nvPr/>
          </p:nvSpPr>
          <p:spPr>
            <a:xfrm>
              <a:off x="0" y="0"/>
              <a:ext cx="482133" cy="708467"/>
            </a:xfrm>
            <a:custGeom>
              <a:avLst/>
              <a:gdLst/>
              <a:ahLst/>
              <a:cxnLst/>
              <a:rect l="l" t="t" r="r" b="b"/>
              <a:pathLst>
                <a:path w="482133" h="708467">
                  <a:moveTo>
                    <a:pt x="482133" y="354233"/>
                  </a:moveTo>
                  <a:lnTo>
                    <a:pt x="278933" y="708467"/>
                  </a:lnTo>
                  <a:lnTo>
                    <a:pt x="203200" y="708467"/>
                  </a:lnTo>
                  <a:lnTo>
                    <a:pt x="0" y="354233"/>
                  </a:lnTo>
                  <a:lnTo>
                    <a:pt x="203200" y="0"/>
                  </a:lnTo>
                  <a:lnTo>
                    <a:pt x="278933" y="0"/>
                  </a:lnTo>
                  <a:lnTo>
                    <a:pt x="482133" y="354233"/>
                  </a:lnTo>
                  <a:close/>
                </a:path>
              </a:pathLst>
            </a:custGeom>
            <a:blipFill>
              <a:blip r:embed="rId3"/>
              <a:stretch>
                <a:fillRect l="-96944" r="-9694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F2E9165D-DBDC-A053-2E63-34C6BC41959A}"/>
              </a:ext>
            </a:extLst>
          </p:cNvPr>
          <p:cNvSpPr txBox="1"/>
          <p:nvPr/>
        </p:nvSpPr>
        <p:spPr>
          <a:xfrm>
            <a:off x="533400" y="1104900"/>
            <a:ext cx="7795779" cy="10182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600"/>
              </a:lnSpc>
            </a:pPr>
            <a:r>
              <a:rPr lang="en-US" sz="8000" b="1" i="1" spc="-232" dirty="0">
                <a:solidFill>
                  <a:srgbClr val="F10505">
                    <a:alpha val="94902"/>
                  </a:srgbClr>
                </a:solidFill>
                <a:latin typeface="Poppins Ultra-Bold Italics"/>
                <a:ea typeface="Poppins Ultra-Bold Italics"/>
                <a:cs typeface="Poppins Ultra-Bold Italics"/>
                <a:sym typeface="Poppins Ultra-Bold Italics"/>
              </a:rPr>
              <a:t>Excel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47EC0362-F04B-B2C7-CA69-CC2CC64CC9AB}"/>
              </a:ext>
            </a:extLst>
          </p:cNvPr>
          <p:cNvSpPr txBox="1"/>
          <p:nvPr/>
        </p:nvSpPr>
        <p:spPr>
          <a:xfrm>
            <a:off x="914400" y="2953475"/>
            <a:ext cx="6477000" cy="497124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just">
              <a:lnSpc>
                <a:spcPts val="3400"/>
              </a:lnSpc>
            </a:pPr>
            <a:r>
              <a:rPr lang="en-US" sz="4800" b="1" dirty="0">
                <a:solidFill>
                  <a:schemeClr val="bg1"/>
                </a:solidFill>
              </a:rPr>
              <a:t>Dashboard</a:t>
            </a:r>
            <a:endParaRPr lang="en-US" sz="4800" b="1" dirty="0">
              <a:solidFill>
                <a:schemeClr val="bg1"/>
              </a:solidFill>
              <a:latin typeface="Poppins"/>
              <a:ea typeface="Poppins"/>
              <a:cs typeface="Poppins"/>
              <a:sym typeface="Poppins Bold"/>
            </a:endParaRPr>
          </a:p>
        </p:txBody>
      </p:sp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D301757D-2D8E-13FA-8184-9461C9F98C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772" y="3450599"/>
            <a:ext cx="7968659" cy="2912101"/>
          </a:xfrm>
          <a:prstGeom prst="roundRect">
            <a:avLst>
              <a:gd name="adj" fmla="val 16667"/>
            </a:avLst>
          </a:prstGeom>
          <a:ln w="76200">
            <a:solidFill>
              <a:srgbClr val="C00000"/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4AF0AC2-4BC8-D178-9476-490999A4B3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5340" y="3417611"/>
            <a:ext cx="7741316" cy="2975569"/>
          </a:xfrm>
          <a:prstGeom prst="roundRect">
            <a:avLst>
              <a:gd name="adj" fmla="val 16667"/>
            </a:avLst>
          </a:prstGeom>
          <a:ln w="76200">
            <a:solidFill>
              <a:srgbClr val="C00000"/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2" name="Content Placeholder 4">
            <a:extLst>
              <a:ext uri="{FF2B5EF4-FFF2-40B4-BE49-F238E27FC236}">
                <a16:creationId xmlns:a16="http://schemas.microsoft.com/office/drawing/2014/main" id="{E6EA3BC3-E59E-1B55-24AC-4E0DC34425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3380" y="6502325"/>
            <a:ext cx="10016537" cy="3760788"/>
          </a:xfrm>
          <a:prstGeom prst="roundRect">
            <a:avLst>
              <a:gd name="adj" fmla="val 16667"/>
            </a:avLst>
          </a:prstGeom>
          <a:ln w="76200">
            <a:solidFill>
              <a:srgbClr val="C00000"/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4" name="Picture 13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59EBBF45-9DE8-155C-DD12-6DE4A1D845F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27965" y="55016"/>
            <a:ext cx="1455298" cy="1337935"/>
          </a:xfrm>
          <a:prstGeom prst="rect">
            <a:avLst/>
          </a:prstGeom>
        </p:spPr>
      </p:pic>
      <p:pic>
        <p:nvPicPr>
          <p:cNvPr id="16" name="Picture 15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93E69110-AF22-3025-FEC5-D6D178F92AD5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863" y="-83970"/>
            <a:ext cx="2326880" cy="1310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644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E51BDB-2D73-D53C-4F16-B9846C83F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3AC58887-6B7D-B5FD-D7B9-3E5297FA8F03}"/>
              </a:ext>
            </a:extLst>
          </p:cNvPr>
          <p:cNvGrpSpPr/>
          <p:nvPr/>
        </p:nvGrpSpPr>
        <p:grpSpPr>
          <a:xfrm>
            <a:off x="-18897600" y="4822306"/>
            <a:ext cx="21288025" cy="11364542"/>
            <a:chOff x="-11299842" y="4822306"/>
            <a:chExt cx="21288025" cy="11364542"/>
          </a:xfrm>
        </p:grpSpPr>
        <p:grpSp>
          <p:nvGrpSpPr>
            <p:cNvPr id="2" name="Group 2">
              <a:extLst>
                <a:ext uri="{FF2B5EF4-FFF2-40B4-BE49-F238E27FC236}">
                  <a16:creationId xmlns:a16="http://schemas.microsoft.com/office/drawing/2014/main" id="{1CD1A752-622B-1407-3CFD-5D778D3A1DD5}"/>
                </a:ext>
              </a:extLst>
            </p:cNvPr>
            <p:cNvGrpSpPr/>
            <p:nvPr/>
          </p:nvGrpSpPr>
          <p:grpSpPr>
            <a:xfrm>
              <a:off x="-11299842" y="4822306"/>
              <a:ext cx="21288025" cy="11364542"/>
              <a:chOff x="0" y="0"/>
              <a:chExt cx="1264956" cy="675293"/>
            </a:xfrm>
          </p:grpSpPr>
          <p:sp>
            <p:nvSpPr>
              <p:cNvPr id="3" name="Freeform 3">
                <a:extLst>
                  <a:ext uri="{FF2B5EF4-FFF2-40B4-BE49-F238E27FC236}">
                    <a16:creationId xmlns:a16="http://schemas.microsoft.com/office/drawing/2014/main" id="{DB5D7C8C-B098-E26F-419C-F70F3C0D328E}"/>
                  </a:ext>
                </a:extLst>
              </p:cNvPr>
              <p:cNvSpPr/>
              <p:nvPr/>
            </p:nvSpPr>
            <p:spPr>
              <a:xfrm>
                <a:off x="0" y="0"/>
                <a:ext cx="1264956" cy="675293"/>
              </a:xfrm>
              <a:custGeom>
                <a:avLst/>
                <a:gdLst/>
                <a:ahLst/>
                <a:cxnLst/>
                <a:rect l="l" t="t" r="r" b="b"/>
                <a:pathLst>
                  <a:path w="1264956" h="675293">
                    <a:moveTo>
                      <a:pt x="1264956" y="337646"/>
                    </a:moveTo>
                    <a:lnTo>
                      <a:pt x="1061756" y="675293"/>
                    </a:lnTo>
                    <a:lnTo>
                      <a:pt x="203200" y="675293"/>
                    </a:lnTo>
                    <a:lnTo>
                      <a:pt x="0" y="337646"/>
                    </a:lnTo>
                    <a:lnTo>
                      <a:pt x="203200" y="0"/>
                    </a:lnTo>
                    <a:lnTo>
                      <a:pt x="1061756" y="0"/>
                    </a:lnTo>
                    <a:lnTo>
                      <a:pt x="1264956" y="33764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C0505">
                      <a:alpha val="100000"/>
                    </a:srgbClr>
                  </a:gs>
                  <a:gs pos="100000">
                    <a:srgbClr val="80000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" name="TextBox 4">
                <a:extLst>
                  <a:ext uri="{FF2B5EF4-FFF2-40B4-BE49-F238E27FC236}">
                    <a16:creationId xmlns:a16="http://schemas.microsoft.com/office/drawing/2014/main" id="{FBFF53C9-D0E4-18E8-6BE4-81374AF24E41}"/>
                  </a:ext>
                </a:extLst>
              </p:cNvPr>
              <p:cNvSpPr txBox="1"/>
              <p:nvPr/>
            </p:nvSpPr>
            <p:spPr>
              <a:xfrm>
                <a:off x="114300" y="-57150"/>
                <a:ext cx="1036356" cy="7324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241F27C7-9B1B-D86C-884A-A1FA339D37B6}"/>
                </a:ext>
              </a:extLst>
            </p:cNvPr>
            <p:cNvGrpSpPr/>
            <p:nvPr/>
          </p:nvGrpSpPr>
          <p:grpSpPr>
            <a:xfrm>
              <a:off x="-6524260" y="4988259"/>
              <a:ext cx="16331963" cy="11166685"/>
              <a:chOff x="0" y="0"/>
              <a:chExt cx="975283" cy="666832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DD9E95DD-9F8A-E68F-F016-391F9539B3FE}"/>
                  </a:ext>
                </a:extLst>
              </p:cNvPr>
              <p:cNvSpPr/>
              <p:nvPr/>
            </p:nvSpPr>
            <p:spPr>
              <a:xfrm>
                <a:off x="0" y="0"/>
                <a:ext cx="975283" cy="666832"/>
              </a:xfrm>
              <a:custGeom>
                <a:avLst/>
                <a:gdLst/>
                <a:ahLst/>
                <a:cxnLst/>
                <a:rect l="l" t="t" r="r" b="b"/>
                <a:pathLst>
                  <a:path w="975283" h="666832">
                    <a:moveTo>
                      <a:pt x="975283" y="333416"/>
                    </a:moveTo>
                    <a:lnTo>
                      <a:pt x="772083" y="666832"/>
                    </a:lnTo>
                    <a:lnTo>
                      <a:pt x="203200" y="666832"/>
                    </a:lnTo>
                    <a:lnTo>
                      <a:pt x="0" y="333416"/>
                    </a:lnTo>
                    <a:lnTo>
                      <a:pt x="203200" y="0"/>
                    </a:lnTo>
                    <a:lnTo>
                      <a:pt x="772083" y="0"/>
                    </a:lnTo>
                    <a:lnTo>
                      <a:pt x="975283" y="333416"/>
                    </a:lnTo>
                    <a:close/>
                  </a:path>
                </a:pathLst>
              </a:custGeom>
              <a:blipFill>
                <a:blip r:embed="rId2"/>
                <a:stretch>
                  <a:fillRect l="-5901" t="-8455" r="-25929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98264C20-CFE1-94C6-AFB3-719FCD23973A}"/>
              </a:ext>
            </a:extLst>
          </p:cNvPr>
          <p:cNvGrpSpPr/>
          <p:nvPr/>
        </p:nvGrpSpPr>
        <p:grpSpPr>
          <a:xfrm>
            <a:off x="18030216" y="-644483"/>
            <a:ext cx="7877784" cy="11575965"/>
            <a:chOff x="0" y="0"/>
            <a:chExt cx="482133" cy="708467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CDEE329-C3CD-FEDA-68F4-285E58D13D5D}"/>
                </a:ext>
              </a:extLst>
            </p:cNvPr>
            <p:cNvSpPr/>
            <p:nvPr/>
          </p:nvSpPr>
          <p:spPr>
            <a:xfrm>
              <a:off x="0" y="0"/>
              <a:ext cx="482133" cy="708467"/>
            </a:xfrm>
            <a:custGeom>
              <a:avLst/>
              <a:gdLst/>
              <a:ahLst/>
              <a:cxnLst/>
              <a:rect l="l" t="t" r="r" b="b"/>
              <a:pathLst>
                <a:path w="482133" h="708467">
                  <a:moveTo>
                    <a:pt x="482133" y="354233"/>
                  </a:moveTo>
                  <a:lnTo>
                    <a:pt x="278933" y="708467"/>
                  </a:lnTo>
                  <a:lnTo>
                    <a:pt x="203200" y="708467"/>
                  </a:lnTo>
                  <a:lnTo>
                    <a:pt x="0" y="354233"/>
                  </a:lnTo>
                  <a:lnTo>
                    <a:pt x="203200" y="0"/>
                  </a:lnTo>
                  <a:lnTo>
                    <a:pt x="278933" y="0"/>
                  </a:lnTo>
                  <a:lnTo>
                    <a:pt x="482133" y="354233"/>
                  </a:lnTo>
                  <a:close/>
                </a:path>
              </a:pathLst>
            </a:custGeom>
            <a:blipFill>
              <a:blip r:embed="rId3"/>
              <a:stretch>
                <a:fillRect l="-96944" r="-9694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3C865C2F-E752-6B0A-F82F-6E878B89AF8A}"/>
              </a:ext>
            </a:extLst>
          </p:cNvPr>
          <p:cNvSpPr txBox="1"/>
          <p:nvPr/>
        </p:nvSpPr>
        <p:spPr>
          <a:xfrm>
            <a:off x="533400" y="1104900"/>
            <a:ext cx="7795779" cy="10182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600"/>
              </a:lnSpc>
            </a:pPr>
            <a:r>
              <a:rPr lang="en-US" sz="8000" b="1" i="1" spc="-232" dirty="0">
                <a:solidFill>
                  <a:srgbClr val="F10505">
                    <a:alpha val="94902"/>
                  </a:srgbClr>
                </a:solidFill>
                <a:latin typeface="Poppins Ultra-Bold Italics"/>
                <a:ea typeface="Poppins Ultra-Bold Italics"/>
                <a:cs typeface="Poppins Ultra-Bold Italics"/>
                <a:sym typeface="Poppins Ultra-Bold Italics"/>
              </a:rPr>
              <a:t>Methodologies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AEB2B6D3-F2E2-2B89-9DEA-F6575895B106}"/>
              </a:ext>
            </a:extLst>
          </p:cNvPr>
          <p:cNvSpPr txBox="1"/>
          <p:nvPr/>
        </p:nvSpPr>
        <p:spPr>
          <a:xfrm>
            <a:off x="914400" y="3165769"/>
            <a:ext cx="1190399" cy="450764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just">
              <a:lnSpc>
                <a:spcPts val="3400"/>
              </a:lnSpc>
            </a:pPr>
            <a:r>
              <a:rPr lang="en-US" sz="32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SQL</a:t>
            </a:r>
            <a:endParaRPr lang="en-US" sz="3200" b="1" dirty="0">
              <a:solidFill>
                <a:srgbClr val="F10505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D2338D59-ADEB-3A86-7ADC-15D8B7596FA4}"/>
              </a:ext>
            </a:extLst>
          </p:cNvPr>
          <p:cNvSpPr txBox="1"/>
          <p:nvPr/>
        </p:nvSpPr>
        <p:spPr>
          <a:xfrm>
            <a:off x="914400" y="3707129"/>
            <a:ext cx="7162800" cy="196977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We did the following using SQL: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200" dirty="0">
                <a:solidFill>
                  <a:schemeClr val="bg1"/>
                </a:solidFill>
              </a:rPr>
              <a:t>Data Modeling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200" dirty="0">
                <a:solidFill>
                  <a:schemeClr val="bg1"/>
                </a:solidFill>
              </a:rPr>
              <a:t>Data Cleaning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200" dirty="0">
                <a:solidFill>
                  <a:schemeClr val="bg1"/>
                </a:solidFill>
              </a:rPr>
              <a:t>Data Analysis and Extracting Insights</a:t>
            </a:r>
          </a:p>
        </p:txBody>
      </p:sp>
      <p:pic>
        <p:nvPicPr>
          <p:cNvPr id="9" name="Picture 8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ABB07CE3-2713-93D5-C32C-B526A89FE09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27965" y="55016"/>
            <a:ext cx="1455298" cy="1337935"/>
          </a:xfrm>
          <a:prstGeom prst="rect">
            <a:avLst/>
          </a:prstGeom>
        </p:spPr>
      </p:pic>
      <p:pic>
        <p:nvPicPr>
          <p:cNvPr id="10" name="Picture 9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4D4EF8E6-E09D-FFAC-7D61-64EC55E7066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863" y="-83970"/>
            <a:ext cx="2326880" cy="1310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160436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3E0368-FCF0-B287-0480-B235023D7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DF687C55-955C-63CA-1646-F7BE74E3FAFA}"/>
              </a:ext>
            </a:extLst>
          </p:cNvPr>
          <p:cNvGrpSpPr/>
          <p:nvPr/>
        </p:nvGrpSpPr>
        <p:grpSpPr>
          <a:xfrm>
            <a:off x="-18897600" y="4822306"/>
            <a:ext cx="21288025" cy="11364542"/>
            <a:chOff x="-11299842" y="4822306"/>
            <a:chExt cx="21288025" cy="11364542"/>
          </a:xfrm>
        </p:grpSpPr>
        <p:grpSp>
          <p:nvGrpSpPr>
            <p:cNvPr id="2" name="Group 2">
              <a:extLst>
                <a:ext uri="{FF2B5EF4-FFF2-40B4-BE49-F238E27FC236}">
                  <a16:creationId xmlns:a16="http://schemas.microsoft.com/office/drawing/2014/main" id="{DB766411-2E0F-4121-FB1B-50F48EB30AEB}"/>
                </a:ext>
              </a:extLst>
            </p:cNvPr>
            <p:cNvGrpSpPr/>
            <p:nvPr/>
          </p:nvGrpSpPr>
          <p:grpSpPr>
            <a:xfrm>
              <a:off x="-11299842" y="4822306"/>
              <a:ext cx="21288025" cy="11364542"/>
              <a:chOff x="0" y="0"/>
              <a:chExt cx="1264956" cy="675293"/>
            </a:xfrm>
          </p:grpSpPr>
          <p:sp>
            <p:nvSpPr>
              <p:cNvPr id="3" name="Freeform 3">
                <a:extLst>
                  <a:ext uri="{FF2B5EF4-FFF2-40B4-BE49-F238E27FC236}">
                    <a16:creationId xmlns:a16="http://schemas.microsoft.com/office/drawing/2014/main" id="{2DBF14C6-137F-C6E6-389D-768285653CCD}"/>
                  </a:ext>
                </a:extLst>
              </p:cNvPr>
              <p:cNvSpPr/>
              <p:nvPr/>
            </p:nvSpPr>
            <p:spPr>
              <a:xfrm>
                <a:off x="0" y="0"/>
                <a:ext cx="1264956" cy="675293"/>
              </a:xfrm>
              <a:custGeom>
                <a:avLst/>
                <a:gdLst/>
                <a:ahLst/>
                <a:cxnLst/>
                <a:rect l="l" t="t" r="r" b="b"/>
                <a:pathLst>
                  <a:path w="1264956" h="675293">
                    <a:moveTo>
                      <a:pt x="1264956" y="337646"/>
                    </a:moveTo>
                    <a:lnTo>
                      <a:pt x="1061756" y="675293"/>
                    </a:lnTo>
                    <a:lnTo>
                      <a:pt x="203200" y="675293"/>
                    </a:lnTo>
                    <a:lnTo>
                      <a:pt x="0" y="337646"/>
                    </a:lnTo>
                    <a:lnTo>
                      <a:pt x="203200" y="0"/>
                    </a:lnTo>
                    <a:lnTo>
                      <a:pt x="1061756" y="0"/>
                    </a:lnTo>
                    <a:lnTo>
                      <a:pt x="1264956" y="33764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C0505">
                      <a:alpha val="100000"/>
                    </a:srgbClr>
                  </a:gs>
                  <a:gs pos="100000">
                    <a:srgbClr val="80000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" name="TextBox 4">
                <a:extLst>
                  <a:ext uri="{FF2B5EF4-FFF2-40B4-BE49-F238E27FC236}">
                    <a16:creationId xmlns:a16="http://schemas.microsoft.com/office/drawing/2014/main" id="{2139343D-6D17-A175-5A45-DD2521186973}"/>
                  </a:ext>
                </a:extLst>
              </p:cNvPr>
              <p:cNvSpPr txBox="1"/>
              <p:nvPr/>
            </p:nvSpPr>
            <p:spPr>
              <a:xfrm>
                <a:off x="114300" y="-57150"/>
                <a:ext cx="1036356" cy="7324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CB8D94CB-582C-7B3E-3743-D5D235E85FE1}"/>
                </a:ext>
              </a:extLst>
            </p:cNvPr>
            <p:cNvGrpSpPr/>
            <p:nvPr/>
          </p:nvGrpSpPr>
          <p:grpSpPr>
            <a:xfrm>
              <a:off x="-6524260" y="4988259"/>
              <a:ext cx="16331963" cy="11166685"/>
              <a:chOff x="0" y="0"/>
              <a:chExt cx="975283" cy="666832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7BFAC6C9-5975-5B7C-BDEF-6A5EC7CF10E3}"/>
                  </a:ext>
                </a:extLst>
              </p:cNvPr>
              <p:cNvSpPr/>
              <p:nvPr/>
            </p:nvSpPr>
            <p:spPr>
              <a:xfrm>
                <a:off x="0" y="0"/>
                <a:ext cx="975283" cy="666832"/>
              </a:xfrm>
              <a:custGeom>
                <a:avLst/>
                <a:gdLst/>
                <a:ahLst/>
                <a:cxnLst/>
                <a:rect l="l" t="t" r="r" b="b"/>
                <a:pathLst>
                  <a:path w="975283" h="666832">
                    <a:moveTo>
                      <a:pt x="975283" y="333416"/>
                    </a:moveTo>
                    <a:lnTo>
                      <a:pt x="772083" y="666832"/>
                    </a:lnTo>
                    <a:lnTo>
                      <a:pt x="203200" y="666832"/>
                    </a:lnTo>
                    <a:lnTo>
                      <a:pt x="0" y="333416"/>
                    </a:lnTo>
                    <a:lnTo>
                      <a:pt x="203200" y="0"/>
                    </a:lnTo>
                    <a:lnTo>
                      <a:pt x="772083" y="0"/>
                    </a:lnTo>
                    <a:lnTo>
                      <a:pt x="975283" y="333416"/>
                    </a:lnTo>
                    <a:close/>
                  </a:path>
                </a:pathLst>
              </a:custGeom>
              <a:blipFill>
                <a:blip r:embed="rId2"/>
                <a:stretch>
                  <a:fillRect l="-5901" t="-8455" r="-25929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E4631BEF-9C24-A93A-7A68-C4F92FD804B8}"/>
              </a:ext>
            </a:extLst>
          </p:cNvPr>
          <p:cNvGrpSpPr/>
          <p:nvPr/>
        </p:nvGrpSpPr>
        <p:grpSpPr>
          <a:xfrm>
            <a:off x="18030216" y="-644483"/>
            <a:ext cx="7877784" cy="11575965"/>
            <a:chOff x="0" y="0"/>
            <a:chExt cx="482133" cy="708467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B032C630-B330-B380-0668-805FF884993D}"/>
                </a:ext>
              </a:extLst>
            </p:cNvPr>
            <p:cNvSpPr/>
            <p:nvPr/>
          </p:nvSpPr>
          <p:spPr>
            <a:xfrm>
              <a:off x="0" y="0"/>
              <a:ext cx="482133" cy="708467"/>
            </a:xfrm>
            <a:custGeom>
              <a:avLst/>
              <a:gdLst/>
              <a:ahLst/>
              <a:cxnLst/>
              <a:rect l="l" t="t" r="r" b="b"/>
              <a:pathLst>
                <a:path w="482133" h="708467">
                  <a:moveTo>
                    <a:pt x="482133" y="354233"/>
                  </a:moveTo>
                  <a:lnTo>
                    <a:pt x="278933" y="708467"/>
                  </a:lnTo>
                  <a:lnTo>
                    <a:pt x="203200" y="708467"/>
                  </a:lnTo>
                  <a:lnTo>
                    <a:pt x="0" y="354233"/>
                  </a:lnTo>
                  <a:lnTo>
                    <a:pt x="203200" y="0"/>
                  </a:lnTo>
                  <a:lnTo>
                    <a:pt x="278933" y="0"/>
                  </a:lnTo>
                  <a:lnTo>
                    <a:pt x="482133" y="354233"/>
                  </a:lnTo>
                  <a:close/>
                </a:path>
              </a:pathLst>
            </a:custGeom>
            <a:blipFill>
              <a:blip r:embed="rId3"/>
              <a:stretch>
                <a:fillRect l="-96944" r="-9694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2748129B-47F0-57F3-AFEC-5FDCDA8E7EC6}"/>
              </a:ext>
            </a:extLst>
          </p:cNvPr>
          <p:cNvSpPr txBox="1"/>
          <p:nvPr/>
        </p:nvSpPr>
        <p:spPr>
          <a:xfrm>
            <a:off x="533400" y="1104900"/>
            <a:ext cx="7795779" cy="10182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600"/>
              </a:lnSpc>
            </a:pPr>
            <a:r>
              <a:rPr lang="en-US" sz="8000" b="1" i="1" spc="-232" dirty="0">
                <a:solidFill>
                  <a:srgbClr val="F10505">
                    <a:alpha val="94902"/>
                  </a:srgbClr>
                </a:solidFill>
                <a:latin typeface="Poppins Ultra-Bold Italics"/>
                <a:ea typeface="Poppins Ultra-Bold Italics"/>
                <a:cs typeface="Poppins Ultra-Bold Italics"/>
                <a:sym typeface="Poppins Ultra-Bold Italics"/>
              </a:rPr>
              <a:t>SQL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1B1A37F0-7508-55C0-1804-CA9574F55A7D}"/>
              </a:ext>
            </a:extLst>
          </p:cNvPr>
          <p:cNvSpPr txBox="1"/>
          <p:nvPr/>
        </p:nvSpPr>
        <p:spPr>
          <a:xfrm>
            <a:off x="724044" y="2292109"/>
            <a:ext cx="4990955" cy="440442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just">
              <a:lnSpc>
                <a:spcPts val="3400"/>
              </a:lnSpc>
            </a:pPr>
            <a:r>
              <a:rPr lang="en-US" sz="3200" b="1" dirty="0">
                <a:solidFill>
                  <a:schemeClr val="bg1"/>
                </a:solidFill>
              </a:rPr>
              <a:t>Data Cleaning</a:t>
            </a:r>
            <a:endParaRPr lang="en-US" sz="3200" b="1" dirty="0">
              <a:solidFill>
                <a:schemeClr val="bg1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2CBC90AA-CE9D-31CF-920D-C7DF43F23747}"/>
              </a:ext>
            </a:extLst>
          </p:cNvPr>
          <p:cNvSpPr txBox="1"/>
          <p:nvPr/>
        </p:nvSpPr>
        <p:spPr>
          <a:xfrm>
            <a:off x="724044" y="3306743"/>
            <a:ext cx="8800957" cy="2462213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We did the following:</a:t>
            </a:r>
          </a:p>
          <a:p>
            <a:endParaRPr lang="en-US" sz="3200" dirty="0">
              <a:solidFill>
                <a:schemeClr val="bg1"/>
              </a:solidFill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sz="3200" dirty="0">
                <a:solidFill>
                  <a:schemeClr val="bg1"/>
                </a:solidFill>
              </a:rPr>
              <a:t>Check duplicate data and remove them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200" dirty="0">
                <a:solidFill>
                  <a:schemeClr val="bg1"/>
                </a:solidFill>
              </a:rPr>
              <a:t>Check missed data and replace them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200" dirty="0">
                <a:solidFill>
                  <a:schemeClr val="bg1"/>
                </a:solidFill>
              </a:rPr>
              <a:t>Add some new columns to make some calculations.</a:t>
            </a:r>
          </a:p>
        </p:txBody>
      </p:sp>
      <p:pic>
        <p:nvPicPr>
          <p:cNvPr id="11" name="Picture 10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510D3583-CCC1-0395-F516-61398164CEA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27965" y="55016"/>
            <a:ext cx="1455298" cy="1337935"/>
          </a:xfrm>
          <a:prstGeom prst="rect">
            <a:avLst/>
          </a:prstGeom>
        </p:spPr>
      </p:pic>
      <p:pic>
        <p:nvPicPr>
          <p:cNvPr id="12" name="Picture 1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CF7882C9-4E4A-E2DB-D428-D9055CDE28E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863" y="-83970"/>
            <a:ext cx="2326880" cy="1310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1867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C6B967-8399-7847-DE07-97EC7BB78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5D158243-F886-BF9D-3809-8AB49957B509}"/>
              </a:ext>
            </a:extLst>
          </p:cNvPr>
          <p:cNvGrpSpPr/>
          <p:nvPr/>
        </p:nvGrpSpPr>
        <p:grpSpPr>
          <a:xfrm>
            <a:off x="-18897600" y="4822306"/>
            <a:ext cx="21288025" cy="11364542"/>
            <a:chOff x="-11299842" y="4822306"/>
            <a:chExt cx="21288025" cy="11364542"/>
          </a:xfrm>
        </p:grpSpPr>
        <p:grpSp>
          <p:nvGrpSpPr>
            <p:cNvPr id="2" name="Group 2">
              <a:extLst>
                <a:ext uri="{FF2B5EF4-FFF2-40B4-BE49-F238E27FC236}">
                  <a16:creationId xmlns:a16="http://schemas.microsoft.com/office/drawing/2014/main" id="{9793F4BB-80B2-E217-64DD-1B1C72B18EC5}"/>
                </a:ext>
              </a:extLst>
            </p:cNvPr>
            <p:cNvGrpSpPr/>
            <p:nvPr/>
          </p:nvGrpSpPr>
          <p:grpSpPr>
            <a:xfrm>
              <a:off x="-11299842" y="4822306"/>
              <a:ext cx="21288025" cy="11364542"/>
              <a:chOff x="0" y="0"/>
              <a:chExt cx="1264956" cy="675293"/>
            </a:xfrm>
          </p:grpSpPr>
          <p:sp>
            <p:nvSpPr>
              <p:cNvPr id="3" name="Freeform 3">
                <a:extLst>
                  <a:ext uri="{FF2B5EF4-FFF2-40B4-BE49-F238E27FC236}">
                    <a16:creationId xmlns:a16="http://schemas.microsoft.com/office/drawing/2014/main" id="{8647A9FE-68CD-5334-EF23-BDB02C4FBC14}"/>
                  </a:ext>
                </a:extLst>
              </p:cNvPr>
              <p:cNvSpPr/>
              <p:nvPr/>
            </p:nvSpPr>
            <p:spPr>
              <a:xfrm>
                <a:off x="0" y="0"/>
                <a:ext cx="1264956" cy="675293"/>
              </a:xfrm>
              <a:custGeom>
                <a:avLst/>
                <a:gdLst/>
                <a:ahLst/>
                <a:cxnLst/>
                <a:rect l="l" t="t" r="r" b="b"/>
                <a:pathLst>
                  <a:path w="1264956" h="675293">
                    <a:moveTo>
                      <a:pt x="1264956" y="337646"/>
                    </a:moveTo>
                    <a:lnTo>
                      <a:pt x="1061756" y="675293"/>
                    </a:lnTo>
                    <a:lnTo>
                      <a:pt x="203200" y="675293"/>
                    </a:lnTo>
                    <a:lnTo>
                      <a:pt x="0" y="337646"/>
                    </a:lnTo>
                    <a:lnTo>
                      <a:pt x="203200" y="0"/>
                    </a:lnTo>
                    <a:lnTo>
                      <a:pt x="1061756" y="0"/>
                    </a:lnTo>
                    <a:lnTo>
                      <a:pt x="1264956" y="33764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C0505">
                      <a:alpha val="100000"/>
                    </a:srgbClr>
                  </a:gs>
                  <a:gs pos="100000">
                    <a:srgbClr val="80000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" name="TextBox 4">
                <a:extLst>
                  <a:ext uri="{FF2B5EF4-FFF2-40B4-BE49-F238E27FC236}">
                    <a16:creationId xmlns:a16="http://schemas.microsoft.com/office/drawing/2014/main" id="{BC310284-6CA3-1696-BF2D-838E7C31BFB2}"/>
                  </a:ext>
                </a:extLst>
              </p:cNvPr>
              <p:cNvSpPr txBox="1"/>
              <p:nvPr/>
            </p:nvSpPr>
            <p:spPr>
              <a:xfrm>
                <a:off x="114300" y="-57150"/>
                <a:ext cx="1036356" cy="7324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A441EE1F-F0D2-6AB5-1124-8AFC33F53975}"/>
                </a:ext>
              </a:extLst>
            </p:cNvPr>
            <p:cNvGrpSpPr/>
            <p:nvPr/>
          </p:nvGrpSpPr>
          <p:grpSpPr>
            <a:xfrm>
              <a:off x="-6524260" y="4988259"/>
              <a:ext cx="16331963" cy="11166685"/>
              <a:chOff x="0" y="0"/>
              <a:chExt cx="975283" cy="666832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2D99DA50-B80D-4811-27BB-E8BA1A9819B6}"/>
                  </a:ext>
                </a:extLst>
              </p:cNvPr>
              <p:cNvSpPr/>
              <p:nvPr/>
            </p:nvSpPr>
            <p:spPr>
              <a:xfrm>
                <a:off x="0" y="0"/>
                <a:ext cx="975283" cy="666832"/>
              </a:xfrm>
              <a:custGeom>
                <a:avLst/>
                <a:gdLst/>
                <a:ahLst/>
                <a:cxnLst/>
                <a:rect l="l" t="t" r="r" b="b"/>
                <a:pathLst>
                  <a:path w="975283" h="666832">
                    <a:moveTo>
                      <a:pt x="975283" y="333416"/>
                    </a:moveTo>
                    <a:lnTo>
                      <a:pt x="772083" y="666832"/>
                    </a:lnTo>
                    <a:lnTo>
                      <a:pt x="203200" y="666832"/>
                    </a:lnTo>
                    <a:lnTo>
                      <a:pt x="0" y="333416"/>
                    </a:lnTo>
                    <a:lnTo>
                      <a:pt x="203200" y="0"/>
                    </a:lnTo>
                    <a:lnTo>
                      <a:pt x="772083" y="0"/>
                    </a:lnTo>
                    <a:lnTo>
                      <a:pt x="975283" y="333416"/>
                    </a:lnTo>
                    <a:close/>
                  </a:path>
                </a:pathLst>
              </a:custGeom>
              <a:blipFill>
                <a:blip r:embed="rId2"/>
                <a:stretch>
                  <a:fillRect l="-5901" t="-8455" r="-25929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E0A2D9B5-8EB9-4481-1A3C-BCEB27F53DD7}"/>
              </a:ext>
            </a:extLst>
          </p:cNvPr>
          <p:cNvGrpSpPr/>
          <p:nvPr/>
        </p:nvGrpSpPr>
        <p:grpSpPr>
          <a:xfrm>
            <a:off x="18030216" y="-644483"/>
            <a:ext cx="7877784" cy="11575965"/>
            <a:chOff x="0" y="0"/>
            <a:chExt cx="482133" cy="708467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AF6D1F4-AABB-EC6B-4C8A-5F370D7AD004}"/>
                </a:ext>
              </a:extLst>
            </p:cNvPr>
            <p:cNvSpPr/>
            <p:nvPr/>
          </p:nvSpPr>
          <p:spPr>
            <a:xfrm>
              <a:off x="0" y="0"/>
              <a:ext cx="482133" cy="708467"/>
            </a:xfrm>
            <a:custGeom>
              <a:avLst/>
              <a:gdLst/>
              <a:ahLst/>
              <a:cxnLst/>
              <a:rect l="l" t="t" r="r" b="b"/>
              <a:pathLst>
                <a:path w="482133" h="708467">
                  <a:moveTo>
                    <a:pt x="482133" y="354233"/>
                  </a:moveTo>
                  <a:lnTo>
                    <a:pt x="278933" y="708467"/>
                  </a:lnTo>
                  <a:lnTo>
                    <a:pt x="203200" y="708467"/>
                  </a:lnTo>
                  <a:lnTo>
                    <a:pt x="0" y="354233"/>
                  </a:lnTo>
                  <a:lnTo>
                    <a:pt x="203200" y="0"/>
                  </a:lnTo>
                  <a:lnTo>
                    <a:pt x="278933" y="0"/>
                  </a:lnTo>
                  <a:lnTo>
                    <a:pt x="482133" y="354233"/>
                  </a:lnTo>
                  <a:close/>
                </a:path>
              </a:pathLst>
            </a:custGeom>
            <a:blipFill>
              <a:blip r:embed="rId3"/>
              <a:stretch>
                <a:fillRect l="-96944" r="-9694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49628742-A0A0-158A-E373-922F0323E49E}"/>
              </a:ext>
            </a:extLst>
          </p:cNvPr>
          <p:cNvSpPr txBox="1"/>
          <p:nvPr/>
        </p:nvSpPr>
        <p:spPr>
          <a:xfrm>
            <a:off x="533400" y="1104900"/>
            <a:ext cx="7795779" cy="10182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600"/>
              </a:lnSpc>
            </a:pPr>
            <a:r>
              <a:rPr lang="en-US" sz="8000" b="1" i="1" spc="-232" dirty="0">
                <a:solidFill>
                  <a:srgbClr val="F10505">
                    <a:alpha val="94902"/>
                  </a:srgbClr>
                </a:solidFill>
                <a:latin typeface="Poppins Ultra-Bold Italics"/>
                <a:ea typeface="Poppins Ultra-Bold Italics"/>
                <a:cs typeface="Poppins Ultra-Bold Italics"/>
                <a:sym typeface="Poppins Ultra-Bold Italics"/>
              </a:rPr>
              <a:t>SQL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A2694BBA-4717-8B8A-741D-3C5E4B1DD3FC}"/>
              </a:ext>
            </a:extLst>
          </p:cNvPr>
          <p:cNvSpPr txBox="1"/>
          <p:nvPr/>
        </p:nvSpPr>
        <p:spPr>
          <a:xfrm>
            <a:off x="724045" y="2319560"/>
            <a:ext cx="2971800" cy="440442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just">
              <a:lnSpc>
                <a:spcPts val="3400"/>
              </a:lnSpc>
            </a:pPr>
            <a:r>
              <a:rPr lang="en-US" sz="3200" b="1" dirty="0">
                <a:solidFill>
                  <a:schemeClr val="bg1"/>
                </a:solidFill>
              </a:rPr>
              <a:t>Data Modeling</a:t>
            </a:r>
            <a:endParaRPr lang="en-US" sz="3200" b="1" dirty="0">
              <a:solidFill>
                <a:schemeClr val="bg1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pic>
        <p:nvPicPr>
          <p:cNvPr id="9" name="Content Placeholder 4">
            <a:extLst>
              <a:ext uri="{FF2B5EF4-FFF2-40B4-BE49-F238E27FC236}">
                <a16:creationId xmlns:a16="http://schemas.microsoft.com/office/drawing/2014/main" id="{B29ED1E3-71BA-FDBE-361B-CB7DE08040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9019" y="3314700"/>
            <a:ext cx="15240000" cy="6151445"/>
          </a:xfrm>
          <a:prstGeom prst="roundRect">
            <a:avLst>
              <a:gd name="adj" fmla="val 16667"/>
            </a:avLst>
          </a:prstGeom>
          <a:ln w="76200">
            <a:solidFill>
              <a:srgbClr val="C00000"/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0" name="Picture 9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8D23632D-1DEB-8A7A-4357-B2163F24E86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27965" y="55016"/>
            <a:ext cx="1455298" cy="1337935"/>
          </a:xfrm>
          <a:prstGeom prst="rect">
            <a:avLst/>
          </a:prstGeom>
        </p:spPr>
      </p:pic>
      <p:pic>
        <p:nvPicPr>
          <p:cNvPr id="11" name="Picture 10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7E945027-78DC-10A0-8754-31A3CEFD2AC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863" y="-83970"/>
            <a:ext cx="2326880" cy="1310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402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AF69C5-CA66-4725-47B7-9C1A1F729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28691133-E012-5E79-F9C2-5E4376D5DB2C}"/>
              </a:ext>
            </a:extLst>
          </p:cNvPr>
          <p:cNvGrpSpPr/>
          <p:nvPr/>
        </p:nvGrpSpPr>
        <p:grpSpPr>
          <a:xfrm>
            <a:off x="-18897600" y="4822306"/>
            <a:ext cx="21288025" cy="11364542"/>
            <a:chOff x="-11299842" y="4822306"/>
            <a:chExt cx="21288025" cy="11364542"/>
          </a:xfrm>
        </p:grpSpPr>
        <p:grpSp>
          <p:nvGrpSpPr>
            <p:cNvPr id="2" name="Group 2">
              <a:extLst>
                <a:ext uri="{FF2B5EF4-FFF2-40B4-BE49-F238E27FC236}">
                  <a16:creationId xmlns:a16="http://schemas.microsoft.com/office/drawing/2014/main" id="{94050B0C-96B1-9B93-6270-00AF85185E79}"/>
                </a:ext>
              </a:extLst>
            </p:cNvPr>
            <p:cNvGrpSpPr/>
            <p:nvPr/>
          </p:nvGrpSpPr>
          <p:grpSpPr>
            <a:xfrm>
              <a:off x="-11299842" y="4822306"/>
              <a:ext cx="21288025" cy="11364542"/>
              <a:chOff x="0" y="0"/>
              <a:chExt cx="1264956" cy="675293"/>
            </a:xfrm>
          </p:grpSpPr>
          <p:sp>
            <p:nvSpPr>
              <p:cNvPr id="3" name="Freeform 3">
                <a:extLst>
                  <a:ext uri="{FF2B5EF4-FFF2-40B4-BE49-F238E27FC236}">
                    <a16:creationId xmlns:a16="http://schemas.microsoft.com/office/drawing/2014/main" id="{538EA5D6-70A2-FAF0-8013-40DD042F8667}"/>
                  </a:ext>
                </a:extLst>
              </p:cNvPr>
              <p:cNvSpPr/>
              <p:nvPr/>
            </p:nvSpPr>
            <p:spPr>
              <a:xfrm>
                <a:off x="0" y="0"/>
                <a:ext cx="1264956" cy="675293"/>
              </a:xfrm>
              <a:custGeom>
                <a:avLst/>
                <a:gdLst/>
                <a:ahLst/>
                <a:cxnLst/>
                <a:rect l="l" t="t" r="r" b="b"/>
                <a:pathLst>
                  <a:path w="1264956" h="675293">
                    <a:moveTo>
                      <a:pt x="1264956" y="337646"/>
                    </a:moveTo>
                    <a:lnTo>
                      <a:pt x="1061756" y="675293"/>
                    </a:lnTo>
                    <a:lnTo>
                      <a:pt x="203200" y="675293"/>
                    </a:lnTo>
                    <a:lnTo>
                      <a:pt x="0" y="337646"/>
                    </a:lnTo>
                    <a:lnTo>
                      <a:pt x="203200" y="0"/>
                    </a:lnTo>
                    <a:lnTo>
                      <a:pt x="1061756" y="0"/>
                    </a:lnTo>
                    <a:lnTo>
                      <a:pt x="1264956" y="33764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C0505">
                      <a:alpha val="100000"/>
                    </a:srgbClr>
                  </a:gs>
                  <a:gs pos="100000">
                    <a:srgbClr val="80000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" name="TextBox 4">
                <a:extLst>
                  <a:ext uri="{FF2B5EF4-FFF2-40B4-BE49-F238E27FC236}">
                    <a16:creationId xmlns:a16="http://schemas.microsoft.com/office/drawing/2014/main" id="{443F53E7-C741-9A86-F1CA-58FF0F52CDF8}"/>
                  </a:ext>
                </a:extLst>
              </p:cNvPr>
              <p:cNvSpPr txBox="1"/>
              <p:nvPr/>
            </p:nvSpPr>
            <p:spPr>
              <a:xfrm>
                <a:off x="114300" y="-57150"/>
                <a:ext cx="1036356" cy="7324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209D436B-E738-F853-95AF-3A8CA63EDAC1}"/>
                </a:ext>
              </a:extLst>
            </p:cNvPr>
            <p:cNvGrpSpPr/>
            <p:nvPr/>
          </p:nvGrpSpPr>
          <p:grpSpPr>
            <a:xfrm>
              <a:off x="-6524260" y="4988259"/>
              <a:ext cx="16331963" cy="11166685"/>
              <a:chOff x="0" y="0"/>
              <a:chExt cx="975283" cy="666832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EADF44AC-55DE-882A-1108-A65585AF2816}"/>
                  </a:ext>
                </a:extLst>
              </p:cNvPr>
              <p:cNvSpPr/>
              <p:nvPr/>
            </p:nvSpPr>
            <p:spPr>
              <a:xfrm>
                <a:off x="0" y="0"/>
                <a:ext cx="975283" cy="666832"/>
              </a:xfrm>
              <a:custGeom>
                <a:avLst/>
                <a:gdLst/>
                <a:ahLst/>
                <a:cxnLst/>
                <a:rect l="l" t="t" r="r" b="b"/>
                <a:pathLst>
                  <a:path w="975283" h="666832">
                    <a:moveTo>
                      <a:pt x="975283" y="333416"/>
                    </a:moveTo>
                    <a:lnTo>
                      <a:pt x="772083" y="666832"/>
                    </a:lnTo>
                    <a:lnTo>
                      <a:pt x="203200" y="666832"/>
                    </a:lnTo>
                    <a:lnTo>
                      <a:pt x="0" y="333416"/>
                    </a:lnTo>
                    <a:lnTo>
                      <a:pt x="203200" y="0"/>
                    </a:lnTo>
                    <a:lnTo>
                      <a:pt x="772083" y="0"/>
                    </a:lnTo>
                    <a:lnTo>
                      <a:pt x="975283" y="333416"/>
                    </a:lnTo>
                    <a:close/>
                  </a:path>
                </a:pathLst>
              </a:custGeom>
              <a:blipFill>
                <a:blip r:embed="rId2"/>
                <a:stretch>
                  <a:fillRect l="-5901" t="-8455" r="-25929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D64F0537-9816-1E63-F965-5484BA97FB49}"/>
              </a:ext>
            </a:extLst>
          </p:cNvPr>
          <p:cNvGrpSpPr/>
          <p:nvPr/>
        </p:nvGrpSpPr>
        <p:grpSpPr>
          <a:xfrm>
            <a:off x="18030216" y="-644483"/>
            <a:ext cx="7877784" cy="11575965"/>
            <a:chOff x="0" y="0"/>
            <a:chExt cx="482133" cy="708467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FC9F1507-DBF6-9970-66FF-B458F22F9B80}"/>
                </a:ext>
              </a:extLst>
            </p:cNvPr>
            <p:cNvSpPr/>
            <p:nvPr/>
          </p:nvSpPr>
          <p:spPr>
            <a:xfrm>
              <a:off x="0" y="0"/>
              <a:ext cx="482133" cy="708467"/>
            </a:xfrm>
            <a:custGeom>
              <a:avLst/>
              <a:gdLst/>
              <a:ahLst/>
              <a:cxnLst/>
              <a:rect l="l" t="t" r="r" b="b"/>
              <a:pathLst>
                <a:path w="482133" h="708467">
                  <a:moveTo>
                    <a:pt x="482133" y="354233"/>
                  </a:moveTo>
                  <a:lnTo>
                    <a:pt x="278933" y="708467"/>
                  </a:lnTo>
                  <a:lnTo>
                    <a:pt x="203200" y="708467"/>
                  </a:lnTo>
                  <a:lnTo>
                    <a:pt x="0" y="354233"/>
                  </a:lnTo>
                  <a:lnTo>
                    <a:pt x="203200" y="0"/>
                  </a:lnTo>
                  <a:lnTo>
                    <a:pt x="278933" y="0"/>
                  </a:lnTo>
                  <a:lnTo>
                    <a:pt x="482133" y="354233"/>
                  </a:lnTo>
                  <a:close/>
                </a:path>
              </a:pathLst>
            </a:custGeom>
            <a:blipFill>
              <a:blip r:embed="rId3"/>
              <a:stretch>
                <a:fillRect l="-96944" r="-9694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2C2CF3AF-9235-DECE-9AFF-FF339A7C6C49}"/>
              </a:ext>
            </a:extLst>
          </p:cNvPr>
          <p:cNvSpPr txBox="1"/>
          <p:nvPr/>
        </p:nvSpPr>
        <p:spPr>
          <a:xfrm>
            <a:off x="533400" y="1104900"/>
            <a:ext cx="7795779" cy="10182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600"/>
              </a:lnSpc>
            </a:pPr>
            <a:r>
              <a:rPr lang="en-US" sz="8000" b="1" i="1" spc="-232" dirty="0">
                <a:solidFill>
                  <a:srgbClr val="F10505">
                    <a:alpha val="94902"/>
                  </a:srgbClr>
                </a:solidFill>
                <a:latin typeface="Poppins Ultra-Bold Italics"/>
                <a:ea typeface="Poppins Ultra-Bold Italics"/>
                <a:cs typeface="Poppins Ultra-Bold Italics"/>
                <a:sym typeface="Poppins Ultra-Bold Italics"/>
              </a:rPr>
              <a:t>SQL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19F79E81-92F5-CACE-D40F-AE40C2CB52A7}"/>
              </a:ext>
            </a:extLst>
          </p:cNvPr>
          <p:cNvSpPr txBox="1"/>
          <p:nvPr/>
        </p:nvSpPr>
        <p:spPr>
          <a:xfrm>
            <a:off x="724045" y="2319560"/>
            <a:ext cx="2971800" cy="440442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just">
              <a:lnSpc>
                <a:spcPts val="3400"/>
              </a:lnSpc>
            </a:pPr>
            <a:r>
              <a:rPr lang="en-US" sz="3200" b="1" dirty="0">
                <a:solidFill>
                  <a:schemeClr val="bg1"/>
                </a:solidFill>
              </a:rPr>
              <a:t>Data Analysis</a:t>
            </a:r>
            <a:endParaRPr lang="en-US" sz="3200" b="1" dirty="0">
              <a:solidFill>
                <a:schemeClr val="bg1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1" name="TextBox 15">
            <a:extLst>
              <a:ext uri="{FF2B5EF4-FFF2-40B4-BE49-F238E27FC236}">
                <a16:creationId xmlns:a16="http://schemas.microsoft.com/office/drawing/2014/main" id="{DCC4C4AC-CB3B-2B67-0963-B75C54E069A1}"/>
              </a:ext>
            </a:extLst>
          </p:cNvPr>
          <p:cNvSpPr txBox="1"/>
          <p:nvPr/>
        </p:nvSpPr>
        <p:spPr>
          <a:xfrm>
            <a:off x="1066800" y="3106622"/>
            <a:ext cx="10896600" cy="492443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what are models that makes most sales orders ?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D72CEDE-F892-E38E-EAC0-719EA0E670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6171" y="4147331"/>
            <a:ext cx="15579910" cy="4621255"/>
          </a:xfrm>
          <a:prstGeom prst="roundRect">
            <a:avLst>
              <a:gd name="adj" fmla="val 16667"/>
            </a:avLst>
          </a:prstGeom>
          <a:ln w="76200">
            <a:solidFill>
              <a:srgbClr val="C00000"/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4" name="Picture 13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3ECA17F0-212B-7B40-B0F2-CCCAF5D1A98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27965" y="55016"/>
            <a:ext cx="1455298" cy="1337935"/>
          </a:xfrm>
          <a:prstGeom prst="rect">
            <a:avLst/>
          </a:prstGeom>
        </p:spPr>
      </p:pic>
      <p:pic>
        <p:nvPicPr>
          <p:cNvPr id="16" name="Picture 15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AF86227B-6C1F-A45E-8517-68856F7D669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863" y="-83970"/>
            <a:ext cx="2326880" cy="1310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118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5E7E58-EDCA-D424-E678-1068F4E2D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B69731C8-1B4F-7FD2-2969-9028CDBB6842}"/>
              </a:ext>
            </a:extLst>
          </p:cNvPr>
          <p:cNvGrpSpPr/>
          <p:nvPr/>
        </p:nvGrpSpPr>
        <p:grpSpPr>
          <a:xfrm>
            <a:off x="-18897600" y="4822306"/>
            <a:ext cx="21288025" cy="11364542"/>
            <a:chOff x="-11299842" y="4822306"/>
            <a:chExt cx="21288025" cy="11364542"/>
          </a:xfrm>
        </p:grpSpPr>
        <p:grpSp>
          <p:nvGrpSpPr>
            <p:cNvPr id="2" name="Group 2">
              <a:extLst>
                <a:ext uri="{FF2B5EF4-FFF2-40B4-BE49-F238E27FC236}">
                  <a16:creationId xmlns:a16="http://schemas.microsoft.com/office/drawing/2014/main" id="{98035147-1528-D869-B8DA-CC7D4E9DEA35}"/>
                </a:ext>
              </a:extLst>
            </p:cNvPr>
            <p:cNvGrpSpPr/>
            <p:nvPr/>
          </p:nvGrpSpPr>
          <p:grpSpPr>
            <a:xfrm>
              <a:off x="-11299842" y="4822306"/>
              <a:ext cx="21288025" cy="11364542"/>
              <a:chOff x="0" y="0"/>
              <a:chExt cx="1264956" cy="675293"/>
            </a:xfrm>
          </p:grpSpPr>
          <p:sp>
            <p:nvSpPr>
              <p:cNvPr id="3" name="Freeform 3">
                <a:extLst>
                  <a:ext uri="{FF2B5EF4-FFF2-40B4-BE49-F238E27FC236}">
                    <a16:creationId xmlns:a16="http://schemas.microsoft.com/office/drawing/2014/main" id="{FC783752-D0A0-E26E-59E7-5A97F2465617}"/>
                  </a:ext>
                </a:extLst>
              </p:cNvPr>
              <p:cNvSpPr/>
              <p:nvPr/>
            </p:nvSpPr>
            <p:spPr>
              <a:xfrm>
                <a:off x="0" y="0"/>
                <a:ext cx="1264956" cy="675293"/>
              </a:xfrm>
              <a:custGeom>
                <a:avLst/>
                <a:gdLst/>
                <a:ahLst/>
                <a:cxnLst/>
                <a:rect l="l" t="t" r="r" b="b"/>
                <a:pathLst>
                  <a:path w="1264956" h="675293">
                    <a:moveTo>
                      <a:pt x="1264956" y="337646"/>
                    </a:moveTo>
                    <a:lnTo>
                      <a:pt x="1061756" y="675293"/>
                    </a:lnTo>
                    <a:lnTo>
                      <a:pt x="203200" y="675293"/>
                    </a:lnTo>
                    <a:lnTo>
                      <a:pt x="0" y="337646"/>
                    </a:lnTo>
                    <a:lnTo>
                      <a:pt x="203200" y="0"/>
                    </a:lnTo>
                    <a:lnTo>
                      <a:pt x="1061756" y="0"/>
                    </a:lnTo>
                    <a:lnTo>
                      <a:pt x="1264956" y="33764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C0505">
                      <a:alpha val="100000"/>
                    </a:srgbClr>
                  </a:gs>
                  <a:gs pos="100000">
                    <a:srgbClr val="80000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" name="TextBox 4">
                <a:extLst>
                  <a:ext uri="{FF2B5EF4-FFF2-40B4-BE49-F238E27FC236}">
                    <a16:creationId xmlns:a16="http://schemas.microsoft.com/office/drawing/2014/main" id="{645D2F86-D206-52F4-0754-969A5C64FB82}"/>
                  </a:ext>
                </a:extLst>
              </p:cNvPr>
              <p:cNvSpPr txBox="1"/>
              <p:nvPr/>
            </p:nvSpPr>
            <p:spPr>
              <a:xfrm>
                <a:off x="114300" y="-57150"/>
                <a:ext cx="1036356" cy="7324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F933B915-8D24-5E33-50EA-E06726351579}"/>
                </a:ext>
              </a:extLst>
            </p:cNvPr>
            <p:cNvGrpSpPr/>
            <p:nvPr/>
          </p:nvGrpSpPr>
          <p:grpSpPr>
            <a:xfrm>
              <a:off x="-6524260" y="4988259"/>
              <a:ext cx="16331963" cy="11166685"/>
              <a:chOff x="0" y="0"/>
              <a:chExt cx="975283" cy="666832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77E0ED93-5E52-A544-7DA8-01A236B7FEC4}"/>
                  </a:ext>
                </a:extLst>
              </p:cNvPr>
              <p:cNvSpPr/>
              <p:nvPr/>
            </p:nvSpPr>
            <p:spPr>
              <a:xfrm>
                <a:off x="0" y="0"/>
                <a:ext cx="975283" cy="666832"/>
              </a:xfrm>
              <a:custGeom>
                <a:avLst/>
                <a:gdLst/>
                <a:ahLst/>
                <a:cxnLst/>
                <a:rect l="l" t="t" r="r" b="b"/>
                <a:pathLst>
                  <a:path w="975283" h="666832">
                    <a:moveTo>
                      <a:pt x="975283" y="333416"/>
                    </a:moveTo>
                    <a:lnTo>
                      <a:pt x="772083" y="666832"/>
                    </a:lnTo>
                    <a:lnTo>
                      <a:pt x="203200" y="666832"/>
                    </a:lnTo>
                    <a:lnTo>
                      <a:pt x="0" y="333416"/>
                    </a:lnTo>
                    <a:lnTo>
                      <a:pt x="203200" y="0"/>
                    </a:lnTo>
                    <a:lnTo>
                      <a:pt x="772083" y="0"/>
                    </a:lnTo>
                    <a:lnTo>
                      <a:pt x="975283" y="333416"/>
                    </a:lnTo>
                    <a:close/>
                  </a:path>
                </a:pathLst>
              </a:custGeom>
              <a:blipFill>
                <a:blip r:embed="rId2"/>
                <a:stretch>
                  <a:fillRect l="-5901" t="-8455" r="-25929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54775AB9-2F4A-1357-93FB-FDD1AAA4FF6A}"/>
              </a:ext>
            </a:extLst>
          </p:cNvPr>
          <p:cNvGrpSpPr/>
          <p:nvPr/>
        </p:nvGrpSpPr>
        <p:grpSpPr>
          <a:xfrm>
            <a:off x="18030216" y="-644483"/>
            <a:ext cx="7877784" cy="11575965"/>
            <a:chOff x="0" y="0"/>
            <a:chExt cx="482133" cy="708467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552F5BEE-DFCE-0EA8-89EB-6BD194B0C1B1}"/>
                </a:ext>
              </a:extLst>
            </p:cNvPr>
            <p:cNvSpPr/>
            <p:nvPr/>
          </p:nvSpPr>
          <p:spPr>
            <a:xfrm>
              <a:off x="0" y="0"/>
              <a:ext cx="482133" cy="708467"/>
            </a:xfrm>
            <a:custGeom>
              <a:avLst/>
              <a:gdLst/>
              <a:ahLst/>
              <a:cxnLst/>
              <a:rect l="l" t="t" r="r" b="b"/>
              <a:pathLst>
                <a:path w="482133" h="708467">
                  <a:moveTo>
                    <a:pt x="482133" y="354233"/>
                  </a:moveTo>
                  <a:lnTo>
                    <a:pt x="278933" y="708467"/>
                  </a:lnTo>
                  <a:lnTo>
                    <a:pt x="203200" y="708467"/>
                  </a:lnTo>
                  <a:lnTo>
                    <a:pt x="0" y="354233"/>
                  </a:lnTo>
                  <a:lnTo>
                    <a:pt x="203200" y="0"/>
                  </a:lnTo>
                  <a:lnTo>
                    <a:pt x="278933" y="0"/>
                  </a:lnTo>
                  <a:lnTo>
                    <a:pt x="482133" y="354233"/>
                  </a:lnTo>
                  <a:close/>
                </a:path>
              </a:pathLst>
            </a:custGeom>
            <a:blipFill>
              <a:blip r:embed="rId3"/>
              <a:stretch>
                <a:fillRect l="-96944" r="-9694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E8642066-BFE0-6272-51DC-18929F2772BC}"/>
              </a:ext>
            </a:extLst>
          </p:cNvPr>
          <p:cNvSpPr txBox="1"/>
          <p:nvPr/>
        </p:nvSpPr>
        <p:spPr>
          <a:xfrm>
            <a:off x="533400" y="1104900"/>
            <a:ext cx="7795779" cy="10182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600"/>
              </a:lnSpc>
            </a:pPr>
            <a:r>
              <a:rPr lang="en-US" sz="8000" b="1" i="1" spc="-232" dirty="0">
                <a:solidFill>
                  <a:srgbClr val="F10505">
                    <a:alpha val="94902"/>
                  </a:srgbClr>
                </a:solidFill>
                <a:latin typeface="Poppins Ultra-Bold Italics"/>
                <a:ea typeface="Poppins Ultra-Bold Italics"/>
                <a:cs typeface="Poppins Ultra-Bold Italics"/>
                <a:sym typeface="Poppins Ultra-Bold Italics"/>
              </a:rPr>
              <a:t>SQL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69559A28-0D29-A271-37B1-06397B407596}"/>
              </a:ext>
            </a:extLst>
          </p:cNvPr>
          <p:cNvSpPr txBox="1"/>
          <p:nvPr/>
        </p:nvSpPr>
        <p:spPr>
          <a:xfrm>
            <a:off x="724045" y="2319560"/>
            <a:ext cx="2971800" cy="440442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just">
              <a:lnSpc>
                <a:spcPts val="3400"/>
              </a:lnSpc>
            </a:pPr>
            <a:r>
              <a:rPr lang="en-US" sz="3200" b="1" dirty="0">
                <a:solidFill>
                  <a:schemeClr val="bg1"/>
                </a:solidFill>
              </a:rPr>
              <a:t>Data Analysis</a:t>
            </a:r>
            <a:endParaRPr lang="en-US" sz="3200" b="1" dirty="0">
              <a:solidFill>
                <a:schemeClr val="bg1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1" name="TextBox 15">
            <a:extLst>
              <a:ext uri="{FF2B5EF4-FFF2-40B4-BE49-F238E27FC236}">
                <a16:creationId xmlns:a16="http://schemas.microsoft.com/office/drawing/2014/main" id="{75834090-A58F-B98B-7401-FF36E789109A}"/>
              </a:ext>
            </a:extLst>
          </p:cNvPr>
          <p:cNvSpPr txBox="1"/>
          <p:nvPr/>
        </p:nvSpPr>
        <p:spPr>
          <a:xfrm>
            <a:off x="1066800" y="3106622"/>
            <a:ext cx="10896600" cy="492443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what are the most profitable sold models?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5684782-6904-69AD-D246-E82299AC2C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8614" y="4185431"/>
            <a:ext cx="14798040" cy="4816450"/>
          </a:xfrm>
          <a:prstGeom prst="roundRect">
            <a:avLst>
              <a:gd name="adj" fmla="val 16667"/>
            </a:avLst>
          </a:prstGeom>
          <a:ln w="76200">
            <a:solidFill>
              <a:srgbClr val="C00000"/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0" name="Picture 9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0BCE05D2-0004-F861-4EA1-B020D2CAB88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27965" y="55016"/>
            <a:ext cx="1455298" cy="1337935"/>
          </a:xfrm>
          <a:prstGeom prst="rect">
            <a:avLst/>
          </a:prstGeom>
        </p:spPr>
      </p:pic>
      <p:pic>
        <p:nvPicPr>
          <p:cNvPr id="14" name="Picture 1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19317A2D-61AE-F604-FF3C-6E0174A6D1B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863" y="-83970"/>
            <a:ext cx="2326880" cy="1310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149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A6AB2E-7538-4247-A396-2A8079585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9F9036B6-D7D5-0F4E-C37B-426173FA2CED}"/>
              </a:ext>
            </a:extLst>
          </p:cNvPr>
          <p:cNvGrpSpPr/>
          <p:nvPr/>
        </p:nvGrpSpPr>
        <p:grpSpPr>
          <a:xfrm>
            <a:off x="-18897600" y="4822306"/>
            <a:ext cx="21288025" cy="11364542"/>
            <a:chOff x="-11299842" y="4822306"/>
            <a:chExt cx="21288025" cy="11364542"/>
          </a:xfrm>
        </p:grpSpPr>
        <p:grpSp>
          <p:nvGrpSpPr>
            <p:cNvPr id="2" name="Group 2">
              <a:extLst>
                <a:ext uri="{FF2B5EF4-FFF2-40B4-BE49-F238E27FC236}">
                  <a16:creationId xmlns:a16="http://schemas.microsoft.com/office/drawing/2014/main" id="{1152DF7C-0593-60AA-7471-AE06334CA202}"/>
                </a:ext>
              </a:extLst>
            </p:cNvPr>
            <p:cNvGrpSpPr/>
            <p:nvPr/>
          </p:nvGrpSpPr>
          <p:grpSpPr>
            <a:xfrm>
              <a:off x="-11299842" y="4822306"/>
              <a:ext cx="21288025" cy="11364542"/>
              <a:chOff x="0" y="0"/>
              <a:chExt cx="1264956" cy="675293"/>
            </a:xfrm>
          </p:grpSpPr>
          <p:sp>
            <p:nvSpPr>
              <p:cNvPr id="3" name="Freeform 3">
                <a:extLst>
                  <a:ext uri="{FF2B5EF4-FFF2-40B4-BE49-F238E27FC236}">
                    <a16:creationId xmlns:a16="http://schemas.microsoft.com/office/drawing/2014/main" id="{35CFCF25-7D49-0CE7-F267-EF29FDE1D5C7}"/>
                  </a:ext>
                </a:extLst>
              </p:cNvPr>
              <p:cNvSpPr/>
              <p:nvPr/>
            </p:nvSpPr>
            <p:spPr>
              <a:xfrm>
                <a:off x="0" y="0"/>
                <a:ext cx="1264956" cy="675293"/>
              </a:xfrm>
              <a:custGeom>
                <a:avLst/>
                <a:gdLst/>
                <a:ahLst/>
                <a:cxnLst/>
                <a:rect l="l" t="t" r="r" b="b"/>
                <a:pathLst>
                  <a:path w="1264956" h="675293">
                    <a:moveTo>
                      <a:pt x="1264956" y="337646"/>
                    </a:moveTo>
                    <a:lnTo>
                      <a:pt x="1061756" y="675293"/>
                    </a:lnTo>
                    <a:lnTo>
                      <a:pt x="203200" y="675293"/>
                    </a:lnTo>
                    <a:lnTo>
                      <a:pt x="0" y="337646"/>
                    </a:lnTo>
                    <a:lnTo>
                      <a:pt x="203200" y="0"/>
                    </a:lnTo>
                    <a:lnTo>
                      <a:pt x="1061756" y="0"/>
                    </a:lnTo>
                    <a:lnTo>
                      <a:pt x="1264956" y="33764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C0505">
                      <a:alpha val="100000"/>
                    </a:srgbClr>
                  </a:gs>
                  <a:gs pos="100000">
                    <a:srgbClr val="80000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" name="TextBox 4">
                <a:extLst>
                  <a:ext uri="{FF2B5EF4-FFF2-40B4-BE49-F238E27FC236}">
                    <a16:creationId xmlns:a16="http://schemas.microsoft.com/office/drawing/2014/main" id="{608124E9-56EA-4255-76D9-FC6088AFA197}"/>
                  </a:ext>
                </a:extLst>
              </p:cNvPr>
              <p:cNvSpPr txBox="1"/>
              <p:nvPr/>
            </p:nvSpPr>
            <p:spPr>
              <a:xfrm>
                <a:off x="114300" y="-57150"/>
                <a:ext cx="1036356" cy="7324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09E20770-8FD8-8466-881C-B9F778A39377}"/>
                </a:ext>
              </a:extLst>
            </p:cNvPr>
            <p:cNvGrpSpPr/>
            <p:nvPr/>
          </p:nvGrpSpPr>
          <p:grpSpPr>
            <a:xfrm>
              <a:off x="-6524260" y="4988259"/>
              <a:ext cx="16331963" cy="11166685"/>
              <a:chOff x="0" y="0"/>
              <a:chExt cx="975283" cy="666832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2D3F1D77-F16B-707F-A0E0-DF9D2A313086}"/>
                  </a:ext>
                </a:extLst>
              </p:cNvPr>
              <p:cNvSpPr/>
              <p:nvPr/>
            </p:nvSpPr>
            <p:spPr>
              <a:xfrm>
                <a:off x="0" y="0"/>
                <a:ext cx="975283" cy="666832"/>
              </a:xfrm>
              <a:custGeom>
                <a:avLst/>
                <a:gdLst/>
                <a:ahLst/>
                <a:cxnLst/>
                <a:rect l="l" t="t" r="r" b="b"/>
                <a:pathLst>
                  <a:path w="975283" h="666832">
                    <a:moveTo>
                      <a:pt x="975283" y="333416"/>
                    </a:moveTo>
                    <a:lnTo>
                      <a:pt x="772083" y="666832"/>
                    </a:lnTo>
                    <a:lnTo>
                      <a:pt x="203200" y="666832"/>
                    </a:lnTo>
                    <a:lnTo>
                      <a:pt x="0" y="333416"/>
                    </a:lnTo>
                    <a:lnTo>
                      <a:pt x="203200" y="0"/>
                    </a:lnTo>
                    <a:lnTo>
                      <a:pt x="772083" y="0"/>
                    </a:lnTo>
                    <a:lnTo>
                      <a:pt x="975283" y="333416"/>
                    </a:lnTo>
                    <a:close/>
                  </a:path>
                </a:pathLst>
              </a:custGeom>
              <a:blipFill>
                <a:blip r:embed="rId2"/>
                <a:stretch>
                  <a:fillRect l="-5901" t="-8455" r="-25929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5E89B735-AB73-4366-574F-EEED852AA2DD}"/>
              </a:ext>
            </a:extLst>
          </p:cNvPr>
          <p:cNvGrpSpPr/>
          <p:nvPr/>
        </p:nvGrpSpPr>
        <p:grpSpPr>
          <a:xfrm>
            <a:off x="18030216" y="-644483"/>
            <a:ext cx="7877784" cy="11575965"/>
            <a:chOff x="0" y="0"/>
            <a:chExt cx="482133" cy="708467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006BC84-F93A-2CE4-9DAE-F541A39E4980}"/>
                </a:ext>
              </a:extLst>
            </p:cNvPr>
            <p:cNvSpPr/>
            <p:nvPr/>
          </p:nvSpPr>
          <p:spPr>
            <a:xfrm>
              <a:off x="0" y="0"/>
              <a:ext cx="482133" cy="708467"/>
            </a:xfrm>
            <a:custGeom>
              <a:avLst/>
              <a:gdLst/>
              <a:ahLst/>
              <a:cxnLst/>
              <a:rect l="l" t="t" r="r" b="b"/>
              <a:pathLst>
                <a:path w="482133" h="708467">
                  <a:moveTo>
                    <a:pt x="482133" y="354233"/>
                  </a:moveTo>
                  <a:lnTo>
                    <a:pt x="278933" y="708467"/>
                  </a:lnTo>
                  <a:lnTo>
                    <a:pt x="203200" y="708467"/>
                  </a:lnTo>
                  <a:lnTo>
                    <a:pt x="0" y="354233"/>
                  </a:lnTo>
                  <a:lnTo>
                    <a:pt x="203200" y="0"/>
                  </a:lnTo>
                  <a:lnTo>
                    <a:pt x="278933" y="0"/>
                  </a:lnTo>
                  <a:lnTo>
                    <a:pt x="482133" y="354233"/>
                  </a:lnTo>
                  <a:close/>
                </a:path>
              </a:pathLst>
            </a:custGeom>
            <a:blipFill>
              <a:blip r:embed="rId3"/>
              <a:stretch>
                <a:fillRect l="-96944" r="-9694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F424169A-2C01-8F63-0FB8-1C3E687BEC70}"/>
              </a:ext>
            </a:extLst>
          </p:cNvPr>
          <p:cNvSpPr txBox="1"/>
          <p:nvPr/>
        </p:nvSpPr>
        <p:spPr>
          <a:xfrm>
            <a:off x="533400" y="1104900"/>
            <a:ext cx="7795779" cy="10182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600"/>
              </a:lnSpc>
            </a:pPr>
            <a:r>
              <a:rPr lang="en-US" sz="8000" b="1" i="1" spc="-232" dirty="0">
                <a:solidFill>
                  <a:srgbClr val="F10505">
                    <a:alpha val="94902"/>
                  </a:srgbClr>
                </a:solidFill>
                <a:latin typeface="Poppins Ultra-Bold Italics"/>
                <a:ea typeface="Poppins Ultra-Bold Italics"/>
                <a:cs typeface="Poppins Ultra-Bold Italics"/>
                <a:sym typeface="Poppins Ultra-Bold Italics"/>
              </a:rPr>
              <a:t>SQL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3713A512-11CA-20A0-3158-840EDB074230}"/>
              </a:ext>
            </a:extLst>
          </p:cNvPr>
          <p:cNvSpPr txBox="1"/>
          <p:nvPr/>
        </p:nvSpPr>
        <p:spPr>
          <a:xfrm>
            <a:off x="724045" y="2319560"/>
            <a:ext cx="2971800" cy="440442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just">
              <a:lnSpc>
                <a:spcPts val="3400"/>
              </a:lnSpc>
            </a:pPr>
            <a:r>
              <a:rPr lang="en-US" sz="3200" b="1" dirty="0">
                <a:solidFill>
                  <a:schemeClr val="bg1"/>
                </a:solidFill>
              </a:rPr>
              <a:t>Data Analysis</a:t>
            </a:r>
            <a:endParaRPr lang="en-US" sz="3200" b="1" dirty="0">
              <a:solidFill>
                <a:schemeClr val="bg1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1" name="TextBox 15">
            <a:extLst>
              <a:ext uri="{FF2B5EF4-FFF2-40B4-BE49-F238E27FC236}">
                <a16:creationId xmlns:a16="http://schemas.microsoft.com/office/drawing/2014/main" id="{0F37AABE-1A4C-CCFB-A807-BE9228E7EDF4}"/>
              </a:ext>
            </a:extLst>
          </p:cNvPr>
          <p:cNvSpPr txBox="1"/>
          <p:nvPr/>
        </p:nvSpPr>
        <p:spPr>
          <a:xfrm>
            <a:off x="1066800" y="3106622"/>
            <a:ext cx="10896600" cy="492443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what is the month that makes highest sales?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D11B1C6-797F-A755-5AFF-C066AFFE53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8565" y="4026583"/>
            <a:ext cx="14725751" cy="5322706"/>
          </a:xfrm>
          <a:prstGeom prst="roundRect">
            <a:avLst>
              <a:gd name="adj" fmla="val 16667"/>
            </a:avLst>
          </a:prstGeom>
          <a:ln w="76200">
            <a:solidFill>
              <a:srgbClr val="C00000"/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2" name="Picture 11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AFE37F9A-66C9-DBD7-83AD-66667BBD980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27965" y="55016"/>
            <a:ext cx="1455298" cy="1337935"/>
          </a:xfrm>
          <a:prstGeom prst="rect">
            <a:avLst/>
          </a:prstGeom>
        </p:spPr>
      </p:pic>
      <p:pic>
        <p:nvPicPr>
          <p:cNvPr id="14" name="Picture 1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E42BD6E8-4AF6-033F-084D-C483842B0BB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863" y="-83970"/>
            <a:ext cx="2326880" cy="1310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183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D52D09-6008-1035-1696-490F0F3BF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AF60B878-659A-B7D3-99EE-2DDBB88DFDB0}"/>
              </a:ext>
            </a:extLst>
          </p:cNvPr>
          <p:cNvGrpSpPr/>
          <p:nvPr/>
        </p:nvGrpSpPr>
        <p:grpSpPr>
          <a:xfrm>
            <a:off x="-18897600" y="4822306"/>
            <a:ext cx="21288025" cy="11364542"/>
            <a:chOff x="-11299842" y="4822306"/>
            <a:chExt cx="21288025" cy="11364542"/>
          </a:xfrm>
        </p:grpSpPr>
        <p:grpSp>
          <p:nvGrpSpPr>
            <p:cNvPr id="2" name="Group 2">
              <a:extLst>
                <a:ext uri="{FF2B5EF4-FFF2-40B4-BE49-F238E27FC236}">
                  <a16:creationId xmlns:a16="http://schemas.microsoft.com/office/drawing/2014/main" id="{2CE51B44-CE46-429D-6B98-BD29625CC26C}"/>
                </a:ext>
              </a:extLst>
            </p:cNvPr>
            <p:cNvGrpSpPr/>
            <p:nvPr/>
          </p:nvGrpSpPr>
          <p:grpSpPr>
            <a:xfrm>
              <a:off x="-11299842" y="4822306"/>
              <a:ext cx="21288025" cy="11364542"/>
              <a:chOff x="0" y="0"/>
              <a:chExt cx="1264956" cy="675293"/>
            </a:xfrm>
          </p:grpSpPr>
          <p:sp>
            <p:nvSpPr>
              <p:cNvPr id="3" name="Freeform 3">
                <a:extLst>
                  <a:ext uri="{FF2B5EF4-FFF2-40B4-BE49-F238E27FC236}">
                    <a16:creationId xmlns:a16="http://schemas.microsoft.com/office/drawing/2014/main" id="{2CA79C83-6EAC-8D52-9660-913516ED8445}"/>
                  </a:ext>
                </a:extLst>
              </p:cNvPr>
              <p:cNvSpPr/>
              <p:nvPr/>
            </p:nvSpPr>
            <p:spPr>
              <a:xfrm>
                <a:off x="0" y="0"/>
                <a:ext cx="1264956" cy="675293"/>
              </a:xfrm>
              <a:custGeom>
                <a:avLst/>
                <a:gdLst/>
                <a:ahLst/>
                <a:cxnLst/>
                <a:rect l="l" t="t" r="r" b="b"/>
                <a:pathLst>
                  <a:path w="1264956" h="675293">
                    <a:moveTo>
                      <a:pt x="1264956" y="337646"/>
                    </a:moveTo>
                    <a:lnTo>
                      <a:pt x="1061756" y="675293"/>
                    </a:lnTo>
                    <a:lnTo>
                      <a:pt x="203200" y="675293"/>
                    </a:lnTo>
                    <a:lnTo>
                      <a:pt x="0" y="337646"/>
                    </a:lnTo>
                    <a:lnTo>
                      <a:pt x="203200" y="0"/>
                    </a:lnTo>
                    <a:lnTo>
                      <a:pt x="1061756" y="0"/>
                    </a:lnTo>
                    <a:lnTo>
                      <a:pt x="1264956" y="33764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C0505">
                      <a:alpha val="100000"/>
                    </a:srgbClr>
                  </a:gs>
                  <a:gs pos="100000">
                    <a:srgbClr val="80000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" name="TextBox 4">
                <a:extLst>
                  <a:ext uri="{FF2B5EF4-FFF2-40B4-BE49-F238E27FC236}">
                    <a16:creationId xmlns:a16="http://schemas.microsoft.com/office/drawing/2014/main" id="{A85E37AC-B1A8-48E5-2AC7-A1B12D0CAD20}"/>
                  </a:ext>
                </a:extLst>
              </p:cNvPr>
              <p:cNvSpPr txBox="1"/>
              <p:nvPr/>
            </p:nvSpPr>
            <p:spPr>
              <a:xfrm>
                <a:off x="114300" y="-57150"/>
                <a:ext cx="1036356" cy="7324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80CD00BA-BD64-7C77-FF12-CC6A3063D16F}"/>
                </a:ext>
              </a:extLst>
            </p:cNvPr>
            <p:cNvGrpSpPr/>
            <p:nvPr/>
          </p:nvGrpSpPr>
          <p:grpSpPr>
            <a:xfrm>
              <a:off x="-6524260" y="4988259"/>
              <a:ext cx="16331963" cy="11166685"/>
              <a:chOff x="0" y="0"/>
              <a:chExt cx="975283" cy="666832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D3C1EE5B-DBEF-9C09-4711-1C1F29B734CA}"/>
                  </a:ext>
                </a:extLst>
              </p:cNvPr>
              <p:cNvSpPr/>
              <p:nvPr/>
            </p:nvSpPr>
            <p:spPr>
              <a:xfrm>
                <a:off x="0" y="0"/>
                <a:ext cx="975283" cy="666832"/>
              </a:xfrm>
              <a:custGeom>
                <a:avLst/>
                <a:gdLst/>
                <a:ahLst/>
                <a:cxnLst/>
                <a:rect l="l" t="t" r="r" b="b"/>
                <a:pathLst>
                  <a:path w="975283" h="666832">
                    <a:moveTo>
                      <a:pt x="975283" y="333416"/>
                    </a:moveTo>
                    <a:lnTo>
                      <a:pt x="772083" y="666832"/>
                    </a:lnTo>
                    <a:lnTo>
                      <a:pt x="203200" y="666832"/>
                    </a:lnTo>
                    <a:lnTo>
                      <a:pt x="0" y="333416"/>
                    </a:lnTo>
                    <a:lnTo>
                      <a:pt x="203200" y="0"/>
                    </a:lnTo>
                    <a:lnTo>
                      <a:pt x="772083" y="0"/>
                    </a:lnTo>
                    <a:lnTo>
                      <a:pt x="975283" y="333416"/>
                    </a:lnTo>
                    <a:close/>
                  </a:path>
                </a:pathLst>
              </a:custGeom>
              <a:blipFill>
                <a:blip r:embed="rId2"/>
                <a:stretch>
                  <a:fillRect l="-5901" t="-8455" r="-25929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FCD1659B-7F25-A36B-4753-CF3F941C6FF5}"/>
              </a:ext>
            </a:extLst>
          </p:cNvPr>
          <p:cNvGrpSpPr/>
          <p:nvPr/>
        </p:nvGrpSpPr>
        <p:grpSpPr>
          <a:xfrm>
            <a:off x="18030216" y="-644483"/>
            <a:ext cx="7877784" cy="11575965"/>
            <a:chOff x="0" y="0"/>
            <a:chExt cx="482133" cy="708467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257D8E3E-D51F-7557-BD45-109ED7F98194}"/>
                </a:ext>
              </a:extLst>
            </p:cNvPr>
            <p:cNvSpPr/>
            <p:nvPr/>
          </p:nvSpPr>
          <p:spPr>
            <a:xfrm>
              <a:off x="0" y="0"/>
              <a:ext cx="482133" cy="708467"/>
            </a:xfrm>
            <a:custGeom>
              <a:avLst/>
              <a:gdLst/>
              <a:ahLst/>
              <a:cxnLst/>
              <a:rect l="l" t="t" r="r" b="b"/>
              <a:pathLst>
                <a:path w="482133" h="708467">
                  <a:moveTo>
                    <a:pt x="482133" y="354233"/>
                  </a:moveTo>
                  <a:lnTo>
                    <a:pt x="278933" y="708467"/>
                  </a:lnTo>
                  <a:lnTo>
                    <a:pt x="203200" y="708467"/>
                  </a:lnTo>
                  <a:lnTo>
                    <a:pt x="0" y="354233"/>
                  </a:lnTo>
                  <a:lnTo>
                    <a:pt x="203200" y="0"/>
                  </a:lnTo>
                  <a:lnTo>
                    <a:pt x="278933" y="0"/>
                  </a:lnTo>
                  <a:lnTo>
                    <a:pt x="482133" y="354233"/>
                  </a:lnTo>
                  <a:close/>
                </a:path>
              </a:pathLst>
            </a:custGeom>
            <a:blipFill>
              <a:blip r:embed="rId3"/>
              <a:stretch>
                <a:fillRect l="-96944" r="-9694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662AC6FC-2EAB-08CD-C64E-019266C23C4E}"/>
              </a:ext>
            </a:extLst>
          </p:cNvPr>
          <p:cNvSpPr txBox="1"/>
          <p:nvPr/>
        </p:nvSpPr>
        <p:spPr>
          <a:xfrm>
            <a:off x="533400" y="1104900"/>
            <a:ext cx="7795779" cy="10182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600"/>
              </a:lnSpc>
            </a:pPr>
            <a:r>
              <a:rPr lang="en-US" sz="8000" b="1" i="1" spc="-232" dirty="0">
                <a:solidFill>
                  <a:srgbClr val="F10505">
                    <a:alpha val="94902"/>
                  </a:srgbClr>
                </a:solidFill>
                <a:latin typeface="Poppins Ultra-Bold Italics"/>
                <a:ea typeface="Poppins Ultra-Bold Italics"/>
                <a:cs typeface="Poppins Ultra-Bold Italics"/>
                <a:sym typeface="Poppins Ultra-Bold Italics"/>
              </a:rPr>
              <a:t>SQL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1DAF8F04-B46E-D328-07E7-DC76D03CB852}"/>
              </a:ext>
            </a:extLst>
          </p:cNvPr>
          <p:cNvSpPr txBox="1"/>
          <p:nvPr/>
        </p:nvSpPr>
        <p:spPr>
          <a:xfrm>
            <a:off x="724045" y="2319560"/>
            <a:ext cx="2971800" cy="440442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just">
              <a:lnSpc>
                <a:spcPts val="3400"/>
              </a:lnSpc>
            </a:pPr>
            <a:r>
              <a:rPr lang="en-US" sz="3200" b="1" dirty="0">
                <a:solidFill>
                  <a:schemeClr val="bg1"/>
                </a:solidFill>
              </a:rPr>
              <a:t>Data Analysis</a:t>
            </a:r>
            <a:endParaRPr lang="en-US" sz="3200" b="1" dirty="0">
              <a:solidFill>
                <a:schemeClr val="bg1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1" name="TextBox 15">
            <a:extLst>
              <a:ext uri="{FF2B5EF4-FFF2-40B4-BE49-F238E27FC236}">
                <a16:creationId xmlns:a16="http://schemas.microsoft.com/office/drawing/2014/main" id="{3C610874-BEC1-6590-03C6-04EBF61FFCD7}"/>
              </a:ext>
            </a:extLst>
          </p:cNvPr>
          <p:cNvSpPr txBox="1"/>
          <p:nvPr/>
        </p:nvSpPr>
        <p:spPr>
          <a:xfrm>
            <a:off x="1066800" y="3106622"/>
            <a:ext cx="10896600" cy="492443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Which region makes the highest sales 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255B5C-B9EC-D7B2-D869-421020F6E3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5831" y="3983243"/>
            <a:ext cx="14621303" cy="5581072"/>
          </a:xfrm>
          <a:prstGeom prst="roundRect">
            <a:avLst>
              <a:gd name="adj" fmla="val 16667"/>
            </a:avLst>
          </a:prstGeom>
          <a:ln w="76200">
            <a:solidFill>
              <a:srgbClr val="C00000"/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2" name="Picture 11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489BCE9C-6190-3C05-BD73-5ADEC204DDE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27965" y="55016"/>
            <a:ext cx="1455298" cy="1337935"/>
          </a:xfrm>
          <a:prstGeom prst="rect">
            <a:avLst/>
          </a:prstGeom>
        </p:spPr>
      </p:pic>
      <p:pic>
        <p:nvPicPr>
          <p:cNvPr id="14" name="Picture 1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CA944946-EA39-963F-9998-1D7A30E29E4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863" y="-83970"/>
            <a:ext cx="2326880" cy="1310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971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68FB39-C91C-A7AB-CD29-630C41E59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46EB64D5-2A85-E317-C202-6F17EA8AB254}"/>
              </a:ext>
            </a:extLst>
          </p:cNvPr>
          <p:cNvGrpSpPr/>
          <p:nvPr/>
        </p:nvGrpSpPr>
        <p:grpSpPr>
          <a:xfrm>
            <a:off x="-18897600" y="4822306"/>
            <a:ext cx="21288025" cy="11364542"/>
            <a:chOff x="-11299842" y="4822306"/>
            <a:chExt cx="21288025" cy="11364542"/>
          </a:xfrm>
        </p:grpSpPr>
        <p:grpSp>
          <p:nvGrpSpPr>
            <p:cNvPr id="2" name="Group 2">
              <a:extLst>
                <a:ext uri="{FF2B5EF4-FFF2-40B4-BE49-F238E27FC236}">
                  <a16:creationId xmlns:a16="http://schemas.microsoft.com/office/drawing/2014/main" id="{E594DA20-F42E-436B-F059-42B8D36DEC8C}"/>
                </a:ext>
              </a:extLst>
            </p:cNvPr>
            <p:cNvGrpSpPr/>
            <p:nvPr/>
          </p:nvGrpSpPr>
          <p:grpSpPr>
            <a:xfrm>
              <a:off x="-11299842" y="4822306"/>
              <a:ext cx="21288025" cy="11364542"/>
              <a:chOff x="0" y="0"/>
              <a:chExt cx="1264956" cy="675293"/>
            </a:xfrm>
          </p:grpSpPr>
          <p:sp>
            <p:nvSpPr>
              <p:cNvPr id="3" name="Freeform 3">
                <a:extLst>
                  <a:ext uri="{FF2B5EF4-FFF2-40B4-BE49-F238E27FC236}">
                    <a16:creationId xmlns:a16="http://schemas.microsoft.com/office/drawing/2014/main" id="{7F9911CB-A061-9272-3685-F316304668F5}"/>
                  </a:ext>
                </a:extLst>
              </p:cNvPr>
              <p:cNvSpPr/>
              <p:nvPr/>
            </p:nvSpPr>
            <p:spPr>
              <a:xfrm>
                <a:off x="0" y="0"/>
                <a:ext cx="1264956" cy="675293"/>
              </a:xfrm>
              <a:custGeom>
                <a:avLst/>
                <a:gdLst/>
                <a:ahLst/>
                <a:cxnLst/>
                <a:rect l="l" t="t" r="r" b="b"/>
                <a:pathLst>
                  <a:path w="1264956" h="675293">
                    <a:moveTo>
                      <a:pt x="1264956" y="337646"/>
                    </a:moveTo>
                    <a:lnTo>
                      <a:pt x="1061756" y="675293"/>
                    </a:lnTo>
                    <a:lnTo>
                      <a:pt x="203200" y="675293"/>
                    </a:lnTo>
                    <a:lnTo>
                      <a:pt x="0" y="337646"/>
                    </a:lnTo>
                    <a:lnTo>
                      <a:pt x="203200" y="0"/>
                    </a:lnTo>
                    <a:lnTo>
                      <a:pt x="1061756" y="0"/>
                    </a:lnTo>
                    <a:lnTo>
                      <a:pt x="1264956" y="33764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C0505">
                      <a:alpha val="100000"/>
                    </a:srgbClr>
                  </a:gs>
                  <a:gs pos="100000">
                    <a:srgbClr val="80000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" name="TextBox 4">
                <a:extLst>
                  <a:ext uri="{FF2B5EF4-FFF2-40B4-BE49-F238E27FC236}">
                    <a16:creationId xmlns:a16="http://schemas.microsoft.com/office/drawing/2014/main" id="{12A110CF-5E80-C378-76C9-A05B9178247A}"/>
                  </a:ext>
                </a:extLst>
              </p:cNvPr>
              <p:cNvSpPr txBox="1"/>
              <p:nvPr/>
            </p:nvSpPr>
            <p:spPr>
              <a:xfrm>
                <a:off x="114300" y="-57150"/>
                <a:ext cx="1036356" cy="7324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484622E1-E150-042F-534C-41A36736631F}"/>
                </a:ext>
              </a:extLst>
            </p:cNvPr>
            <p:cNvGrpSpPr/>
            <p:nvPr/>
          </p:nvGrpSpPr>
          <p:grpSpPr>
            <a:xfrm>
              <a:off x="-6524260" y="4988259"/>
              <a:ext cx="16331963" cy="11166685"/>
              <a:chOff x="0" y="0"/>
              <a:chExt cx="975283" cy="666832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DFAD5DD7-0361-3227-2EE4-B4BDA5A1D7A2}"/>
                  </a:ext>
                </a:extLst>
              </p:cNvPr>
              <p:cNvSpPr/>
              <p:nvPr/>
            </p:nvSpPr>
            <p:spPr>
              <a:xfrm>
                <a:off x="0" y="0"/>
                <a:ext cx="975283" cy="666832"/>
              </a:xfrm>
              <a:custGeom>
                <a:avLst/>
                <a:gdLst/>
                <a:ahLst/>
                <a:cxnLst/>
                <a:rect l="l" t="t" r="r" b="b"/>
                <a:pathLst>
                  <a:path w="975283" h="666832">
                    <a:moveTo>
                      <a:pt x="975283" y="333416"/>
                    </a:moveTo>
                    <a:lnTo>
                      <a:pt x="772083" y="666832"/>
                    </a:lnTo>
                    <a:lnTo>
                      <a:pt x="203200" y="666832"/>
                    </a:lnTo>
                    <a:lnTo>
                      <a:pt x="0" y="333416"/>
                    </a:lnTo>
                    <a:lnTo>
                      <a:pt x="203200" y="0"/>
                    </a:lnTo>
                    <a:lnTo>
                      <a:pt x="772083" y="0"/>
                    </a:lnTo>
                    <a:lnTo>
                      <a:pt x="975283" y="333416"/>
                    </a:lnTo>
                    <a:close/>
                  </a:path>
                </a:pathLst>
              </a:custGeom>
              <a:blipFill>
                <a:blip r:embed="rId2"/>
                <a:stretch>
                  <a:fillRect l="-5901" t="-8455" r="-25929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0541A796-49A8-746B-07BC-1FB58581A1D4}"/>
              </a:ext>
            </a:extLst>
          </p:cNvPr>
          <p:cNvGrpSpPr/>
          <p:nvPr/>
        </p:nvGrpSpPr>
        <p:grpSpPr>
          <a:xfrm>
            <a:off x="18030216" y="-644483"/>
            <a:ext cx="7877784" cy="11575965"/>
            <a:chOff x="0" y="0"/>
            <a:chExt cx="482133" cy="708467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B086A6C-32A7-7945-2A78-1FC590AED201}"/>
                </a:ext>
              </a:extLst>
            </p:cNvPr>
            <p:cNvSpPr/>
            <p:nvPr/>
          </p:nvSpPr>
          <p:spPr>
            <a:xfrm>
              <a:off x="0" y="0"/>
              <a:ext cx="482133" cy="708467"/>
            </a:xfrm>
            <a:custGeom>
              <a:avLst/>
              <a:gdLst/>
              <a:ahLst/>
              <a:cxnLst/>
              <a:rect l="l" t="t" r="r" b="b"/>
              <a:pathLst>
                <a:path w="482133" h="708467">
                  <a:moveTo>
                    <a:pt x="482133" y="354233"/>
                  </a:moveTo>
                  <a:lnTo>
                    <a:pt x="278933" y="708467"/>
                  </a:lnTo>
                  <a:lnTo>
                    <a:pt x="203200" y="708467"/>
                  </a:lnTo>
                  <a:lnTo>
                    <a:pt x="0" y="354233"/>
                  </a:lnTo>
                  <a:lnTo>
                    <a:pt x="203200" y="0"/>
                  </a:lnTo>
                  <a:lnTo>
                    <a:pt x="278933" y="0"/>
                  </a:lnTo>
                  <a:lnTo>
                    <a:pt x="482133" y="354233"/>
                  </a:lnTo>
                  <a:close/>
                </a:path>
              </a:pathLst>
            </a:custGeom>
            <a:blipFill>
              <a:blip r:embed="rId3"/>
              <a:stretch>
                <a:fillRect l="-96944" r="-9694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AF76BAEB-0622-6271-42BA-0122D5597957}"/>
              </a:ext>
            </a:extLst>
          </p:cNvPr>
          <p:cNvSpPr txBox="1"/>
          <p:nvPr/>
        </p:nvSpPr>
        <p:spPr>
          <a:xfrm>
            <a:off x="533400" y="1104900"/>
            <a:ext cx="7795779" cy="10182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600"/>
              </a:lnSpc>
            </a:pPr>
            <a:r>
              <a:rPr lang="en-US" sz="8000" b="1" i="1" spc="-232" dirty="0">
                <a:solidFill>
                  <a:srgbClr val="F10505">
                    <a:alpha val="94902"/>
                  </a:srgbClr>
                </a:solidFill>
                <a:latin typeface="Poppins Ultra-Bold Italics"/>
                <a:ea typeface="Poppins Ultra-Bold Italics"/>
                <a:cs typeface="Poppins Ultra-Bold Italics"/>
                <a:sym typeface="Poppins Ultra-Bold Italics"/>
              </a:rPr>
              <a:t>SQL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13926399-A4E1-2643-2F9C-DA425E52F8A3}"/>
              </a:ext>
            </a:extLst>
          </p:cNvPr>
          <p:cNvSpPr txBox="1"/>
          <p:nvPr/>
        </p:nvSpPr>
        <p:spPr>
          <a:xfrm>
            <a:off x="724045" y="2319560"/>
            <a:ext cx="2971800" cy="440442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just">
              <a:lnSpc>
                <a:spcPts val="3400"/>
              </a:lnSpc>
            </a:pPr>
            <a:r>
              <a:rPr lang="en-US" sz="3200" b="1" dirty="0">
                <a:solidFill>
                  <a:schemeClr val="bg1"/>
                </a:solidFill>
              </a:rPr>
              <a:t>Data Analysis</a:t>
            </a:r>
            <a:endParaRPr lang="en-US" sz="3200" b="1" dirty="0">
              <a:solidFill>
                <a:schemeClr val="bg1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1" name="TextBox 15">
            <a:extLst>
              <a:ext uri="{FF2B5EF4-FFF2-40B4-BE49-F238E27FC236}">
                <a16:creationId xmlns:a16="http://schemas.microsoft.com/office/drawing/2014/main" id="{0A63A64B-E0F9-A2A1-CC72-9CA505F7674C}"/>
              </a:ext>
            </a:extLst>
          </p:cNvPr>
          <p:cNvSpPr txBox="1"/>
          <p:nvPr/>
        </p:nvSpPr>
        <p:spPr>
          <a:xfrm>
            <a:off x="1066800" y="3106622"/>
            <a:ext cx="10896600" cy="492443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What is the most income levels buy cars?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2940AFF-8455-871C-E57C-955969DB19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0425" y="3830046"/>
            <a:ext cx="10896600" cy="6198367"/>
          </a:xfrm>
          <a:prstGeom prst="roundRect">
            <a:avLst>
              <a:gd name="adj" fmla="val 16667"/>
            </a:avLst>
          </a:prstGeom>
          <a:ln w="76200">
            <a:solidFill>
              <a:srgbClr val="C00000"/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2" name="Picture 11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B0591CA2-1912-359C-D4EF-1224A6DD971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27965" y="55016"/>
            <a:ext cx="1455298" cy="1337935"/>
          </a:xfrm>
          <a:prstGeom prst="rect">
            <a:avLst/>
          </a:prstGeom>
        </p:spPr>
      </p:pic>
      <p:pic>
        <p:nvPicPr>
          <p:cNvPr id="14" name="Picture 1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7613F3D9-0810-1343-412B-4791AB4C4B3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863" y="-83970"/>
            <a:ext cx="2326880" cy="1310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975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F41E56-68E6-083E-5A36-A1DD9A430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E0EFCEF0-F581-FEB3-93CD-CFFCC613BA7F}"/>
              </a:ext>
            </a:extLst>
          </p:cNvPr>
          <p:cNvGrpSpPr/>
          <p:nvPr/>
        </p:nvGrpSpPr>
        <p:grpSpPr>
          <a:xfrm>
            <a:off x="-18897600" y="4822306"/>
            <a:ext cx="21288025" cy="11364542"/>
            <a:chOff x="-11299842" y="4822306"/>
            <a:chExt cx="21288025" cy="11364542"/>
          </a:xfrm>
        </p:grpSpPr>
        <p:grpSp>
          <p:nvGrpSpPr>
            <p:cNvPr id="2" name="Group 2">
              <a:extLst>
                <a:ext uri="{FF2B5EF4-FFF2-40B4-BE49-F238E27FC236}">
                  <a16:creationId xmlns:a16="http://schemas.microsoft.com/office/drawing/2014/main" id="{5E27A01A-7B7E-DCDA-9715-9E2947EC6E4C}"/>
                </a:ext>
              </a:extLst>
            </p:cNvPr>
            <p:cNvGrpSpPr/>
            <p:nvPr/>
          </p:nvGrpSpPr>
          <p:grpSpPr>
            <a:xfrm>
              <a:off x="-11299842" y="4822306"/>
              <a:ext cx="21288025" cy="11364542"/>
              <a:chOff x="0" y="0"/>
              <a:chExt cx="1264956" cy="675293"/>
            </a:xfrm>
          </p:grpSpPr>
          <p:sp>
            <p:nvSpPr>
              <p:cNvPr id="3" name="Freeform 3">
                <a:extLst>
                  <a:ext uri="{FF2B5EF4-FFF2-40B4-BE49-F238E27FC236}">
                    <a16:creationId xmlns:a16="http://schemas.microsoft.com/office/drawing/2014/main" id="{011607E4-F1FE-7D49-9BB9-473F9FA1A449}"/>
                  </a:ext>
                </a:extLst>
              </p:cNvPr>
              <p:cNvSpPr/>
              <p:nvPr/>
            </p:nvSpPr>
            <p:spPr>
              <a:xfrm>
                <a:off x="0" y="0"/>
                <a:ext cx="1264956" cy="675293"/>
              </a:xfrm>
              <a:custGeom>
                <a:avLst/>
                <a:gdLst/>
                <a:ahLst/>
                <a:cxnLst/>
                <a:rect l="l" t="t" r="r" b="b"/>
                <a:pathLst>
                  <a:path w="1264956" h="675293">
                    <a:moveTo>
                      <a:pt x="1264956" y="337646"/>
                    </a:moveTo>
                    <a:lnTo>
                      <a:pt x="1061756" y="675293"/>
                    </a:lnTo>
                    <a:lnTo>
                      <a:pt x="203200" y="675293"/>
                    </a:lnTo>
                    <a:lnTo>
                      <a:pt x="0" y="337646"/>
                    </a:lnTo>
                    <a:lnTo>
                      <a:pt x="203200" y="0"/>
                    </a:lnTo>
                    <a:lnTo>
                      <a:pt x="1061756" y="0"/>
                    </a:lnTo>
                    <a:lnTo>
                      <a:pt x="1264956" y="33764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C0505">
                      <a:alpha val="100000"/>
                    </a:srgbClr>
                  </a:gs>
                  <a:gs pos="100000">
                    <a:srgbClr val="80000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" name="TextBox 4">
                <a:extLst>
                  <a:ext uri="{FF2B5EF4-FFF2-40B4-BE49-F238E27FC236}">
                    <a16:creationId xmlns:a16="http://schemas.microsoft.com/office/drawing/2014/main" id="{230E76C9-5B02-869C-1742-C71250548201}"/>
                  </a:ext>
                </a:extLst>
              </p:cNvPr>
              <p:cNvSpPr txBox="1"/>
              <p:nvPr/>
            </p:nvSpPr>
            <p:spPr>
              <a:xfrm>
                <a:off x="114300" y="-57150"/>
                <a:ext cx="1036356" cy="7324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4F916BAE-DCB3-5F2E-6FCC-A23F6170990B}"/>
                </a:ext>
              </a:extLst>
            </p:cNvPr>
            <p:cNvGrpSpPr/>
            <p:nvPr/>
          </p:nvGrpSpPr>
          <p:grpSpPr>
            <a:xfrm>
              <a:off x="-6524260" y="4988259"/>
              <a:ext cx="16331963" cy="11166685"/>
              <a:chOff x="0" y="0"/>
              <a:chExt cx="975283" cy="666832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9B238CED-895D-C4AE-B44D-FA5AA3074D4A}"/>
                  </a:ext>
                </a:extLst>
              </p:cNvPr>
              <p:cNvSpPr/>
              <p:nvPr/>
            </p:nvSpPr>
            <p:spPr>
              <a:xfrm>
                <a:off x="0" y="0"/>
                <a:ext cx="975283" cy="666832"/>
              </a:xfrm>
              <a:custGeom>
                <a:avLst/>
                <a:gdLst/>
                <a:ahLst/>
                <a:cxnLst/>
                <a:rect l="l" t="t" r="r" b="b"/>
                <a:pathLst>
                  <a:path w="975283" h="666832">
                    <a:moveTo>
                      <a:pt x="975283" y="333416"/>
                    </a:moveTo>
                    <a:lnTo>
                      <a:pt x="772083" y="666832"/>
                    </a:lnTo>
                    <a:lnTo>
                      <a:pt x="203200" y="666832"/>
                    </a:lnTo>
                    <a:lnTo>
                      <a:pt x="0" y="333416"/>
                    </a:lnTo>
                    <a:lnTo>
                      <a:pt x="203200" y="0"/>
                    </a:lnTo>
                    <a:lnTo>
                      <a:pt x="772083" y="0"/>
                    </a:lnTo>
                    <a:lnTo>
                      <a:pt x="975283" y="333416"/>
                    </a:lnTo>
                    <a:close/>
                  </a:path>
                </a:pathLst>
              </a:custGeom>
              <a:blipFill>
                <a:blip r:embed="rId2"/>
                <a:stretch>
                  <a:fillRect l="-5901" t="-8455" r="-25929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5720E732-A0F2-9621-3BFC-1408D32121E2}"/>
              </a:ext>
            </a:extLst>
          </p:cNvPr>
          <p:cNvGrpSpPr/>
          <p:nvPr/>
        </p:nvGrpSpPr>
        <p:grpSpPr>
          <a:xfrm>
            <a:off x="18030216" y="-644483"/>
            <a:ext cx="7877784" cy="11575965"/>
            <a:chOff x="0" y="0"/>
            <a:chExt cx="482133" cy="708467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C1A1767-29CC-BB26-862B-836079088922}"/>
                </a:ext>
              </a:extLst>
            </p:cNvPr>
            <p:cNvSpPr/>
            <p:nvPr/>
          </p:nvSpPr>
          <p:spPr>
            <a:xfrm>
              <a:off x="0" y="0"/>
              <a:ext cx="482133" cy="708467"/>
            </a:xfrm>
            <a:custGeom>
              <a:avLst/>
              <a:gdLst/>
              <a:ahLst/>
              <a:cxnLst/>
              <a:rect l="l" t="t" r="r" b="b"/>
              <a:pathLst>
                <a:path w="482133" h="708467">
                  <a:moveTo>
                    <a:pt x="482133" y="354233"/>
                  </a:moveTo>
                  <a:lnTo>
                    <a:pt x="278933" y="708467"/>
                  </a:lnTo>
                  <a:lnTo>
                    <a:pt x="203200" y="708467"/>
                  </a:lnTo>
                  <a:lnTo>
                    <a:pt x="0" y="354233"/>
                  </a:lnTo>
                  <a:lnTo>
                    <a:pt x="203200" y="0"/>
                  </a:lnTo>
                  <a:lnTo>
                    <a:pt x="278933" y="0"/>
                  </a:lnTo>
                  <a:lnTo>
                    <a:pt x="482133" y="354233"/>
                  </a:lnTo>
                  <a:close/>
                </a:path>
              </a:pathLst>
            </a:custGeom>
            <a:blipFill>
              <a:blip r:embed="rId3"/>
              <a:stretch>
                <a:fillRect l="-96944" r="-9694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3ADB0FAF-BCD3-479B-BB6E-73DB0B9C3E12}"/>
              </a:ext>
            </a:extLst>
          </p:cNvPr>
          <p:cNvSpPr txBox="1"/>
          <p:nvPr/>
        </p:nvSpPr>
        <p:spPr>
          <a:xfrm>
            <a:off x="533400" y="1104900"/>
            <a:ext cx="7795779" cy="10182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600"/>
              </a:lnSpc>
            </a:pPr>
            <a:r>
              <a:rPr lang="en-US" sz="8000" b="1" i="1" spc="-232" dirty="0">
                <a:solidFill>
                  <a:srgbClr val="F10505">
                    <a:alpha val="94902"/>
                  </a:srgbClr>
                </a:solidFill>
                <a:latin typeface="Poppins Ultra-Bold Italics"/>
                <a:ea typeface="Poppins Ultra-Bold Italics"/>
                <a:cs typeface="Poppins Ultra-Bold Italics"/>
                <a:sym typeface="Poppins Ultra-Bold Italics"/>
              </a:rPr>
              <a:t>Methodologies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9EDD0DF0-1A0A-85C2-7B55-D4B7D3126C6A}"/>
              </a:ext>
            </a:extLst>
          </p:cNvPr>
          <p:cNvSpPr txBox="1"/>
          <p:nvPr/>
        </p:nvSpPr>
        <p:spPr>
          <a:xfrm>
            <a:off x="914400" y="3170193"/>
            <a:ext cx="2362200" cy="441916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just">
              <a:lnSpc>
                <a:spcPts val="3400"/>
              </a:lnSpc>
            </a:pPr>
            <a:r>
              <a:rPr lang="en-US" sz="32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Python</a:t>
            </a:r>
            <a:endParaRPr lang="en-US" sz="3200" b="1" dirty="0">
              <a:solidFill>
                <a:srgbClr val="F10505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AC75B87-A5E7-C15F-5A16-1B49344C7812}"/>
              </a:ext>
            </a:extLst>
          </p:cNvPr>
          <p:cNvSpPr txBox="1"/>
          <p:nvPr/>
        </p:nvSpPr>
        <p:spPr>
          <a:xfrm>
            <a:off x="914400" y="3771900"/>
            <a:ext cx="7162800" cy="2462213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We did the following using python: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200" dirty="0">
                <a:solidFill>
                  <a:schemeClr val="bg1"/>
                </a:solidFill>
              </a:rPr>
              <a:t>Data Loading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200" dirty="0">
                <a:solidFill>
                  <a:schemeClr val="bg1"/>
                </a:solidFill>
              </a:rPr>
              <a:t>Data Cleaning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200" dirty="0">
                <a:solidFill>
                  <a:schemeClr val="bg1"/>
                </a:solidFill>
              </a:rPr>
              <a:t>Data Modeling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200" dirty="0">
                <a:solidFill>
                  <a:schemeClr val="bg1"/>
                </a:solidFill>
              </a:rPr>
              <a:t>Data Analysis and Extracting Insights</a:t>
            </a:r>
          </a:p>
        </p:txBody>
      </p:sp>
      <p:pic>
        <p:nvPicPr>
          <p:cNvPr id="9" name="Picture 8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B15FF5F2-1424-0712-7135-51EF030F014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27965" y="55016"/>
            <a:ext cx="1455298" cy="1337935"/>
          </a:xfrm>
          <a:prstGeom prst="rect">
            <a:avLst/>
          </a:prstGeom>
        </p:spPr>
      </p:pic>
      <p:pic>
        <p:nvPicPr>
          <p:cNvPr id="10" name="Picture 9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C8CDB905-8A98-7472-7B59-C9B5013544F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863" y="-83970"/>
            <a:ext cx="2326880" cy="1310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03458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DFD44B-BB77-BCA2-B414-B4AE1D0D1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32446EF7-3090-343B-688F-CB9F46718E11}"/>
              </a:ext>
            </a:extLst>
          </p:cNvPr>
          <p:cNvGrpSpPr/>
          <p:nvPr/>
        </p:nvGrpSpPr>
        <p:grpSpPr>
          <a:xfrm>
            <a:off x="-18897600" y="4822306"/>
            <a:ext cx="21288025" cy="11364542"/>
            <a:chOff x="-11299842" y="4822306"/>
            <a:chExt cx="21288025" cy="11364542"/>
          </a:xfrm>
        </p:grpSpPr>
        <p:grpSp>
          <p:nvGrpSpPr>
            <p:cNvPr id="2" name="Group 2">
              <a:extLst>
                <a:ext uri="{FF2B5EF4-FFF2-40B4-BE49-F238E27FC236}">
                  <a16:creationId xmlns:a16="http://schemas.microsoft.com/office/drawing/2014/main" id="{BDC9D654-20FB-BAC1-1F82-CE32F978D381}"/>
                </a:ext>
              </a:extLst>
            </p:cNvPr>
            <p:cNvGrpSpPr/>
            <p:nvPr/>
          </p:nvGrpSpPr>
          <p:grpSpPr>
            <a:xfrm>
              <a:off x="-11299842" y="4822306"/>
              <a:ext cx="21288025" cy="11364542"/>
              <a:chOff x="0" y="0"/>
              <a:chExt cx="1264956" cy="675293"/>
            </a:xfrm>
          </p:grpSpPr>
          <p:sp>
            <p:nvSpPr>
              <p:cNvPr id="3" name="Freeform 3">
                <a:extLst>
                  <a:ext uri="{FF2B5EF4-FFF2-40B4-BE49-F238E27FC236}">
                    <a16:creationId xmlns:a16="http://schemas.microsoft.com/office/drawing/2014/main" id="{705D8091-7399-E01A-00B2-F5DFE9A0451F}"/>
                  </a:ext>
                </a:extLst>
              </p:cNvPr>
              <p:cNvSpPr/>
              <p:nvPr/>
            </p:nvSpPr>
            <p:spPr>
              <a:xfrm>
                <a:off x="0" y="0"/>
                <a:ext cx="1264956" cy="675293"/>
              </a:xfrm>
              <a:custGeom>
                <a:avLst/>
                <a:gdLst/>
                <a:ahLst/>
                <a:cxnLst/>
                <a:rect l="l" t="t" r="r" b="b"/>
                <a:pathLst>
                  <a:path w="1264956" h="675293">
                    <a:moveTo>
                      <a:pt x="1264956" y="337646"/>
                    </a:moveTo>
                    <a:lnTo>
                      <a:pt x="1061756" y="675293"/>
                    </a:lnTo>
                    <a:lnTo>
                      <a:pt x="203200" y="675293"/>
                    </a:lnTo>
                    <a:lnTo>
                      <a:pt x="0" y="337646"/>
                    </a:lnTo>
                    <a:lnTo>
                      <a:pt x="203200" y="0"/>
                    </a:lnTo>
                    <a:lnTo>
                      <a:pt x="1061756" y="0"/>
                    </a:lnTo>
                    <a:lnTo>
                      <a:pt x="1264956" y="33764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C0505">
                      <a:alpha val="100000"/>
                    </a:srgbClr>
                  </a:gs>
                  <a:gs pos="100000">
                    <a:srgbClr val="80000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" name="TextBox 4">
                <a:extLst>
                  <a:ext uri="{FF2B5EF4-FFF2-40B4-BE49-F238E27FC236}">
                    <a16:creationId xmlns:a16="http://schemas.microsoft.com/office/drawing/2014/main" id="{FA08278D-15EE-CFB6-5135-05D8A0E0F6F1}"/>
                  </a:ext>
                </a:extLst>
              </p:cNvPr>
              <p:cNvSpPr txBox="1"/>
              <p:nvPr/>
            </p:nvSpPr>
            <p:spPr>
              <a:xfrm>
                <a:off x="114300" y="-57150"/>
                <a:ext cx="1036356" cy="7324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D00B80FD-E13B-44FD-7FBA-335A6FB20AD2}"/>
                </a:ext>
              </a:extLst>
            </p:cNvPr>
            <p:cNvGrpSpPr/>
            <p:nvPr/>
          </p:nvGrpSpPr>
          <p:grpSpPr>
            <a:xfrm>
              <a:off x="-6524260" y="4988259"/>
              <a:ext cx="16331963" cy="11166685"/>
              <a:chOff x="0" y="0"/>
              <a:chExt cx="975283" cy="666832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D92EE6FA-FE44-8F57-8D75-458B4AA42660}"/>
                  </a:ext>
                </a:extLst>
              </p:cNvPr>
              <p:cNvSpPr/>
              <p:nvPr/>
            </p:nvSpPr>
            <p:spPr>
              <a:xfrm>
                <a:off x="0" y="0"/>
                <a:ext cx="975283" cy="666832"/>
              </a:xfrm>
              <a:custGeom>
                <a:avLst/>
                <a:gdLst/>
                <a:ahLst/>
                <a:cxnLst/>
                <a:rect l="l" t="t" r="r" b="b"/>
                <a:pathLst>
                  <a:path w="975283" h="666832">
                    <a:moveTo>
                      <a:pt x="975283" y="333416"/>
                    </a:moveTo>
                    <a:lnTo>
                      <a:pt x="772083" y="666832"/>
                    </a:lnTo>
                    <a:lnTo>
                      <a:pt x="203200" y="666832"/>
                    </a:lnTo>
                    <a:lnTo>
                      <a:pt x="0" y="333416"/>
                    </a:lnTo>
                    <a:lnTo>
                      <a:pt x="203200" y="0"/>
                    </a:lnTo>
                    <a:lnTo>
                      <a:pt x="772083" y="0"/>
                    </a:lnTo>
                    <a:lnTo>
                      <a:pt x="975283" y="333416"/>
                    </a:lnTo>
                    <a:close/>
                  </a:path>
                </a:pathLst>
              </a:custGeom>
              <a:blipFill>
                <a:blip r:embed="rId2"/>
                <a:stretch>
                  <a:fillRect l="-5901" t="-8455" r="-25929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D66E34DF-5BB0-0110-65DD-5AD0ECB82BF5}"/>
              </a:ext>
            </a:extLst>
          </p:cNvPr>
          <p:cNvGrpSpPr/>
          <p:nvPr/>
        </p:nvGrpSpPr>
        <p:grpSpPr>
          <a:xfrm>
            <a:off x="18030216" y="-644483"/>
            <a:ext cx="7877784" cy="11575965"/>
            <a:chOff x="0" y="0"/>
            <a:chExt cx="482133" cy="708467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465A75A5-C54B-8EA9-533D-002A3C76E2CE}"/>
                </a:ext>
              </a:extLst>
            </p:cNvPr>
            <p:cNvSpPr/>
            <p:nvPr/>
          </p:nvSpPr>
          <p:spPr>
            <a:xfrm>
              <a:off x="0" y="0"/>
              <a:ext cx="482133" cy="708467"/>
            </a:xfrm>
            <a:custGeom>
              <a:avLst/>
              <a:gdLst/>
              <a:ahLst/>
              <a:cxnLst/>
              <a:rect l="l" t="t" r="r" b="b"/>
              <a:pathLst>
                <a:path w="482133" h="708467">
                  <a:moveTo>
                    <a:pt x="482133" y="354233"/>
                  </a:moveTo>
                  <a:lnTo>
                    <a:pt x="278933" y="708467"/>
                  </a:lnTo>
                  <a:lnTo>
                    <a:pt x="203200" y="708467"/>
                  </a:lnTo>
                  <a:lnTo>
                    <a:pt x="0" y="354233"/>
                  </a:lnTo>
                  <a:lnTo>
                    <a:pt x="203200" y="0"/>
                  </a:lnTo>
                  <a:lnTo>
                    <a:pt x="278933" y="0"/>
                  </a:lnTo>
                  <a:lnTo>
                    <a:pt x="482133" y="354233"/>
                  </a:lnTo>
                  <a:close/>
                </a:path>
              </a:pathLst>
            </a:custGeom>
            <a:blipFill>
              <a:blip r:embed="rId3"/>
              <a:stretch>
                <a:fillRect l="-96944" r="-9694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8A0E2BCC-8927-DBCC-BA33-4FDAC3297173}"/>
              </a:ext>
            </a:extLst>
          </p:cNvPr>
          <p:cNvSpPr txBox="1"/>
          <p:nvPr/>
        </p:nvSpPr>
        <p:spPr>
          <a:xfrm>
            <a:off x="533400" y="1333500"/>
            <a:ext cx="7795779" cy="10182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600"/>
              </a:lnSpc>
            </a:pPr>
            <a:r>
              <a:rPr lang="en-US" sz="8000" b="1" i="1" spc="-232" dirty="0">
                <a:solidFill>
                  <a:srgbClr val="F10505">
                    <a:alpha val="94902"/>
                  </a:srgbClr>
                </a:solidFill>
                <a:latin typeface="Poppins Ultra-Bold Italics"/>
                <a:ea typeface="Poppins Ultra-Bold Italics"/>
                <a:cs typeface="Poppins Ultra-Bold Italics"/>
                <a:sym typeface="Poppins Ultra-Bold Italics"/>
              </a:rPr>
              <a:t>Python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34B8B8E9-F9F8-C022-BEE3-D12487254D30}"/>
              </a:ext>
            </a:extLst>
          </p:cNvPr>
          <p:cNvSpPr txBox="1"/>
          <p:nvPr/>
        </p:nvSpPr>
        <p:spPr>
          <a:xfrm>
            <a:off x="990600" y="2777766"/>
            <a:ext cx="6248400" cy="440442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just">
              <a:lnSpc>
                <a:spcPts val="3400"/>
              </a:lnSpc>
            </a:pPr>
            <a:r>
              <a:rPr lang="en-US" sz="3200" b="1" dirty="0">
                <a:solidFill>
                  <a:schemeClr val="bg1"/>
                </a:solidFill>
                <a:sym typeface="Poppins Bold"/>
              </a:rPr>
              <a:t>Total sales by quarter</a:t>
            </a:r>
            <a:endParaRPr lang="en-US" sz="3200" b="1" dirty="0">
              <a:solidFill>
                <a:schemeClr val="bg1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pic>
        <p:nvPicPr>
          <p:cNvPr id="14" name="Picture 13" descr="A graph with a line&#10;&#10;AI-generated content may be incorrect.">
            <a:extLst>
              <a:ext uri="{FF2B5EF4-FFF2-40B4-BE49-F238E27FC236}">
                <a16:creationId xmlns:a16="http://schemas.microsoft.com/office/drawing/2014/main" id="{26BE5C81-C9B4-8630-7BE8-B2C721E96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3467100"/>
            <a:ext cx="11705761" cy="6281140"/>
          </a:xfrm>
          <a:prstGeom prst="roundRect">
            <a:avLst>
              <a:gd name="adj" fmla="val 16667"/>
            </a:avLst>
          </a:prstGeom>
          <a:ln w="76200">
            <a:solidFill>
              <a:srgbClr val="C00000"/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6" name="Picture 15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74F21802-7D04-9576-7C1F-B5F9631EBD0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27965" y="55016"/>
            <a:ext cx="1455298" cy="1337935"/>
          </a:xfrm>
          <a:prstGeom prst="rect">
            <a:avLst/>
          </a:prstGeom>
        </p:spPr>
      </p:pic>
      <p:pic>
        <p:nvPicPr>
          <p:cNvPr id="17" name="Picture 1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2D0387C0-90A6-A55E-D3D3-7F39DB87EAA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863" y="-83970"/>
            <a:ext cx="2326880" cy="1310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0452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D83DCE-ED9E-F66B-7020-5B1C9C981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9B75D0B8-572C-8D62-EBC0-FAFC1FD518A8}"/>
              </a:ext>
            </a:extLst>
          </p:cNvPr>
          <p:cNvGrpSpPr/>
          <p:nvPr/>
        </p:nvGrpSpPr>
        <p:grpSpPr>
          <a:xfrm>
            <a:off x="-18897600" y="4822306"/>
            <a:ext cx="21288025" cy="11364542"/>
            <a:chOff x="-11299842" y="4822306"/>
            <a:chExt cx="21288025" cy="11364542"/>
          </a:xfrm>
        </p:grpSpPr>
        <p:grpSp>
          <p:nvGrpSpPr>
            <p:cNvPr id="2" name="Group 2">
              <a:extLst>
                <a:ext uri="{FF2B5EF4-FFF2-40B4-BE49-F238E27FC236}">
                  <a16:creationId xmlns:a16="http://schemas.microsoft.com/office/drawing/2014/main" id="{D221DDB8-F8E2-B15F-63DB-801319587E1A}"/>
                </a:ext>
              </a:extLst>
            </p:cNvPr>
            <p:cNvGrpSpPr/>
            <p:nvPr/>
          </p:nvGrpSpPr>
          <p:grpSpPr>
            <a:xfrm>
              <a:off x="-11299842" y="4822306"/>
              <a:ext cx="21288025" cy="11364542"/>
              <a:chOff x="0" y="0"/>
              <a:chExt cx="1264956" cy="675293"/>
            </a:xfrm>
          </p:grpSpPr>
          <p:sp>
            <p:nvSpPr>
              <p:cNvPr id="3" name="Freeform 3">
                <a:extLst>
                  <a:ext uri="{FF2B5EF4-FFF2-40B4-BE49-F238E27FC236}">
                    <a16:creationId xmlns:a16="http://schemas.microsoft.com/office/drawing/2014/main" id="{FAB7043A-72B6-95DE-809A-F1D10040CEE7}"/>
                  </a:ext>
                </a:extLst>
              </p:cNvPr>
              <p:cNvSpPr/>
              <p:nvPr/>
            </p:nvSpPr>
            <p:spPr>
              <a:xfrm>
                <a:off x="0" y="0"/>
                <a:ext cx="1264956" cy="675293"/>
              </a:xfrm>
              <a:custGeom>
                <a:avLst/>
                <a:gdLst/>
                <a:ahLst/>
                <a:cxnLst/>
                <a:rect l="l" t="t" r="r" b="b"/>
                <a:pathLst>
                  <a:path w="1264956" h="675293">
                    <a:moveTo>
                      <a:pt x="1264956" y="337646"/>
                    </a:moveTo>
                    <a:lnTo>
                      <a:pt x="1061756" y="675293"/>
                    </a:lnTo>
                    <a:lnTo>
                      <a:pt x="203200" y="675293"/>
                    </a:lnTo>
                    <a:lnTo>
                      <a:pt x="0" y="337646"/>
                    </a:lnTo>
                    <a:lnTo>
                      <a:pt x="203200" y="0"/>
                    </a:lnTo>
                    <a:lnTo>
                      <a:pt x="1061756" y="0"/>
                    </a:lnTo>
                    <a:lnTo>
                      <a:pt x="1264956" y="33764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C0505">
                      <a:alpha val="100000"/>
                    </a:srgbClr>
                  </a:gs>
                  <a:gs pos="100000">
                    <a:srgbClr val="80000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" name="TextBox 4">
                <a:extLst>
                  <a:ext uri="{FF2B5EF4-FFF2-40B4-BE49-F238E27FC236}">
                    <a16:creationId xmlns:a16="http://schemas.microsoft.com/office/drawing/2014/main" id="{CD4BD6D3-0901-018F-E222-B9FF32CF6E61}"/>
                  </a:ext>
                </a:extLst>
              </p:cNvPr>
              <p:cNvSpPr txBox="1"/>
              <p:nvPr/>
            </p:nvSpPr>
            <p:spPr>
              <a:xfrm>
                <a:off x="114300" y="-57150"/>
                <a:ext cx="1036356" cy="7324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89ABD077-3BDB-F21E-7006-D05E9DA3F620}"/>
                </a:ext>
              </a:extLst>
            </p:cNvPr>
            <p:cNvGrpSpPr/>
            <p:nvPr/>
          </p:nvGrpSpPr>
          <p:grpSpPr>
            <a:xfrm>
              <a:off x="-6524260" y="4988259"/>
              <a:ext cx="16331963" cy="11166685"/>
              <a:chOff x="0" y="0"/>
              <a:chExt cx="975283" cy="666832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8458F726-A8BB-27B9-B876-193D0BA4D69A}"/>
                  </a:ext>
                </a:extLst>
              </p:cNvPr>
              <p:cNvSpPr/>
              <p:nvPr/>
            </p:nvSpPr>
            <p:spPr>
              <a:xfrm>
                <a:off x="0" y="0"/>
                <a:ext cx="975283" cy="666832"/>
              </a:xfrm>
              <a:custGeom>
                <a:avLst/>
                <a:gdLst/>
                <a:ahLst/>
                <a:cxnLst/>
                <a:rect l="l" t="t" r="r" b="b"/>
                <a:pathLst>
                  <a:path w="975283" h="666832">
                    <a:moveTo>
                      <a:pt x="975283" y="333416"/>
                    </a:moveTo>
                    <a:lnTo>
                      <a:pt x="772083" y="666832"/>
                    </a:lnTo>
                    <a:lnTo>
                      <a:pt x="203200" y="666832"/>
                    </a:lnTo>
                    <a:lnTo>
                      <a:pt x="0" y="333416"/>
                    </a:lnTo>
                    <a:lnTo>
                      <a:pt x="203200" y="0"/>
                    </a:lnTo>
                    <a:lnTo>
                      <a:pt x="772083" y="0"/>
                    </a:lnTo>
                    <a:lnTo>
                      <a:pt x="975283" y="333416"/>
                    </a:lnTo>
                    <a:close/>
                  </a:path>
                </a:pathLst>
              </a:custGeom>
              <a:blipFill>
                <a:blip r:embed="rId2"/>
                <a:stretch>
                  <a:fillRect l="-5901" t="-8455" r="-25929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BC34CEDC-96E1-EB81-7917-0FA8DB9715DC}"/>
              </a:ext>
            </a:extLst>
          </p:cNvPr>
          <p:cNvGrpSpPr/>
          <p:nvPr/>
        </p:nvGrpSpPr>
        <p:grpSpPr>
          <a:xfrm>
            <a:off x="18030216" y="-644483"/>
            <a:ext cx="7877784" cy="11575965"/>
            <a:chOff x="0" y="0"/>
            <a:chExt cx="482133" cy="708467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4BCCADBC-5E8F-7946-EB15-05986FC8E11D}"/>
                </a:ext>
              </a:extLst>
            </p:cNvPr>
            <p:cNvSpPr/>
            <p:nvPr/>
          </p:nvSpPr>
          <p:spPr>
            <a:xfrm>
              <a:off x="0" y="0"/>
              <a:ext cx="482133" cy="708467"/>
            </a:xfrm>
            <a:custGeom>
              <a:avLst/>
              <a:gdLst/>
              <a:ahLst/>
              <a:cxnLst/>
              <a:rect l="l" t="t" r="r" b="b"/>
              <a:pathLst>
                <a:path w="482133" h="708467">
                  <a:moveTo>
                    <a:pt x="482133" y="354233"/>
                  </a:moveTo>
                  <a:lnTo>
                    <a:pt x="278933" y="708467"/>
                  </a:lnTo>
                  <a:lnTo>
                    <a:pt x="203200" y="708467"/>
                  </a:lnTo>
                  <a:lnTo>
                    <a:pt x="0" y="354233"/>
                  </a:lnTo>
                  <a:lnTo>
                    <a:pt x="203200" y="0"/>
                  </a:lnTo>
                  <a:lnTo>
                    <a:pt x="278933" y="0"/>
                  </a:lnTo>
                  <a:lnTo>
                    <a:pt x="482133" y="354233"/>
                  </a:lnTo>
                  <a:close/>
                </a:path>
              </a:pathLst>
            </a:custGeom>
            <a:blipFill>
              <a:blip r:embed="rId3"/>
              <a:stretch>
                <a:fillRect l="-96944" r="-9694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C8D07408-C6E8-5CAA-829F-2441F49BC5AA}"/>
              </a:ext>
            </a:extLst>
          </p:cNvPr>
          <p:cNvSpPr txBox="1"/>
          <p:nvPr/>
        </p:nvSpPr>
        <p:spPr>
          <a:xfrm>
            <a:off x="609600" y="1333500"/>
            <a:ext cx="7795779" cy="10182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600"/>
              </a:lnSpc>
            </a:pPr>
            <a:r>
              <a:rPr lang="en-US" sz="8000" b="1" i="1" spc="-232" dirty="0">
                <a:solidFill>
                  <a:srgbClr val="F10505">
                    <a:alpha val="94902"/>
                  </a:srgbClr>
                </a:solidFill>
                <a:latin typeface="Poppins Ultra-Bold Italics"/>
                <a:ea typeface="Poppins Ultra-Bold Italics"/>
                <a:cs typeface="Poppins Ultra-Bold Italics"/>
                <a:sym typeface="Poppins Ultra-Bold Italics"/>
              </a:rPr>
              <a:t>Python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F3E8AED3-CB8E-F54B-DD20-ADBACD1A93A3}"/>
              </a:ext>
            </a:extLst>
          </p:cNvPr>
          <p:cNvSpPr txBox="1"/>
          <p:nvPr/>
        </p:nvSpPr>
        <p:spPr>
          <a:xfrm>
            <a:off x="944546" y="2459329"/>
            <a:ext cx="6248400" cy="440442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just">
              <a:lnSpc>
                <a:spcPts val="3400"/>
              </a:lnSpc>
            </a:pPr>
            <a:r>
              <a:rPr lang="en-US" sz="3200" b="1" dirty="0">
                <a:solidFill>
                  <a:schemeClr val="bg1"/>
                </a:solidFill>
                <a:sym typeface="Poppins Bold"/>
              </a:rPr>
              <a:t>Total sales by income level</a:t>
            </a:r>
            <a:endParaRPr lang="en-US" sz="3200" b="1" dirty="0">
              <a:solidFill>
                <a:schemeClr val="bg1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74CEEA8-0349-1540-15B0-CBCC511A51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883" y="2982747"/>
            <a:ext cx="12039600" cy="7193991"/>
          </a:xfrm>
          <a:prstGeom prst="roundRect">
            <a:avLst>
              <a:gd name="adj" fmla="val 16667"/>
            </a:avLst>
          </a:prstGeom>
          <a:ln w="76200">
            <a:solidFill>
              <a:srgbClr val="C00000"/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1" name="Picture 10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F35F73C8-39D0-3088-4169-60BA9FC5A68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27965" y="55016"/>
            <a:ext cx="1455298" cy="1337935"/>
          </a:xfrm>
          <a:prstGeom prst="rect">
            <a:avLst/>
          </a:prstGeom>
        </p:spPr>
      </p:pic>
      <p:pic>
        <p:nvPicPr>
          <p:cNvPr id="12" name="Picture 1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DAE9971A-6154-5E7F-8D32-ACA7772F87F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863" y="-83970"/>
            <a:ext cx="2326880" cy="1310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229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AD5717-3A67-400F-4820-83BF9D2DE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6A87164B-C214-7E88-9792-C474686AA096}"/>
              </a:ext>
            </a:extLst>
          </p:cNvPr>
          <p:cNvGrpSpPr/>
          <p:nvPr/>
        </p:nvGrpSpPr>
        <p:grpSpPr>
          <a:xfrm>
            <a:off x="-18897600" y="4822306"/>
            <a:ext cx="21288025" cy="11364542"/>
            <a:chOff x="-11299842" y="4822306"/>
            <a:chExt cx="21288025" cy="11364542"/>
          </a:xfrm>
        </p:grpSpPr>
        <p:grpSp>
          <p:nvGrpSpPr>
            <p:cNvPr id="2" name="Group 2">
              <a:extLst>
                <a:ext uri="{FF2B5EF4-FFF2-40B4-BE49-F238E27FC236}">
                  <a16:creationId xmlns:a16="http://schemas.microsoft.com/office/drawing/2014/main" id="{2DC8FE82-BCAE-9A6C-CC90-B0056DDF697C}"/>
                </a:ext>
              </a:extLst>
            </p:cNvPr>
            <p:cNvGrpSpPr/>
            <p:nvPr/>
          </p:nvGrpSpPr>
          <p:grpSpPr>
            <a:xfrm>
              <a:off x="-11299842" y="4822306"/>
              <a:ext cx="21288025" cy="11364542"/>
              <a:chOff x="0" y="0"/>
              <a:chExt cx="1264956" cy="675293"/>
            </a:xfrm>
          </p:grpSpPr>
          <p:sp>
            <p:nvSpPr>
              <p:cNvPr id="3" name="Freeform 3">
                <a:extLst>
                  <a:ext uri="{FF2B5EF4-FFF2-40B4-BE49-F238E27FC236}">
                    <a16:creationId xmlns:a16="http://schemas.microsoft.com/office/drawing/2014/main" id="{6568B55E-0B89-61C5-C884-22E6A08CD190}"/>
                  </a:ext>
                </a:extLst>
              </p:cNvPr>
              <p:cNvSpPr/>
              <p:nvPr/>
            </p:nvSpPr>
            <p:spPr>
              <a:xfrm>
                <a:off x="0" y="0"/>
                <a:ext cx="1264956" cy="675293"/>
              </a:xfrm>
              <a:custGeom>
                <a:avLst/>
                <a:gdLst/>
                <a:ahLst/>
                <a:cxnLst/>
                <a:rect l="l" t="t" r="r" b="b"/>
                <a:pathLst>
                  <a:path w="1264956" h="675293">
                    <a:moveTo>
                      <a:pt x="1264956" y="337646"/>
                    </a:moveTo>
                    <a:lnTo>
                      <a:pt x="1061756" y="675293"/>
                    </a:lnTo>
                    <a:lnTo>
                      <a:pt x="203200" y="675293"/>
                    </a:lnTo>
                    <a:lnTo>
                      <a:pt x="0" y="337646"/>
                    </a:lnTo>
                    <a:lnTo>
                      <a:pt x="203200" y="0"/>
                    </a:lnTo>
                    <a:lnTo>
                      <a:pt x="1061756" y="0"/>
                    </a:lnTo>
                    <a:lnTo>
                      <a:pt x="1264956" y="33764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C0505">
                      <a:alpha val="100000"/>
                    </a:srgbClr>
                  </a:gs>
                  <a:gs pos="100000">
                    <a:srgbClr val="80000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" name="TextBox 4">
                <a:extLst>
                  <a:ext uri="{FF2B5EF4-FFF2-40B4-BE49-F238E27FC236}">
                    <a16:creationId xmlns:a16="http://schemas.microsoft.com/office/drawing/2014/main" id="{3F9BE119-E6C2-D6FF-57A6-4F4A87A51F6F}"/>
                  </a:ext>
                </a:extLst>
              </p:cNvPr>
              <p:cNvSpPr txBox="1"/>
              <p:nvPr/>
            </p:nvSpPr>
            <p:spPr>
              <a:xfrm>
                <a:off x="114300" y="-57150"/>
                <a:ext cx="1036356" cy="7324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54624AB7-0760-F28F-1A0A-09682F8E65AB}"/>
                </a:ext>
              </a:extLst>
            </p:cNvPr>
            <p:cNvGrpSpPr/>
            <p:nvPr/>
          </p:nvGrpSpPr>
          <p:grpSpPr>
            <a:xfrm>
              <a:off x="-6524260" y="4988259"/>
              <a:ext cx="16331963" cy="11166685"/>
              <a:chOff x="0" y="0"/>
              <a:chExt cx="975283" cy="666832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B0CA4A7B-3919-6377-53B5-34192D3B9C09}"/>
                  </a:ext>
                </a:extLst>
              </p:cNvPr>
              <p:cNvSpPr/>
              <p:nvPr/>
            </p:nvSpPr>
            <p:spPr>
              <a:xfrm>
                <a:off x="0" y="0"/>
                <a:ext cx="975283" cy="666832"/>
              </a:xfrm>
              <a:custGeom>
                <a:avLst/>
                <a:gdLst/>
                <a:ahLst/>
                <a:cxnLst/>
                <a:rect l="l" t="t" r="r" b="b"/>
                <a:pathLst>
                  <a:path w="975283" h="666832">
                    <a:moveTo>
                      <a:pt x="975283" y="333416"/>
                    </a:moveTo>
                    <a:lnTo>
                      <a:pt x="772083" y="666832"/>
                    </a:lnTo>
                    <a:lnTo>
                      <a:pt x="203200" y="666832"/>
                    </a:lnTo>
                    <a:lnTo>
                      <a:pt x="0" y="333416"/>
                    </a:lnTo>
                    <a:lnTo>
                      <a:pt x="203200" y="0"/>
                    </a:lnTo>
                    <a:lnTo>
                      <a:pt x="772083" y="0"/>
                    </a:lnTo>
                    <a:lnTo>
                      <a:pt x="975283" y="333416"/>
                    </a:lnTo>
                    <a:close/>
                  </a:path>
                </a:pathLst>
              </a:custGeom>
              <a:blipFill>
                <a:blip r:embed="rId2"/>
                <a:stretch>
                  <a:fillRect l="-5901" t="-8455" r="-25929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C4340302-A49A-6959-8D84-6CFDB010A96A}"/>
              </a:ext>
            </a:extLst>
          </p:cNvPr>
          <p:cNvGrpSpPr/>
          <p:nvPr/>
        </p:nvGrpSpPr>
        <p:grpSpPr>
          <a:xfrm>
            <a:off x="18030216" y="-644483"/>
            <a:ext cx="7877784" cy="11575965"/>
            <a:chOff x="0" y="0"/>
            <a:chExt cx="482133" cy="708467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5E4722E7-9C6C-3D91-7BC2-F3CFC66B4516}"/>
                </a:ext>
              </a:extLst>
            </p:cNvPr>
            <p:cNvSpPr/>
            <p:nvPr/>
          </p:nvSpPr>
          <p:spPr>
            <a:xfrm>
              <a:off x="0" y="0"/>
              <a:ext cx="482133" cy="708467"/>
            </a:xfrm>
            <a:custGeom>
              <a:avLst/>
              <a:gdLst/>
              <a:ahLst/>
              <a:cxnLst/>
              <a:rect l="l" t="t" r="r" b="b"/>
              <a:pathLst>
                <a:path w="482133" h="708467">
                  <a:moveTo>
                    <a:pt x="482133" y="354233"/>
                  </a:moveTo>
                  <a:lnTo>
                    <a:pt x="278933" y="708467"/>
                  </a:lnTo>
                  <a:lnTo>
                    <a:pt x="203200" y="708467"/>
                  </a:lnTo>
                  <a:lnTo>
                    <a:pt x="0" y="354233"/>
                  </a:lnTo>
                  <a:lnTo>
                    <a:pt x="203200" y="0"/>
                  </a:lnTo>
                  <a:lnTo>
                    <a:pt x="278933" y="0"/>
                  </a:lnTo>
                  <a:lnTo>
                    <a:pt x="482133" y="354233"/>
                  </a:lnTo>
                  <a:close/>
                </a:path>
              </a:pathLst>
            </a:custGeom>
            <a:blipFill>
              <a:blip r:embed="rId3"/>
              <a:stretch>
                <a:fillRect l="-96944" r="-9694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F73A8DE4-8519-0E5D-AA7A-31AC8F7EA6EE}"/>
              </a:ext>
            </a:extLst>
          </p:cNvPr>
          <p:cNvSpPr txBox="1"/>
          <p:nvPr/>
        </p:nvSpPr>
        <p:spPr>
          <a:xfrm>
            <a:off x="533400" y="1409700"/>
            <a:ext cx="7795779" cy="10182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600"/>
              </a:lnSpc>
            </a:pPr>
            <a:r>
              <a:rPr lang="en-US" sz="8000" b="1" i="1" spc="-232" dirty="0">
                <a:solidFill>
                  <a:srgbClr val="F10505">
                    <a:alpha val="94902"/>
                  </a:srgbClr>
                </a:solidFill>
                <a:latin typeface="Poppins Ultra-Bold Italics"/>
                <a:ea typeface="Poppins Ultra-Bold Italics"/>
                <a:cs typeface="Poppins Ultra-Bold Italics"/>
                <a:sym typeface="Poppins Ultra-Bold Italics"/>
              </a:rPr>
              <a:t>Python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1445359E-490C-BD6C-4C3E-C9A685A265CD}"/>
              </a:ext>
            </a:extLst>
          </p:cNvPr>
          <p:cNvSpPr txBox="1"/>
          <p:nvPr/>
        </p:nvSpPr>
        <p:spPr>
          <a:xfrm>
            <a:off x="944546" y="2459329"/>
            <a:ext cx="6248400" cy="440442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just">
              <a:lnSpc>
                <a:spcPts val="3400"/>
              </a:lnSpc>
            </a:pPr>
            <a:r>
              <a:rPr lang="en-US" sz="3200" b="1" dirty="0">
                <a:solidFill>
                  <a:schemeClr val="bg1"/>
                </a:solidFill>
                <a:sym typeface="Poppins Bold"/>
              </a:rPr>
              <a:t>Total sales by month</a:t>
            </a:r>
            <a:endParaRPr lang="en-US" sz="3200" b="1" dirty="0">
              <a:solidFill>
                <a:schemeClr val="bg1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pic>
        <p:nvPicPr>
          <p:cNvPr id="11" name="Picture 10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C3AC5152-4B5C-0651-C18F-18BF8BFADB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5596" y="3235973"/>
            <a:ext cx="11625886" cy="6576008"/>
          </a:xfrm>
          <a:prstGeom prst="roundRect">
            <a:avLst>
              <a:gd name="adj" fmla="val 16667"/>
            </a:avLst>
          </a:prstGeom>
          <a:ln w="76200">
            <a:solidFill>
              <a:srgbClr val="C00000"/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2" name="Picture 11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727F4F8B-5574-22E4-F4F9-989B6F0E054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27965" y="55016"/>
            <a:ext cx="1455298" cy="1337935"/>
          </a:xfrm>
          <a:prstGeom prst="rect">
            <a:avLst/>
          </a:prstGeom>
        </p:spPr>
      </p:pic>
      <p:pic>
        <p:nvPicPr>
          <p:cNvPr id="14" name="Picture 1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00EC561B-8EF8-5EB0-ED19-916118DF3C4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863" y="-83970"/>
            <a:ext cx="2326880" cy="1310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872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597C49-D8E4-2F10-E792-1B6C5BD70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05164DA1-7826-C059-C607-18EC44260549}"/>
              </a:ext>
            </a:extLst>
          </p:cNvPr>
          <p:cNvGrpSpPr/>
          <p:nvPr/>
        </p:nvGrpSpPr>
        <p:grpSpPr>
          <a:xfrm>
            <a:off x="-18897600" y="4822306"/>
            <a:ext cx="21288025" cy="11364542"/>
            <a:chOff x="-11299842" y="4822306"/>
            <a:chExt cx="21288025" cy="11364542"/>
          </a:xfrm>
        </p:grpSpPr>
        <p:grpSp>
          <p:nvGrpSpPr>
            <p:cNvPr id="2" name="Group 2">
              <a:extLst>
                <a:ext uri="{FF2B5EF4-FFF2-40B4-BE49-F238E27FC236}">
                  <a16:creationId xmlns:a16="http://schemas.microsoft.com/office/drawing/2014/main" id="{CB22DAAB-1A42-F4A8-25CC-558068DA9085}"/>
                </a:ext>
              </a:extLst>
            </p:cNvPr>
            <p:cNvGrpSpPr/>
            <p:nvPr/>
          </p:nvGrpSpPr>
          <p:grpSpPr>
            <a:xfrm>
              <a:off x="-11299842" y="4822306"/>
              <a:ext cx="21288025" cy="11364542"/>
              <a:chOff x="0" y="0"/>
              <a:chExt cx="1264956" cy="675293"/>
            </a:xfrm>
          </p:grpSpPr>
          <p:sp>
            <p:nvSpPr>
              <p:cNvPr id="3" name="Freeform 3">
                <a:extLst>
                  <a:ext uri="{FF2B5EF4-FFF2-40B4-BE49-F238E27FC236}">
                    <a16:creationId xmlns:a16="http://schemas.microsoft.com/office/drawing/2014/main" id="{33D5798A-5275-560E-D7AB-1A393E4C1DF2}"/>
                  </a:ext>
                </a:extLst>
              </p:cNvPr>
              <p:cNvSpPr/>
              <p:nvPr/>
            </p:nvSpPr>
            <p:spPr>
              <a:xfrm>
                <a:off x="0" y="0"/>
                <a:ext cx="1264956" cy="675293"/>
              </a:xfrm>
              <a:custGeom>
                <a:avLst/>
                <a:gdLst/>
                <a:ahLst/>
                <a:cxnLst/>
                <a:rect l="l" t="t" r="r" b="b"/>
                <a:pathLst>
                  <a:path w="1264956" h="675293">
                    <a:moveTo>
                      <a:pt x="1264956" y="337646"/>
                    </a:moveTo>
                    <a:lnTo>
                      <a:pt x="1061756" y="675293"/>
                    </a:lnTo>
                    <a:lnTo>
                      <a:pt x="203200" y="675293"/>
                    </a:lnTo>
                    <a:lnTo>
                      <a:pt x="0" y="337646"/>
                    </a:lnTo>
                    <a:lnTo>
                      <a:pt x="203200" y="0"/>
                    </a:lnTo>
                    <a:lnTo>
                      <a:pt x="1061756" y="0"/>
                    </a:lnTo>
                    <a:lnTo>
                      <a:pt x="1264956" y="33764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C0505">
                      <a:alpha val="100000"/>
                    </a:srgbClr>
                  </a:gs>
                  <a:gs pos="100000">
                    <a:srgbClr val="80000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" name="TextBox 4">
                <a:extLst>
                  <a:ext uri="{FF2B5EF4-FFF2-40B4-BE49-F238E27FC236}">
                    <a16:creationId xmlns:a16="http://schemas.microsoft.com/office/drawing/2014/main" id="{C105D772-35A7-6FB9-FC4E-6FDAD67006CC}"/>
                  </a:ext>
                </a:extLst>
              </p:cNvPr>
              <p:cNvSpPr txBox="1"/>
              <p:nvPr/>
            </p:nvSpPr>
            <p:spPr>
              <a:xfrm>
                <a:off x="114300" y="-57150"/>
                <a:ext cx="1036356" cy="7324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BF863C66-55E0-5BD4-B942-E1A40A920331}"/>
                </a:ext>
              </a:extLst>
            </p:cNvPr>
            <p:cNvGrpSpPr/>
            <p:nvPr/>
          </p:nvGrpSpPr>
          <p:grpSpPr>
            <a:xfrm>
              <a:off x="-6524260" y="4988259"/>
              <a:ext cx="16331963" cy="11166685"/>
              <a:chOff x="0" y="0"/>
              <a:chExt cx="975283" cy="666832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F0D9F0D8-1A7F-FE48-B0C9-E080153DD7AA}"/>
                  </a:ext>
                </a:extLst>
              </p:cNvPr>
              <p:cNvSpPr/>
              <p:nvPr/>
            </p:nvSpPr>
            <p:spPr>
              <a:xfrm>
                <a:off x="0" y="0"/>
                <a:ext cx="975283" cy="666832"/>
              </a:xfrm>
              <a:custGeom>
                <a:avLst/>
                <a:gdLst/>
                <a:ahLst/>
                <a:cxnLst/>
                <a:rect l="l" t="t" r="r" b="b"/>
                <a:pathLst>
                  <a:path w="975283" h="666832">
                    <a:moveTo>
                      <a:pt x="975283" y="333416"/>
                    </a:moveTo>
                    <a:lnTo>
                      <a:pt x="772083" y="666832"/>
                    </a:lnTo>
                    <a:lnTo>
                      <a:pt x="203200" y="666832"/>
                    </a:lnTo>
                    <a:lnTo>
                      <a:pt x="0" y="333416"/>
                    </a:lnTo>
                    <a:lnTo>
                      <a:pt x="203200" y="0"/>
                    </a:lnTo>
                    <a:lnTo>
                      <a:pt x="772083" y="0"/>
                    </a:lnTo>
                    <a:lnTo>
                      <a:pt x="975283" y="333416"/>
                    </a:lnTo>
                    <a:close/>
                  </a:path>
                </a:pathLst>
              </a:custGeom>
              <a:blipFill>
                <a:blip r:embed="rId2"/>
                <a:stretch>
                  <a:fillRect l="-5901" t="-8455" r="-25929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91A58CB6-0426-E81A-AED0-14C5BA21134A}"/>
              </a:ext>
            </a:extLst>
          </p:cNvPr>
          <p:cNvGrpSpPr/>
          <p:nvPr/>
        </p:nvGrpSpPr>
        <p:grpSpPr>
          <a:xfrm>
            <a:off x="18030216" y="-644483"/>
            <a:ext cx="7877784" cy="11575965"/>
            <a:chOff x="0" y="0"/>
            <a:chExt cx="482133" cy="708467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F3CD21-D159-A627-BB6A-28DD129F9B4D}"/>
                </a:ext>
              </a:extLst>
            </p:cNvPr>
            <p:cNvSpPr/>
            <p:nvPr/>
          </p:nvSpPr>
          <p:spPr>
            <a:xfrm>
              <a:off x="0" y="0"/>
              <a:ext cx="482133" cy="708467"/>
            </a:xfrm>
            <a:custGeom>
              <a:avLst/>
              <a:gdLst/>
              <a:ahLst/>
              <a:cxnLst/>
              <a:rect l="l" t="t" r="r" b="b"/>
              <a:pathLst>
                <a:path w="482133" h="708467">
                  <a:moveTo>
                    <a:pt x="482133" y="354233"/>
                  </a:moveTo>
                  <a:lnTo>
                    <a:pt x="278933" y="708467"/>
                  </a:lnTo>
                  <a:lnTo>
                    <a:pt x="203200" y="708467"/>
                  </a:lnTo>
                  <a:lnTo>
                    <a:pt x="0" y="354233"/>
                  </a:lnTo>
                  <a:lnTo>
                    <a:pt x="203200" y="0"/>
                  </a:lnTo>
                  <a:lnTo>
                    <a:pt x="278933" y="0"/>
                  </a:lnTo>
                  <a:lnTo>
                    <a:pt x="482133" y="354233"/>
                  </a:lnTo>
                  <a:close/>
                </a:path>
              </a:pathLst>
            </a:custGeom>
            <a:blipFill>
              <a:blip r:embed="rId3"/>
              <a:stretch>
                <a:fillRect l="-96944" r="-9694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FF66E6AC-2363-DF51-1439-A2312D4AF45F}"/>
              </a:ext>
            </a:extLst>
          </p:cNvPr>
          <p:cNvSpPr txBox="1"/>
          <p:nvPr/>
        </p:nvSpPr>
        <p:spPr>
          <a:xfrm>
            <a:off x="533400" y="1485900"/>
            <a:ext cx="7795779" cy="10182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600"/>
              </a:lnSpc>
            </a:pPr>
            <a:r>
              <a:rPr lang="en-US" sz="8000" b="1" i="1" spc="-232" dirty="0">
                <a:solidFill>
                  <a:srgbClr val="F10505">
                    <a:alpha val="94902"/>
                  </a:srgbClr>
                </a:solidFill>
                <a:latin typeface="Poppins Ultra-Bold Italics"/>
                <a:ea typeface="Poppins Ultra-Bold Italics"/>
                <a:cs typeface="Poppins Ultra-Bold Italics"/>
                <a:sym typeface="Poppins Ultra-Bold Italics"/>
              </a:rPr>
              <a:t>Python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4E3350D6-5E80-E29A-9402-9999621DF05D}"/>
              </a:ext>
            </a:extLst>
          </p:cNvPr>
          <p:cNvSpPr txBox="1"/>
          <p:nvPr/>
        </p:nvSpPr>
        <p:spPr>
          <a:xfrm>
            <a:off x="944546" y="2459329"/>
            <a:ext cx="6248400" cy="440442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just">
              <a:lnSpc>
                <a:spcPts val="3400"/>
              </a:lnSpc>
            </a:pPr>
            <a:r>
              <a:rPr lang="en-US" sz="3200" b="1" dirty="0">
                <a:solidFill>
                  <a:schemeClr val="bg1"/>
                </a:solidFill>
                <a:sym typeface="Poppins Bold"/>
              </a:rPr>
              <a:t>Top 5 dealers by total sales</a:t>
            </a:r>
            <a:endParaRPr lang="en-US" sz="3200" b="1" dirty="0">
              <a:solidFill>
                <a:schemeClr val="bg1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pic>
        <p:nvPicPr>
          <p:cNvPr id="10" name="Picture 9" descr="A graph of sales&#10;&#10;AI-generated content may be incorrect.">
            <a:extLst>
              <a:ext uri="{FF2B5EF4-FFF2-40B4-BE49-F238E27FC236}">
                <a16:creationId xmlns:a16="http://schemas.microsoft.com/office/drawing/2014/main" id="{9810BB67-E81E-59EB-67DD-944B0A63AE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945" y="3065724"/>
            <a:ext cx="13106400" cy="6926484"/>
          </a:xfrm>
          <a:prstGeom prst="roundRect">
            <a:avLst>
              <a:gd name="adj" fmla="val 16667"/>
            </a:avLst>
          </a:prstGeom>
          <a:ln w="76200">
            <a:solidFill>
              <a:srgbClr val="C00000"/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2" name="Picture 11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51D5A555-2288-4068-7291-6D06E6657F6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27965" y="55016"/>
            <a:ext cx="1455298" cy="1337935"/>
          </a:xfrm>
          <a:prstGeom prst="rect">
            <a:avLst/>
          </a:prstGeom>
        </p:spPr>
      </p:pic>
      <p:pic>
        <p:nvPicPr>
          <p:cNvPr id="14" name="Picture 1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BE73E6DB-F5FF-6F47-B84B-8CBC0AEC3DA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863" y="-83970"/>
            <a:ext cx="2326880" cy="1310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122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83E755-B6C2-9AEA-63CB-C2698AD33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065A5AE7-A00D-0FF5-68F8-1B5CF7E8AEEF}"/>
              </a:ext>
            </a:extLst>
          </p:cNvPr>
          <p:cNvGrpSpPr/>
          <p:nvPr/>
        </p:nvGrpSpPr>
        <p:grpSpPr>
          <a:xfrm>
            <a:off x="-18897600" y="4822306"/>
            <a:ext cx="21288025" cy="11364542"/>
            <a:chOff x="-11299842" y="4822306"/>
            <a:chExt cx="21288025" cy="11364542"/>
          </a:xfrm>
        </p:grpSpPr>
        <p:grpSp>
          <p:nvGrpSpPr>
            <p:cNvPr id="2" name="Group 2">
              <a:extLst>
                <a:ext uri="{FF2B5EF4-FFF2-40B4-BE49-F238E27FC236}">
                  <a16:creationId xmlns:a16="http://schemas.microsoft.com/office/drawing/2014/main" id="{2E6DB69B-B488-3144-F361-3D62FCC9C1E2}"/>
                </a:ext>
              </a:extLst>
            </p:cNvPr>
            <p:cNvGrpSpPr/>
            <p:nvPr/>
          </p:nvGrpSpPr>
          <p:grpSpPr>
            <a:xfrm>
              <a:off x="-11299842" y="4822306"/>
              <a:ext cx="21288025" cy="11364542"/>
              <a:chOff x="0" y="0"/>
              <a:chExt cx="1264956" cy="675293"/>
            </a:xfrm>
          </p:grpSpPr>
          <p:sp>
            <p:nvSpPr>
              <p:cNvPr id="3" name="Freeform 3">
                <a:extLst>
                  <a:ext uri="{FF2B5EF4-FFF2-40B4-BE49-F238E27FC236}">
                    <a16:creationId xmlns:a16="http://schemas.microsoft.com/office/drawing/2014/main" id="{CEF11682-331A-96E1-24F7-5C9F761402DC}"/>
                  </a:ext>
                </a:extLst>
              </p:cNvPr>
              <p:cNvSpPr/>
              <p:nvPr/>
            </p:nvSpPr>
            <p:spPr>
              <a:xfrm>
                <a:off x="0" y="0"/>
                <a:ext cx="1264956" cy="675293"/>
              </a:xfrm>
              <a:custGeom>
                <a:avLst/>
                <a:gdLst/>
                <a:ahLst/>
                <a:cxnLst/>
                <a:rect l="l" t="t" r="r" b="b"/>
                <a:pathLst>
                  <a:path w="1264956" h="675293">
                    <a:moveTo>
                      <a:pt x="1264956" y="337646"/>
                    </a:moveTo>
                    <a:lnTo>
                      <a:pt x="1061756" y="675293"/>
                    </a:lnTo>
                    <a:lnTo>
                      <a:pt x="203200" y="675293"/>
                    </a:lnTo>
                    <a:lnTo>
                      <a:pt x="0" y="337646"/>
                    </a:lnTo>
                    <a:lnTo>
                      <a:pt x="203200" y="0"/>
                    </a:lnTo>
                    <a:lnTo>
                      <a:pt x="1061756" y="0"/>
                    </a:lnTo>
                    <a:lnTo>
                      <a:pt x="1264956" y="33764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C0505">
                      <a:alpha val="100000"/>
                    </a:srgbClr>
                  </a:gs>
                  <a:gs pos="100000">
                    <a:srgbClr val="80000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" name="TextBox 4">
                <a:extLst>
                  <a:ext uri="{FF2B5EF4-FFF2-40B4-BE49-F238E27FC236}">
                    <a16:creationId xmlns:a16="http://schemas.microsoft.com/office/drawing/2014/main" id="{B16E002E-EBD2-2441-BDD2-C38A9E030054}"/>
                  </a:ext>
                </a:extLst>
              </p:cNvPr>
              <p:cNvSpPr txBox="1"/>
              <p:nvPr/>
            </p:nvSpPr>
            <p:spPr>
              <a:xfrm>
                <a:off x="114300" y="-57150"/>
                <a:ext cx="1036356" cy="7324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BF6DC4C9-006B-3FAE-2B6A-65A7AA7FC34D}"/>
                </a:ext>
              </a:extLst>
            </p:cNvPr>
            <p:cNvGrpSpPr/>
            <p:nvPr/>
          </p:nvGrpSpPr>
          <p:grpSpPr>
            <a:xfrm>
              <a:off x="-6524260" y="4988259"/>
              <a:ext cx="16331963" cy="11166685"/>
              <a:chOff x="0" y="0"/>
              <a:chExt cx="975283" cy="666832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CF7138C0-8D0D-B3B1-033F-F8758F342E8F}"/>
                  </a:ext>
                </a:extLst>
              </p:cNvPr>
              <p:cNvSpPr/>
              <p:nvPr/>
            </p:nvSpPr>
            <p:spPr>
              <a:xfrm>
                <a:off x="0" y="0"/>
                <a:ext cx="975283" cy="666832"/>
              </a:xfrm>
              <a:custGeom>
                <a:avLst/>
                <a:gdLst/>
                <a:ahLst/>
                <a:cxnLst/>
                <a:rect l="l" t="t" r="r" b="b"/>
                <a:pathLst>
                  <a:path w="975283" h="666832">
                    <a:moveTo>
                      <a:pt x="975283" y="333416"/>
                    </a:moveTo>
                    <a:lnTo>
                      <a:pt x="772083" y="666832"/>
                    </a:lnTo>
                    <a:lnTo>
                      <a:pt x="203200" y="666832"/>
                    </a:lnTo>
                    <a:lnTo>
                      <a:pt x="0" y="333416"/>
                    </a:lnTo>
                    <a:lnTo>
                      <a:pt x="203200" y="0"/>
                    </a:lnTo>
                    <a:lnTo>
                      <a:pt x="772083" y="0"/>
                    </a:lnTo>
                    <a:lnTo>
                      <a:pt x="975283" y="333416"/>
                    </a:lnTo>
                    <a:close/>
                  </a:path>
                </a:pathLst>
              </a:custGeom>
              <a:blipFill>
                <a:blip r:embed="rId2"/>
                <a:stretch>
                  <a:fillRect l="-5901" t="-8455" r="-25929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C3EFE95F-80B3-4101-B521-E0F570DB4BD4}"/>
              </a:ext>
            </a:extLst>
          </p:cNvPr>
          <p:cNvGrpSpPr/>
          <p:nvPr/>
        </p:nvGrpSpPr>
        <p:grpSpPr>
          <a:xfrm>
            <a:off x="18030216" y="-644483"/>
            <a:ext cx="7877784" cy="11575965"/>
            <a:chOff x="0" y="0"/>
            <a:chExt cx="482133" cy="708467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A129E1BB-9C7E-4959-7A34-27C0935F343F}"/>
                </a:ext>
              </a:extLst>
            </p:cNvPr>
            <p:cNvSpPr/>
            <p:nvPr/>
          </p:nvSpPr>
          <p:spPr>
            <a:xfrm>
              <a:off x="0" y="0"/>
              <a:ext cx="482133" cy="708467"/>
            </a:xfrm>
            <a:custGeom>
              <a:avLst/>
              <a:gdLst/>
              <a:ahLst/>
              <a:cxnLst/>
              <a:rect l="l" t="t" r="r" b="b"/>
              <a:pathLst>
                <a:path w="482133" h="708467">
                  <a:moveTo>
                    <a:pt x="482133" y="354233"/>
                  </a:moveTo>
                  <a:lnTo>
                    <a:pt x="278933" y="708467"/>
                  </a:lnTo>
                  <a:lnTo>
                    <a:pt x="203200" y="708467"/>
                  </a:lnTo>
                  <a:lnTo>
                    <a:pt x="0" y="354233"/>
                  </a:lnTo>
                  <a:lnTo>
                    <a:pt x="203200" y="0"/>
                  </a:lnTo>
                  <a:lnTo>
                    <a:pt x="278933" y="0"/>
                  </a:lnTo>
                  <a:lnTo>
                    <a:pt x="482133" y="354233"/>
                  </a:lnTo>
                  <a:close/>
                </a:path>
              </a:pathLst>
            </a:custGeom>
            <a:blipFill>
              <a:blip r:embed="rId3"/>
              <a:stretch>
                <a:fillRect l="-96944" r="-9694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9261ECD8-0D1F-5DA3-971D-763EC5E23270}"/>
              </a:ext>
            </a:extLst>
          </p:cNvPr>
          <p:cNvSpPr txBox="1"/>
          <p:nvPr/>
        </p:nvSpPr>
        <p:spPr>
          <a:xfrm>
            <a:off x="533400" y="1257300"/>
            <a:ext cx="7795779" cy="10182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600"/>
              </a:lnSpc>
            </a:pPr>
            <a:r>
              <a:rPr lang="en-US" sz="8000" b="1" i="1" spc="-232" dirty="0">
                <a:solidFill>
                  <a:srgbClr val="F10505">
                    <a:alpha val="94902"/>
                  </a:srgbClr>
                </a:solidFill>
                <a:latin typeface="Poppins Ultra-Bold Italics"/>
                <a:ea typeface="Poppins Ultra-Bold Italics"/>
                <a:cs typeface="Poppins Ultra-Bold Italics"/>
                <a:sym typeface="Poppins Ultra-Bold Italics"/>
              </a:rPr>
              <a:t>Methodologies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40079CF0-637A-37DA-FFC0-4D7691DB1475}"/>
              </a:ext>
            </a:extLst>
          </p:cNvPr>
          <p:cNvSpPr txBox="1"/>
          <p:nvPr/>
        </p:nvSpPr>
        <p:spPr>
          <a:xfrm>
            <a:off x="914400" y="3170193"/>
            <a:ext cx="2362200" cy="441916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just">
              <a:lnSpc>
                <a:spcPts val="3400"/>
              </a:lnSpc>
            </a:pPr>
            <a:r>
              <a:rPr lang="en-US" sz="32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Tableau</a:t>
            </a:r>
            <a:endParaRPr lang="en-US" sz="3200" b="1" dirty="0">
              <a:solidFill>
                <a:srgbClr val="F10505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EBB1E9EC-6600-309A-A5C8-9EEA68E4D951}"/>
              </a:ext>
            </a:extLst>
          </p:cNvPr>
          <p:cNvSpPr txBox="1"/>
          <p:nvPr/>
        </p:nvSpPr>
        <p:spPr>
          <a:xfrm>
            <a:off x="914400" y="4018121"/>
            <a:ext cx="7162800" cy="196977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We did the following using Tableau: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200" dirty="0">
                <a:solidFill>
                  <a:schemeClr val="bg1"/>
                </a:solidFill>
              </a:rPr>
              <a:t>Data Loading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200" dirty="0">
                <a:solidFill>
                  <a:schemeClr val="bg1"/>
                </a:solidFill>
              </a:rPr>
              <a:t>Data Modeling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200" dirty="0">
                <a:solidFill>
                  <a:schemeClr val="bg1"/>
                </a:solidFill>
              </a:rPr>
              <a:t>Data Analysis and Extracting Insights</a:t>
            </a:r>
          </a:p>
        </p:txBody>
      </p:sp>
      <p:pic>
        <p:nvPicPr>
          <p:cNvPr id="9" name="Picture 8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9FD72C48-C498-09EF-A9FA-6E523EF9111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27965" y="55016"/>
            <a:ext cx="1455298" cy="1337935"/>
          </a:xfrm>
          <a:prstGeom prst="rect">
            <a:avLst/>
          </a:prstGeom>
        </p:spPr>
      </p:pic>
      <p:pic>
        <p:nvPicPr>
          <p:cNvPr id="10" name="Picture 9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0E3816B7-AEB4-05D8-8A0A-0E3B63A8614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863" y="-83970"/>
            <a:ext cx="2326880" cy="1310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003249"/>
      </p:ext>
    </p:extLst>
  </p:cSld>
  <p:clrMapOvr>
    <a:masterClrMapping/>
  </p:clrMapOvr>
  <p:transition spd="slow">
    <p:cover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AD199D-2390-E585-362C-2185D9FA0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4CFCA603-D9CE-DC93-A6FD-A25110254DB7}"/>
              </a:ext>
            </a:extLst>
          </p:cNvPr>
          <p:cNvGrpSpPr/>
          <p:nvPr/>
        </p:nvGrpSpPr>
        <p:grpSpPr>
          <a:xfrm>
            <a:off x="-18897600" y="4822306"/>
            <a:ext cx="21288025" cy="11364542"/>
            <a:chOff x="-11299842" y="4822306"/>
            <a:chExt cx="21288025" cy="11364542"/>
          </a:xfrm>
        </p:grpSpPr>
        <p:grpSp>
          <p:nvGrpSpPr>
            <p:cNvPr id="2" name="Group 2">
              <a:extLst>
                <a:ext uri="{FF2B5EF4-FFF2-40B4-BE49-F238E27FC236}">
                  <a16:creationId xmlns:a16="http://schemas.microsoft.com/office/drawing/2014/main" id="{2A1DDA9F-2F65-1174-3D10-07ED3FF0613B}"/>
                </a:ext>
              </a:extLst>
            </p:cNvPr>
            <p:cNvGrpSpPr/>
            <p:nvPr/>
          </p:nvGrpSpPr>
          <p:grpSpPr>
            <a:xfrm>
              <a:off x="-11299842" y="4822306"/>
              <a:ext cx="21288025" cy="11364542"/>
              <a:chOff x="0" y="0"/>
              <a:chExt cx="1264956" cy="675293"/>
            </a:xfrm>
          </p:grpSpPr>
          <p:sp>
            <p:nvSpPr>
              <p:cNvPr id="3" name="Freeform 3">
                <a:extLst>
                  <a:ext uri="{FF2B5EF4-FFF2-40B4-BE49-F238E27FC236}">
                    <a16:creationId xmlns:a16="http://schemas.microsoft.com/office/drawing/2014/main" id="{67F6B3AB-E3EB-1F57-3CF7-694F1D5671EA}"/>
                  </a:ext>
                </a:extLst>
              </p:cNvPr>
              <p:cNvSpPr/>
              <p:nvPr/>
            </p:nvSpPr>
            <p:spPr>
              <a:xfrm>
                <a:off x="0" y="0"/>
                <a:ext cx="1264956" cy="675293"/>
              </a:xfrm>
              <a:custGeom>
                <a:avLst/>
                <a:gdLst/>
                <a:ahLst/>
                <a:cxnLst/>
                <a:rect l="l" t="t" r="r" b="b"/>
                <a:pathLst>
                  <a:path w="1264956" h="675293">
                    <a:moveTo>
                      <a:pt x="1264956" y="337646"/>
                    </a:moveTo>
                    <a:lnTo>
                      <a:pt x="1061756" y="675293"/>
                    </a:lnTo>
                    <a:lnTo>
                      <a:pt x="203200" y="675293"/>
                    </a:lnTo>
                    <a:lnTo>
                      <a:pt x="0" y="337646"/>
                    </a:lnTo>
                    <a:lnTo>
                      <a:pt x="203200" y="0"/>
                    </a:lnTo>
                    <a:lnTo>
                      <a:pt x="1061756" y="0"/>
                    </a:lnTo>
                    <a:lnTo>
                      <a:pt x="1264956" y="33764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C0505">
                      <a:alpha val="100000"/>
                    </a:srgbClr>
                  </a:gs>
                  <a:gs pos="100000">
                    <a:srgbClr val="80000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" name="TextBox 4">
                <a:extLst>
                  <a:ext uri="{FF2B5EF4-FFF2-40B4-BE49-F238E27FC236}">
                    <a16:creationId xmlns:a16="http://schemas.microsoft.com/office/drawing/2014/main" id="{82788571-408C-E5A0-54BF-85EBEBC86A47}"/>
                  </a:ext>
                </a:extLst>
              </p:cNvPr>
              <p:cNvSpPr txBox="1"/>
              <p:nvPr/>
            </p:nvSpPr>
            <p:spPr>
              <a:xfrm>
                <a:off x="114300" y="-57150"/>
                <a:ext cx="1036356" cy="7324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5E3CCB18-BC01-D456-D586-6CDB76176FE3}"/>
                </a:ext>
              </a:extLst>
            </p:cNvPr>
            <p:cNvGrpSpPr/>
            <p:nvPr/>
          </p:nvGrpSpPr>
          <p:grpSpPr>
            <a:xfrm>
              <a:off x="-6524260" y="4988259"/>
              <a:ext cx="16331963" cy="11166685"/>
              <a:chOff x="0" y="0"/>
              <a:chExt cx="975283" cy="666832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3130D037-95EC-FFAE-6945-889C37028437}"/>
                  </a:ext>
                </a:extLst>
              </p:cNvPr>
              <p:cNvSpPr/>
              <p:nvPr/>
            </p:nvSpPr>
            <p:spPr>
              <a:xfrm>
                <a:off x="0" y="0"/>
                <a:ext cx="975283" cy="666832"/>
              </a:xfrm>
              <a:custGeom>
                <a:avLst/>
                <a:gdLst/>
                <a:ahLst/>
                <a:cxnLst/>
                <a:rect l="l" t="t" r="r" b="b"/>
                <a:pathLst>
                  <a:path w="975283" h="666832">
                    <a:moveTo>
                      <a:pt x="975283" y="333416"/>
                    </a:moveTo>
                    <a:lnTo>
                      <a:pt x="772083" y="666832"/>
                    </a:lnTo>
                    <a:lnTo>
                      <a:pt x="203200" y="666832"/>
                    </a:lnTo>
                    <a:lnTo>
                      <a:pt x="0" y="333416"/>
                    </a:lnTo>
                    <a:lnTo>
                      <a:pt x="203200" y="0"/>
                    </a:lnTo>
                    <a:lnTo>
                      <a:pt x="772083" y="0"/>
                    </a:lnTo>
                    <a:lnTo>
                      <a:pt x="975283" y="333416"/>
                    </a:lnTo>
                    <a:close/>
                  </a:path>
                </a:pathLst>
              </a:custGeom>
              <a:blipFill>
                <a:blip r:embed="rId2"/>
                <a:stretch>
                  <a:fillRect l="-5901" t="-8455" r="-25929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BFF68A60-8990-B983-E6C8-2758185BCBDD}"/>
              </a:ext>
            </a:extLst>
          </p:cNvPr>
          <p:cNvGrpSpPr/>
          <p:nvPr/>
        </p:nvGrpSpPr>
        <p:grpSpPr>
          <a:xfrm>
            <a:off x="18030216" y="-644483"/>
            <a:ext cx="7877784" cy="11575965"/>
            <a:chOff x="0" y="0"/>
            <a:chExt cx="482133" cy="708467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35E2BD4-25B6-9ED1-898F-2F5302FB8482}"/>
                </a:ext>
              </a:extLst>
            </p:cNvPr>
            <p:cNvSpPr/>
            <p:nvPr/>
          </p:nvSpPr>
          <p:spPr>
            <a:xfrm>
              <a:off x="0" y="0"/>
              <a:ext cx="482133" cy="708467"/>
            </a:xfrm>
            <a:custGeom>
              <a:avLst/>
              <a:gdLst/>
              <a:ahLst/>
              <a:cxnLst/>
              <a:rect l="l" t="t" r="r" b="b"/>
              <a:pathLst>
                <a:path w="482133" h="708467">
                  <a:moveTo>
                    <a:pt x="482133" y="354233"/>
                  </a:moveTo>
                  <a:lnTo>
                    <a:pt x="278933" y="708467"/>
                  </a:lnTo>
                  <a:lnTo>
                    <a:pt x="203200" y="708467"/>
                  </a:lnTo>
                  <a:lnTo>
                    <a:pt x="0" y="354233"/>
                  </a:lnTo>
                  <a:lnTo>
                    <a:pt x="203200" y="0"/>
                  </a:lnTo>
                  <a:lnTo>
                    <a:pt x="278933" y="0"/>
                  </a:lnTo>
                  <a:lnTo>
                    <a:pt x="482133" y="354233"/>
                  </a:lnTo>
                  <a:close/>
                </a:path>
              </a:pathLst>
            </a:custGeom>
            <a:blipFill>
              <a:blip r:embed="rId3"/>
              <a:stretch>
                <a:fillRect l="-96944" r="-9694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B656920E-2BD6-060D-BF6D-3D3151EB2437}"/>
              </a:ext>
            </a:extLst>
          </p:cNvPr>
          <p:cNvSpPr txBox="1"/>
          <p:nvPr/>
        </p:nvSpPr>
        <p:spPr>
          <a:xfrm>
            <a:off x="533400" y="1305873"/>
            <a:ext cx="7795779" cy="10182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600"/>
              </a:lnSpc>
            </a:pPr>
            <a:r>
              <a:rPr lang="en-US" sz="8000" b="1" i="1" spc="-232" dirty="0">
                <a:solidFill>
                  <a:srgbClr val="F10505">
                    <a:alpha val="94902"/>
                  </a:srgbClr>
                </a:solidFill>
                <a:latin typeface="Poppins Ultra-Bold Italics"/>
                <a:ea typeface="Poppins Ultra-Bold Italics"/>
                <a:cs typeface="Poppins Ultra-Bold Italics"/>
                <a:sym typeface="Poppins Ultra-Bold Italics"/>
              </a:rPr>
              <a:t>Tableau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4D6813A-BECA-DF0E-238E-4A4C3FACE720}"/>
              </a:ext>
            </a:extLst>
          </p:cNvPr>
          <p:cNvSpPr txBox="1"/>
          <p:nvPr/>
        </p:nvSpPr>
        <p:spPr>
          <a:xfrm>
            <a:off x="533400" y="2258600"/>
            <a:ext cx="2362200" cy="441916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just">
              <a:lnSpc>
                <a:spcPts val="3400"/>
              </a:lnSpc>
            </a:pPr>
            <a:r>
              <a:rPr lang="en-US" sz="32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Dashboard</a:t>
            </a:r>
            <a:endParaRPr lang="en-US" sz="3200" b="1" dirty="0">
              <a:solidFill>
                <a:srgbClr val="F10505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254374F-8872-BEF2-1BC6-435D96C31C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200" y="2167693"/>
            <a:ext cx="11880218" cy="7503295"/>
          </a:xfrm>
          <a:prstGeom prst="roundRect">
            <a:avLst>
              <a:gd name="adj" fmla="val 4785"/>
            </a:avLst>
          </a:prstGeom>
          <a:ln w="76200">
            <a:solidFill>
              <a:srgbClr val="C00000"/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1" name="Picture 10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ACF580C8-6B4E-688A-A3F5-EFB9363879F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27965" y="55016"/>
            <a:ext cx="1455298" cy="1337935"/>
          </a:xfrm>
          <a:prstGeom prst="rect">
            <a:avLst/>
          </a:prstGeom>
        </p:spPr>
      </p:pic>
      <p:pic>
        <p:nvPicPr>
          <p:cNvPr id="12" name="Picture 1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BFC0D49D-7530-7D7C-F4D2-A0D714BF1D0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863" y="-83970"/>
            <a:ext cx="2326880" cy="1310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9302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410CE2-5301-CF89-56F3-9597301A2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8ABCCB76-FBAF-336F-E903-617A2091C6EC}"/>
              </a:ext>
            </a:extLst>
          </p:cNvPr>
          <p:cNvGrpSpPr/>
          <p:nvPr/>
        </p:nvGrpSpPr>
        <p:grpSpPr>
          <a:xfrm>
            <a:off x="-18897600" y="4822306"/>
            <a:ext cx="21288025" cy="11364542"/>
            <a:chOff x="-11299842" y="4822306"/>
            <a:chExt cx="21288025" cy="11364542"/>
          </a:xfrm>
        </p:grpSpPr>
        <p:grpSp>
          <p:nvGrpSpPr>
            <p:cNvPr id="2" name="Group 2">
              <a:extLst>
                <a:ext uri="{FF2B5EF4-FFF2-40B4-BE49-F238E27FC236}">
                  <a16:creationId xmlns:a16="http://schemas.microsoft.com/office/drawing/2014/main" id="{CFFF5AB7-AF43-A0EE-6F87-85243BF3CB56}"/>
                </a:ext>
              </a:extLst>
            </p:cNvPr>
            <p:cNvGrpSpPr/>
            <p:nvPr/>
          </p:nvGrpSpPr>
          <p:grpSpPr>
            <a:xfrm>
              <a:off x="-11299842" y="4822306"/>
              <a:ext cx="21288025" cy="11364542"/>
              <a:chOff x="0" y="0"/>
              <a:chExt cx="1264956" cy="675293"/>
            </a:xfrm>
          </p:grpSpPr>
          <p:sp>
            <p:nvSpPr>
              <p:cNvPr id="3" name="Freeform 3">
                <a:extLst>
                  <a:ext uri="{FF2B5EF4-FFF2-40B4-BE49-F238E27FC236}">
                    <a16:creationId xmlns:a16="http://schemas.microsoft.com/office/drawing/2014/main" id="{5963F0B5-C52D-660B-786F-994150CDC4C0}"/>
                  </a:ext>
                </a:extLst>
              </p:cNvPr>
              <p:cNvSpPr/>
              <p:nvPr/>
            </p:nvSpPr>
            <p:spPr>
              <a:xfrm>
                <a:off x="0" y="0"/>
                <a:ext cx="1264956" cy="675293"/>
              </a:xfrm>
              <a:custGeom>
                <a:avLst/>
                <a:gdLst/>
                <a:ahLst/>
                <a:cxnLst/>
                <a:rect l="l" t="t" r="r" b="b"/>
                <a:pathLst>
                  <a:path w="1264956" h="675293">
                    <a:moveTo>
                      <a:pt x="1264956" y="337646"/>
                    </a:moveTo>
                    <a:lnTo>
                      <a:pt x="1061756" y="675293"/>
                    </a:lnTo>
                    <a:lnTo>
                      <a:pt x="203200" y="675293"/>
                    </a:lnTo>
                    <a:lnTo>
                      <a:pt x="0" y="337646"/>
                    </a:lnTo>
                    <a:lnTo>
                      <a:pt x="203200" y="0"/>
                    </a:lnTo>
                    <a:lnTo>
                      <a:pt x="1061756" y="0"/>
                    </a:lnTo>
                    <a:lnTo>
                      <a:pt x="1264956" y="33764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C0505">
                      <a:alpha val="100000"/>
                    </a:srgbClr>
                  </a:gs>
                  <a:gs pos="100000">
                    <a:srgbClr val="80000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" name="TextBox 4">
                <a:extLst>
                  <a:ext uri="{FF2B5EF4-FFF2-40B4-BE49-F238E27FC236}">
                    <a16:creationId xmlns:a16="http://schemas.microsoft.com/office/drawing/2014/main" id="{C7944BD1-71BE-468B-8E0C-12EFC03BDCF3}"/>
                  </a:ext>
                </a:extLst>
              </p:cNvPr>
              <p:cNvSpPr txBox="1"/>
              <p:nvPr/>
            </p:nvSpPr>
            <p:spPr>
              <a:xfrm>
                <a:off x="114300" y="-57150"/>
                <a:ext cx="1036356" cy="7324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1AC96A82-1505-8A78-2D1C-4889AA79D54B}"/>
                </a:ext>
              </a:extLst>
            </p:cNvPr>
            <p:cNvGrpSpPr/>
            <p:nvPr/>
          </p:nvGrpSpPr>
          <p:grpSpPr>
            <a:xfrm>
              <a:off x="-6524260" y="4988259"/>
              <a:ext cx="16331963" cy="11166685"/>
              <a:chOff x="0" y="0"/>
              <a:chExt cx="975283" cy="666832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4800D709-EC49-6E21-719C-D843A33CE53F}"/>
                  </a:ext>
                </a:extLst>
              </p:cNvPr>
              <p:cNvSpPr/>
              <p:nvPr/>
            </p:nvSpPr>
            <p:spPr>
              <a:xfrm>
                <a:off x="0" y="0"/>
                <a:ext cx="975283" cy="666832"/>
              </a:xfrm>
              <a:custGeom>
                <a:avLst/>
                <a:gdLst/>
                <a:ahLst/>
                <a:cxnLst/>
                <a:rect l="l" t="t" r="r" b="b"/>
                <a:pathLst>
                  <a:path w="975283" h="666832">
                    <a:moveTo>
                      <a:pt x="975283" y="333416"/>
                    </a:moveTo>
                    <a:lnTo>
                      <a:pt x="772083" y="666832"/>
                    </a:lnTo>
                    <a:lnTo>
                      <a:pt x="203200" y="666832"/>
                    </a:lnTo>
                    <a:lnTo>
                      <a:pt x="0" y="333416"/>
                    </a:lnTo>
                    <a:lnTo>
                      <a:pt x="203200" y="0"/>
                    </a:lnTo>
                    <a:lnTo>
                      <a:pt x="772083" y="0"/>
                    </a:lnTo>
                    <a:lnTo>
                      <a:pt x="975283" y="333416"/>
                    </a:lnTo>
                    <a:close/>
                  </a:path>
                </a:pathLst>
              </a:custGeom>
              <a:blipFill>
                <a:blip r:embed="rId2"/>
                <a:stretch>
                  <a:fillRect l="-5901" t="-8455" r="-25929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E1D91671-DA55-6320-0FB9-15F599F49696}"/>
              </a:ext>
            </a:extLst>
          </p:cNvPr>
          <p:cNvGrpSpPr/>
          <p:nvPr/>
        </p:nvGrpSpPr>
        <p:grpSpPr>
          <a:xfrm>
            <a:off x="18030216" y="-644483"/>
            <a:ext cx="7877784" cy="11575965"/>
            <a:chOff x="0" y="0"/>
            <a:chExt cx="482133" cy="708467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588B6E44-73F0-24A5-9A4B-49B0505663B3}"/>
                </a:ext>
              </a:extLst>
            </p:cNvPr>
            <p:cNvSpPr/>
            <p:nvPr/>
          </p:nvSpPr>
          <p:spPr>
            <a:xfrm>
              <a:off x="0" y="0"/>
              <a:ext cx="482133" cy="708467"/>
            </a:xfrm>
            <a:custGeom>
              <a:avLst/>
              <a:gdLst/>
              <a:ahLst/>
              <a:cxnLst/>
              <a:rect l="l" t="t" r="r" b="b"/>
              <a:pathLst>
                <a:path w="482133" h="708467">
                  <a:moveTo>
                    <a:pt x="482133" y="354233"/>
                  </a:moveTo>
                  <a:lnTo>
                    <a:pt x="278933" y="708467"/>
                  </a:lnTo>
                  <a:lnTo>
                    <a:pt x="203200" y="708467"/>
                  </a:lnTo>
                  <a:lnTo>
                    <a:pt x="0" y="354233"/>
                  </a:lnTo>
                  <a:lnTo>
                    <a:pt x="203200" y="0"/>
                  </a:lnTo>
                  <a:lnTo>
                    <a:pt x="278933" y="0"/>
                  </a:lnTo>
                  <a:lnTo>
                    <a:pt x="482133" y="354233"/>
                  </a:lnTo>
                  <a:close/>
                </a:path>
              </a:pathLst>
            </a:custGeom>
            <a:blipFill>
              <a:blip r:embed="rId3"/>
              <a:stretch>
                <a:fillRect l="-96944" r="-9694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132FCF2C-1E68-7D72-81A1-D60FA9BF8201}"/>
              </a:ext>
            </a:extLst>
          </p:cNvPr>
          <p:cNvSpPr txBox="1"/>
          <p:nvPr/>
        </p:nvSpPr>
        <p:spPr>
          <a:xfrm>
            <a:off x="533400" y="1305873"/>
            <a:ext cx="7795779" cy="10182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600"/>
              </a:lnSpc>
            </a:pPr>
            <a:r>
              <a:rPr lang="en-US" sz="8000" b="1" i="1" spc="-232" dirty="0">
                <a:solidFill>
                  <a:srgbClr val="F10505">
                    <a:alpha val="94902"/>
                  </a:srgbClr>
                </a:solidFill>
                <a:latin typeface="Poppins Ultra-Bold Italics"/>
                <a:ea typeface="Poppins Ultra-Bold Italics"/>
                <a:cs typeface="Poppins Ultra-Bold Italics"/>
                <a:sym typeface="Poppins Ultra-Bold Italics"/>
              </a:rPr>
              <a:t>Methodologies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B656FE7C-E87B-4016-718B-134C0C410BAB}"/>
              </a:ext>
            </a:extLst>
          </p:cNvPr>
          <p:cNvSpPr txBox="1"/>
          <p:nvPr/>
        </p:nvSpPr>
        <p:spPr>
          <a:xfrm>
            <a:off x="914400" y="3170193"/>
            <a:ext cx="2362200" cy="441916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just">
              <a:lnSpc>
                <a:spcPts val="3400"/>
              </a:lnSpc>
            </a:pPr>
            <a:r>
              <a:rPr lang="en-US" sz="32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Power bi</a:t>
            </a:r>
            <a:endParaRPr lang="en-US" sz="3200" b="1" dirty="0">
              <a:solidFill>
                <a:srgbClr val="F10505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BFD01982-5E77-5977-1EC2-AED8B66E1B05}"/>
              </a:ext>
            </a:extLst>
          </p:cNvPr>
          <p:cNvSpPr txBox="1"/>
          <p:nvPr/>
        </p:nvSpPr>
        <p:spPr>
          <a:xfrm>
            <a:off x="914400" y="4018121"/>
            <a:ext cx="7162800" cy="196977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We did the following using Power bi: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200" dirty="0">
                <a:solidFill>
                  <a:schemeClr val="bg1"/>
                </a:solidFill>
              </a:rPr>
              <a:t>Data Loading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200" dirty="0">
                <a:solidFill>
                  <a:schemeClr val="bg1"/>
                </a:solidFill>
              </a:rPr>
              <a:t>Data Modeling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200" dirty="0">
                <a:solidFill>
                  <a:schemeClr val="bg1"/>
                </a:solidFill>
              </a:rPr>
              <a:t>Data Analysis and Extracting Insights</a:t>
            </a:r>
          </a:p>
        </p:txBody>
      </p:sp>
      <p:pic>
        <p:nvPicPr>
          <p:cNvPr id="9" name="Picture 8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4BD57874-54EA-95CE-7F97-CACD5ABB0B2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27965" y="55016"/>
            <a:ext cx="1455298" cy="1337935"/>
          </a:xfrm>
          <a:prstGeom prst="rect">
            <a:avLst/>
          </a:prstGeom>
        </p:spPr>
      </p:pic>
      <p:pic>
        <p:nvPicPr>
          <p:cNvPr id="10" name="Picture 9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FEF0E625-79C4-4E73-C297-BA6CFE352B0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863" y="-83970"/>
            <a:ext cx="2326880" cy="1310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164502"/>
      </p:ext>
    </p:extLst>
  </p:cSld>
  <p:clrMapOvr>
    <a:masterClrMapping/>
  </p:clrMapOvr>
  <p:transition spd="slow">
    <p:cover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140BF4-4CF9-F05A-C4F0-064439795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4CD22E9B-864C-EB87-A1A7-3EA4F21E5B74}"/>
              </a:ext>
            </a:extLst>
          </p:cNvPr>
          <p:cNvGrpSpPr/>
          <p:nvPr/>
        </p:nvGrpSpPr>
        <p:grpSpPr>
          <a:xfrm>
            <a:off x="-18897600" y="4822306"/>
            <a:ext cx="21288025" cy="11364542"/>
            <a:chOff x="-11299842" y="4822306"/>
            <a:chExt cx="21288025" cy="11364542"/>
          </a:xfrm>
        </p:grpSpPr>
        <p:grpSp>
          <p:nvGrpSpPr>
            <p:cNvPr id="2" name="Group 2">
              <a:extLst>
                <a:ext uri="{FF2B5EF4-FFF2-40B4-BE49-F238E27FC236}">
                  <a16:creationId xmlns:a16="http://schemas.microsoft.com/office/drawing/2014/main" id="{47F33B5F-8B15-3A4A-537D-7ACA11F6F07E}"/>
                </a:ext>
              </a:extLst>
            </p:cNvPr>
            <p:cNvGrpSpPr/>
            <p:nvPr/>
          </p:nvGrpSpPr>
          <p:grpSpPr>
            <a:xfrm>
              <a:off x="-11299842" y="4822306"/>
              <a:ext cx="21288025" cy="11364542"/>
              <a:chOff x="0" y="0"/>
              <a:chExt cx="1264956" cy="675293"/>
            </a:xfrm>
          </p:grpSpPr>
          <p:sp>
            <p:nvSpPr>
              <p:cNvPr id="3" name="Freeform 3">
                <a:extLst>
                  <a:ext uri="{FF2B5EF4-FFF2-40B4-BE49-F238E27FC236}">
                    <a16:creationId xmlns:a16="http://schemas.microsoft.com/office/drawing/2014/main" id="{3764081B-5678-0466-AD0B-49C610CB5CCC}"/>
                  </a:ext>
                </a:extLst>
              </p:cNvPr>
              <p:cNvSpPr/>
              <p:nvPr/>
            </p:nvSpPr>
            <p:spPr>
              <a:xfrm>
                <a:off x="0" y="0"/>
                <a:ext cx="1264956" cy="675293"/>
              </a:xfrm>
              <a:custGeom>
                <a:avLst/>
                <a:gdLst/>
                <a:ahLst/>
                <a:cxnLst/>
                <a:rect l="l" t="t" r="r" b="b"/>
                <a:pathLst>
                  <a:path w="1264956" h="675293">
                    <a:moveTo>
                      <a:pt x="1264956" y="337646"/>
                    </a:moveTo>
                    <a:lnTo>
                      <a:pt x="1061756" y="675293"/>
                    </a:lnTo>
                    <a:lnTo>
                      <a:pt x="203200" y="675293"/>
                    </a:lnTo>
                    <a:lnTo>
                      <a:pt x="0" y="337646"/>
                    </a:lnTo>
                    <a:lnTo>
                      <a:pt x="203200" y="0"/>
                    </a:lnTo>
                    <a:lnTo>
                      <a:pt x="1061756" y="0"/>
                    </a:lnTo>
                    <a:lnTo>
                      <a:pt x="1264956" y="33764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C0505">
                      <a:alpha val="100000"/>
                    </a:srgbClr>
                  </a:gs>
                  <a:gs pos="100000">
                    <a:srgbClr val="80000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" name="TextBox 4">
                <a:extLst>
                  <a:ext uri="{FF2B5EF4-FFF2-40B4-BE49-F238E27FC236}">
                    <a16:creationId xmlns:a16="http://schemas.microsoft.com/office/drawing/2014/main" id="{49C2AE48-F6CD-B20F-6B3D-4F412A959C14}"/>
                  </a:ext>
                </a:extLst>
              </p:cNvPr>
              <p:cNvSpPr txBox="1"/>
              <p:nvPr/>
            </p:nvSpPr>
            <p:spPr>
              <a:xfrm>
                <a:off x="114300" y="-57150"/>
                <a:ext cx="1036356" cy="7324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6EA180C3-C808-AFD3-CBB1-0003010699C3}"/>
                </a:ext>
              </a:extLst>
            </p:cNvPr>
            <p:cNvGrpSpPr/>
            <p:nvPr/>
          </p:nvGrpSpPr>
          <p:grpSpPr>
            <a:xfrm>
              <a:off x="-6524260" y="4988259"/>
              <a:ext cx="16331963" cy="11166685"/>
              <a:chOff x="0" y="0"/>
              <a:chExt cx="975283" cy="666832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FACF64D3-014D-7FE6-D532-49310B50CCC7}"/>
                  </a:ext>
                </a:extLst>
              </p:cNvPr>
              <p:cNvSpPr/>
              <p:nvPr/>
            </p:nvSpPr>
            <p:spPr>
              <a:xfrm>
                <a:off x="0" y="0"/>
                <a:ext cx="975283" cy="666832"/>
              </a:xfrm>
              <a:custGeom>
                <a:avLst/>
                <a:gdLst/>
                <a:ahLst/>
                <a:cxnLst/>
                <a:rect l="l" t="t" r="r" b="b"/>
                <a:pathLst>
                  <a:path w="975283" h="666832">
                    <a:moveTo>
                      <a:pt x="975283" y="333416"/>
                    </a:moveTo>
                    <a:lnTo>
                      <a:pt x="772083" y="666832"/>
                    </a:lnTo>
                    <a:lnTo>
                      <a:pt x="203200" y="666832"/>
                    </a:lnTo>
                    <a:lnTo>
                      <a:pt x="0" y="333416"/>
                    </a:lnTo>
                    <a:lnTo>
                      <a:pt x="203200" y="0"/>
                    </a:lnTo>
                    <a:lnTo>
                      <a:pt x="772083" y="0"/>
                    </a:lnTo>
                    <a:lnTo>
                      <a:pt x="975283" y="333416"/>
                    </a:lnTo>
                    <a:close/>
                  </a:path>
                </a:pathLst>
              </a:custGeom>
              <a:blipFill>
                <a:blip r:embed="rId2"/>
                <a:stretch>
                  <a:fillRect l="-5901" t="-8455" r="-25929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53FDC5FB-9570-8B53-7AF0-62FF77295466}"/>
              </a:ext>
            </a:extLst>
          </p:cNvPr>
          <p:cNvGrpSpPr/>
          <p:nvPr/>
        </p:nvGrpSpPr>
        <p:grpSpPr>
          <a:xfrm>
            <a:off x="18030216" y="-644483"/>
            <a:ext cx="7877784" cy="11575965"/>
            <a:chOff x="0" y="0"/>
            <a:chExt cx="482133" cy="708467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D196CBA-94EE-9AD2-141C-688C4137A9F0}"/>
                </a:ext>
              </a:extLst>
            </p:cNvPr>
            <p:cNvSpPr/>
            <p:nvPr/>
          </p:nvSpPr>
          <p:spPr>
            <a:xfrm>
              <a:off x="0" y="0"/>
              <a:ext cx="482133" cy="708467"/>
            </a:xfrm>
            <a:custGeom>
              <a:avLst/>
              <a:gdLst/>
              <a:ahLst/>
              <a:cxnLst/>
              <a:rect l="l" t="t" r="r" b="b"/>
              <a:pathLst>
                <a:path w="482133" h="708467">
                  <a:moveTo>
                    <a:pt x="482133" y="354233"/>
                  </a:moveTo>
                  <a:lnTo>
                    <a:pt x="278933" y="708467"/>
                  </a:lnTo>
                  <a:lnTo>
                    <a:pt x="203200" y="708467"/>
                  </a:lnTo>
                  <a:lnTo>
                    <a:pt x="0" y="354233"/>
                  </a:lnTo>
                  <a:lnTo>
                    <a:pt x="203200" y="0"/>
                  </a:lnTo>
                  <a:lnTo>
                    <a:pt x="278933" y="0"/>
                  </a:lnTo>
                  <a:lnTo>
                    <a:pt x="482133" y="354233"/>
                  </a:lnTo>
                  <a:close/>
                </a:path>
              </a:pathLst>
            </a:custGeom>
            <a:blipFill>
              <a:blip r:embed="rId3"/>
              <a:stretch>
                <a:fillRect l="-96944" r="-9694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FB3FC674-9D4C-7685-A5B5-CCD71884B531}"/>
              </a:ext>
            </a:extLst>
          </p:cNvPr>
          <p:cNvSpPr txBox="1"/>
          <p:nvPr/>
        </p:nvSpPr>
        <p:spPr>
          <a:xfrm>
            <a:off x="533400" y="1104900"/>
            <a:ext cx="7795779" cy="10182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600"/>
              </a:lnSpc>
            </a:pPr>
            <a:r>
              <a:rPr lang="en-US" sz="8000" b="1" i="1" spc="-232" dirty="0">
                <a:solidFill>
                  <a:srgbClr val="F10505">
                    <a:alpha val="94902"/>
                  </a:srgbClr>
                </a:solidFill>
                <a:latin typeface="Poppins Ultra-Bold Italics"/>
                <a:ea typeface="Poppins Ultra-Bold Italics"/>
                <a:cs typeface="Poppins Ultra-Bold Italics"/>
                <a:sym typeface="Poppins Ultra-Bold Italics"/>
              </a:rPr>
              <a:t>Power Bi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B5A3E21-AE6E-F586-58E1-34658BC4F5C6}"/>
              </a:ext>
            </a:extLst>
          </p:cNvPr>
          <p:cNvSpPr txBox="1"/>
          <p:nvPr/>
        </p:nvSpPr>
        <p:spPr>
          <a:xfrm>
            <a:off x="571500" y="2597500"/>
            <a:ext cx="2362200" cy="441916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just">
              <a:lnSpc>
                <a:spcPts val="3400"/>
              </a:lnSpc>
            </a:pPr>
            <a:r>
              <a:rPr lang="en-US" sz="32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Dashboard</a:t>
            </a:r>
            <a:endParaRPr lang="en-US" sz="3200" b="1" dirty="0">
              <a:solidFill>
                <a:srgbClr val="F10505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5C3BE1B-36CE-6EE9-E2C1-B2ABBC18DC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6705" y="2123127"/>
            <a:ext cx="13044235" cy="7299441"/>
          </a:xfrm>
          <a:prstGeom prst="roundRect">
            <a:avLst>
              <a:gd name="adj" fmla="val 7545"/>
            </a:avLst>
          </a:prstGeom>
          <a:ln w="76200">
            <a:solidFill>
              <a:srgbClr val="C00000"/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1" name="Picture 10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4E2D2DB1-C1B4-7BA8-95E6-91C8AC16D64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27965" y="55016"/>
            <a:ext cx="1455298" cy="1337935"/>
          </a:xfrm>
          <a:prstGeom prst="rect">
            <a:avLst/>
          </a:prstGeom>
        </p:spPr>
      </p:pic>
      <p:pic>
        <p:nvPicPr>
          <p:cNvPr id="12" name="Picture 1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A08246C0-793D-70AB-FDCB-54474E18113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863" y="-83970"/>
            <a:ext cx="2326880" cy="1310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6140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33" b="-93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-5400000">
            <a:off x="6449162" y="-4152945"/>
            <a:ext cx="5389677" cy="23661994"/>
          </a:xfrm>
          <a:custGeom>
            <a:avLst/>
            <a:gdLst/>
            <a:ahLst/>
            <a:cxnLst/>
            <a:rect l="l" t="t" r="r" b="b"/>
            <a:pathLst>
              <a:path w="5389677" h="23661994">
                <a:moveTo>
                  <a:pt x="0" y="0"/>
                </a:moveTo>
                <a:lnTo>
                  <a:pt x="5389676" y="0"/>
                </a:lnTo>
                <a:lnTo>
                  <a:pt x="5389676" y="23661995"/>
                </a:lnTo>
                <a:lnTo>
                  <a:pt x="0" y="236619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TextBox 25"/>
          <p:cNvSpPr txBox="1"/>
          <p:nvPr/>
        </p:nvSpPr>
        <p:spPr>
          <a:xfrm>
            <a:off x="3733800" y="4000500"/>
            <a:ext cx="10387856" cy="1658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29"/>
              </a:lnSpc>
            </a:pPr>
            <a:r>
              <a:rPr lang="en-US" sz="12030" b="1" i="1" spc="-348" dirty="0">
                <a:solidFill>
                  <a:srgbClr val="F10505">
                    <a:alpha val="94902"/>
                  </a:srgbClr>
                </a:solidFill>
                <a:latin typeface="Poppins Ultra-Bold Italics"/>
                <a:ea typeface="Poppins Ultra-Bold Italics"/>
                <a:cs typeface="Poppins Ultra-Bold Italics"/>
                <a:sym typeface="Poppins Ultra-Bold Italics"/>
              </a:rPr>
              <a:t>THANK YOU</a:t>
            </a:r>
          </a:p>
        </p:txBody>
      </p:sp>
      <p:pic>
        <p:nvPicPr>
          <p:cNvPr id="29" name="Picture 28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7457426E-EA57-113E-ADB8-AE8893A9DAF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27965" y="55016"/>
            <a:ext cx="1455298" cy="1337935"/>
          </a:xfrm>
          <a:prstGeom prst="rect">
            <a:avLst/>
          </a:prstGeom>
        </p:spPr>
      </p:pic>
      <p:pic>
        <p:nvPicPr>
          <p:cNvPr id="30" name="Picture 29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AA12652D-06BA-A99C-643D-7EB53DF0F2B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863" y="-83970"/>
            <a:ext cx="2326880" cy="1310034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364</TotalTime>
  <Words>464</Words>
  <Application>Microsoft Office PowerPoint</Application>
  <PresentationFormat>Custom</PresentationFormat>
  <Paragraphs>134</Paragraphs>
  <Slides>30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2" baseType="lpstr">
      <vt:lpstr>Poppins Bold</vt:lpstr>
      <vt:lpstr>Courier New</vt:lpstr>
      <vt:lpstr>Poppins</vt:lpstr>
      <vt:lpstr>Arial</vt:lpstr>
      <vt:lpstr>Poppins Ultra-Bold Italics</vt:lpstr>
      <vt:lpstr>Calibri</vt:lpstr>
      <vt:lpstr>Poppins ExtraBold</vt:lpstr>
      <vt:lpstr>Aptos</vt:lpstr>
      <vt:lpstr>Aharoni</vt:lpstr>
      <vt:lpstr>Abadi</vt:lpstr>
      <vt:lpstr>-apple-system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Red Gradient Modern Car Dealer Presentation</dc:title>
  <dc:creator>esraa magdy</dc:creator>
  <cp:lastModifiedBy>Ahmed Hussein</cp:lastModifiedBy>
  <cp:revision>10</cp:revision>
  <dcterms:created xsi:type="dcterms:W3CDTF">2006-08-16T00:00:00Z</dcterms:created>
  <dcterms:modified xsi:type="dcterms:W3CDTF">2025-12-05T11:10:24Z</dcterms:modified>
  <dc:identifier>DAG6M3rRe08</dc:identifier>
</cp:coreProperties>
</file>